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93" r:id="rId4"/>
    <p:sldId id="297" r:id="rId5"/>
    <p:sldId id="296" r:id="rId6"/>
    <p:sldId id="295" r:id="rId7"/>
    <p:sldId id="298" r:id="rId8"/>
    <p:sldId id="272" r:id="rId9"/>
    <p:sldId id="273" r:id="rId10"/>
    <p:sldId id="299" r:id="rId11"/>
    <p:sldId id="276" r:id="rId12"/>
    <p:sldId id="324" r:id="rId13"/>
    <p:sldId id="286" r:id="rId14"/>
    <p:sldId id="280" r:id="rId15"/>
    <p:sldId id="279" r:id="rId16"/>
    <p:sldId id="282" r:id="rId17"/>
    <p:sldId id="284" r:id="rId18"/>
    <p:sldId id="285" r:id="rId19"/>
    <p:sldId id="287" r:id="rId20"/>
    <p:sldId id="288" r:id="rId21"/>
    <p:sldId id="289" r:id="rId22"/>
    <p:sldId id="290" r:id="rId23"/>
    <p:sldId id="291" r:id="rId24"/>
    <p:sldId id="292" r:id="rId25"/>
    <p:sldId id="301" r:id="rId26"/>
    <p:sldId id="308" r:id="rId27"/>
    <p:sldId id="307" r:id="rId28"/>
    <p:sldId id="305" r:id="rId29"/>
    <p:sldId id="310" r:id="rId30"/>
    <p:sldId id="311" r:id="rId31"/>
    <p:sldId id="313" r:id="rId32"/>
    <p:sldId id="300" r:id="rId33"/>
    <p:sldId id="314" r:id="rId34"/>
    <p:sldId id="315" r:id="rId35"/>
    <p:sldId id="316" r:id="rId36"/>
    <p:sldId id="321" r:id="rId37"/>
    <p:sldId id="322" r:id="rId38"/>
    <p:sldId id="318" r:id="rId39"/>
    <p:sldId id="323" r:id="rId40"/>
    <p:sldId id="329" r:id="rId41"/>
    <p:sldId id="319" r:id="rId42"/>
    <p:sldId id="268" r:id="rId43"/>
    <p:sldId id="330" r:id="rId44"/>
    <p:sldId id="277" r:id="rId45"/>
    <p:sldId id="269" r:id="rId46"/>
    <p:sldId id="328" r:id="rId47"/>
    <p:sldId id="317" r:id="rId48"/>
    <p:sldId id="258" r:id="rId49"/>
    <p:sldId id="326" r:id="rId50"/>
    <p:sldId id="320" r:id="rId51"/>
    <p:sldId id="327" r:id="rId52"/>
    <p:sldId id="274" r:id="rId53"/>
    <p:sldId id="259" r:id="rId54"/>
    <p:sldId id="260" r:id="rId55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  <p14:sldId id="293"/>
          </p14:sldIdLst>
        </p14:section>
        <p14:section name="Background &amp; Related Work" id="{155D24CD-1F67-4B2A-8BBA-6043068973F2}">
          <p14:sldIdLst>
            <p14:sldId id="297"/>
            <p14:sldId id="296"/>
            <p14:sldId id="295"/>
            <p14:sldId id="298"/>
            <p14:sldId id="272"/>
            <p14:sldId id="273"/>
            <p14:sldId id="299"/>
            <p14:sldId id="276"/>
            <p14:sldId id="324"/>
            <p14:sldId id="286"/>
            <p14:sldId id="280"/>
            <p14:sldId id="279"/>
            <p14:sldId id="282"/>
            <p14:sldId id="284"/>
          </p14:sldIdLst>
        </p14:section>
        <p14:section name="Problem Statement" id="{D007D5E9-0273-4A98-8D76-718A668981DA}">
          <p14:sldIdLst>
            <p14:sldId id="285"/>
            <p14:sldId id="287"/>
            <p14:sldId id="288"/>
            <p14:sldId id="289"/>
            <p14:sldId id="290"/>
            <p14:sldId id="291"/>
            <p14:sldId id="292"/>
            <p14:sldId id="301"/>
            <p14:sldId id="308"/>
            <p14:sldId id="307"/>
            <p14:sldId id="305"/>
            <p14:sldId id="310"/>
            <p14:sldId id="311"/>
            <p14:sldId id="313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18"/>
            <p14:sldId id="323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268"/>
            <p14:sldId id="330"/>
          </p14:sldIdLst>
        </p14:section>
        <p14:section name="Backup / Extra Examples" id="{274778F2-46BC-4298-9911-D5D9332C2A83}">
          <p14:sldIdLst>
            <p14:sldId id="277"/>
            <p14:sldId id="269"/>
            <p14:sldId id="328"/>
            <p14:sldId id="317"/>
          </p14:sldIdLst>
        </p14:section>
        <p14:section name="Templates" id="{7D75C5C1-E226-422F-BC2D-7889BBB961BB}">
          <p14:sldIdLst>
            <p14:sldId id="258"/>
            <p14:sldId id="326"/>
            <p14:sldId id="320"/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59" autoAdjust="0"/>
    <p:restoredTop sz="94660"/>
  </p:normalViewPr>
  <p:slideViewPr>
    <p:cSldViewPr snapToGrid="0">
      <p:cViewPr>
        <p:scale>
          <a:sx n="125" d="100"/>
          <a:sy n="125" d="100"/>
        </p:scale>
        <p:origin x="510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26/03/2026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93E79-A427-7220-C0BD-F07F1CB88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FB4FB-97B1-0B84-833F-00C760946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8D4AA-69F6-1599-EF0D-C5B063968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D981B-5927-25F0-8DE4-94AF82176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9107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1999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49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702-631B-3EB7-F073-CAD70385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Motivation (WIP)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bugs expensive</a:t>
            </a:r>
          </a:p>
          <a:p>
            <a:r>
              <a:rPr lang="en-CH" dirty="0"/>
              <a:t>safety good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C857-CDA9-64C7-79DB-EA10941A2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Ethereum Blockchain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28CBA-D102-52C9-EA2E-465731447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The “blockchain” part is not relevant for us</a:t>
            </a:r>
          </a:p>
          <a:p>
            <a:pPr lvl="1"/>
            <a:r>
              <a:rPr lang="en-CH" dirty="0"/>
              <a:t>only its state</a:t>
            </a:r>
          </a:p>
          <a:p>
            <a:r>
              <a:rPr lang="en-CH" dirty="0"/>
              <a:t>Address: 20-byte unique identifier</a:t>
            </a:r>
          </a:p>
          <a:p>
            <a:r>
              <a:rPr lang="en-CH" dirty="0"/>
              <a:t>“State”: Hash Map  Address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Account</a:t>
            </a:r>
          </a:p>
          <a:p>
            <a:r>
              <a:rPr lang="en-CH" dirty="0"/>
              <a:t>“Account”:</a:t>
            </a:r>
          </a:p>
          <a:p>
            <a:pPr lvl="1"/>
            <a:r>
              <a:rPr lang="en-CH" dirty="0"/>
              <a:t>EOA: </a:t>
            </a:r>
            <a:r>
              <a:rPr lang="en-CH" b="1" dirty="0"/>
              <a:t>E</a:t>
            </a:r>
            <a:r>
              <a:rPr lang="en-CH" dirty="0"/>
              <a:t>xternally </a:t>
            </a:r>
            <a:r>
              <a:rPr lang="en-CH" b="1" dirty="0"/>
              <a:t>O</a:t>
            </a:r>
            <a:r>
              <a:rPr lang="en-CH" dirty="0"/>
              <a:t>wned </a:t>
            </a:r>
            <a:r>
              <a:rPr lang="en-CH" b="1" dirty="0"/>
              <a:t>A</a:t>
            </a:r>
            <a:r>
              <a:rPr lang="en-CH" dirty="0"/>
              <a:t>ccount, may initiate transactions</a:t>
            </a:r>
          </a:p>
          <a:p>
            <a:pPr lvl="1"/>
            <a:r>
              <a:rPr lang="en-CH" dirty="0"/>
              <a:t>Smart Contract: “Program”, may be executed by transactions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Will be the sole focus of this talk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EFDA2-C952-004D-FAFE-307454641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B1172-6D66-CD2F-9DDC-F792CEFD1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7F1F5-284C-2853-441B-F9A13A1FF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2652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F9A32-A8EA-9746-7C0E-86807228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A6EB-51BF-8ADC-967E-230DF8EA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“program” that runs on the blockchain</a:t>
            </a:r>
          </a:p>
          <a:p>
            <a:r>
              <a:rPr lang="en-CH" dirty="0"/>
              <a:t>Consists of:</a:t>
            </a:r>
          </a:p>
          <a:p>
            <a:pPr lvl="1"/>
            <a:r>
              <a:rPr lang="en-CH" dirty="0"/>
              <a:t>Address (20-byte unique identifier)</a:t>
            </a:r>
          </a:p>
          <a:p>
            <a:pPr lvl="1"/>
            <a:r>
              <a:rPr lang="en-CH" dirty="0"/>
              <a:t>Balance (of the native ETH currency)</a:t>
            </a:r>
          </a:p>
          <a:p>
            <a:pPr lvl="1"/>
            <a:r>
              <a:rPr lang="en-CH" dirty="0"/>
              <a:t>Bytecode (max. 24’576 bytes)</a:t>
            </a:r>
          </a:p>
          <a:p>
            <a:pPr lvl="1"/>
            <a:r>
              <a:rPr lang="en-CH" dirty="0"/>
              <a:t>Storage (uint256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uint256 Hash Map)</a:t>
            </a:r>
          </a:p>
          <a:p>
            <a:endParaRPr lang="en-CH" dirty="0"/>
          </a:p>
          <a:p>
            <a:r>
              <a:rPr lang="en-CH" dirty="0"/>
              <a:t>Executed by the Ethereum Virtual Machine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632C9-2054-2726-9B90-8F6B59A2D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844DF-6BF6-B034-AB0D-BBFC998F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860A5-75AF-C811-25F7-D9545A9B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0935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71A3E-358C-6291-7383-0B02A9DF4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EVM   </a:t>
            </a:r>
            <a:r>
              <a:rPr lang="en-CH" sz="2800" dirty="0"/>
              <a:t>Ethereum Virtual Machine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64CCF-B0F5-C015-96EB-374FD81BD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Custom stack-based instruction set</a:t>
            </a:r>
          </a:p>
          <a:p>
            <a:pPr lvl="1"/>
            <a:r>
              <a:rPr lang="en-CH" dirty="0"/>
              <a:t>many EVM-specific intrinsics (</a:t>
            </a:r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, </a:t>
            </a:r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Native “word size” is 32 bytes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uint256 is “default” integer type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(no floating-point!)</a:t>
            </a:r>
            <a:endParaRPr lang="en-CH" sz="1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Transactions begin VM execution</a:t>
            </a:r>
          </a:p>
          <a:p>
            <a:pPr lvl="1"/>
            <a:r>
              <a:rPr lang="en-CH" dirty="0"/>
              <a:t>target address and data (</a:t>
            </a:r>
            <a:r>
              <a:rPr lang="en-CH" i="1" dirty="0"/>
              <a:t>message-call</a:t>
            </a:r>
            <a:r>
              <a:rPr lang="en-CH" dirty="0"/>
              <a:t>)</a:t>
            </a:r>
          </a:p>
          <a:p>
            <a:pPr lvl="1"/>
            <a:r>
              <a:rPr lang="en-CH" dirty="0"/>
              <a:t>Executes bytecode at that address</a:t>
            </a:r>
          </a:p>
          <a:p>
            <a:r>
              <a:rPr lang="en-CH" dirty="0"/>
              <a:t>Contract execution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: Create a nested message-call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: Roll-back current message-call</a:t>
            </a:r>
          </a:p>
          <a:p>
            <a:pPr lvl="1"/>
            <a:r>
              <a:rPr lang="en-CH" dirty="0"/>
              <a:t>Each message-call has its own stack and memory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0B301-984F-D856-1302-8A9D3FD0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4AEB6-DB08-73C1-96E8-B4C62334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830F3-1D8A-6BCC-9751-4E63DFD86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0384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compilers:</a:t>
            </a:r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CH" dirty="0" err="1"/>
              <a:t>Vyper</a:t>
            </a:r>
            <a:r>
              <a:rPr lang="en-CH" dirty="0"/>
              <a:t>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Python, ~8% market share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Memory is typically arena-allocated</a:t>
            </a:r>
          </a:p>
          <a:p>
            <a:pPr lvl="1"/>
            <a:r>
              <a:rPr lang="en-CH" dirty="0"/>
              <a:t>Discarded when message-call terminates</a:t>
            </a:r>
          </a:p>
          <a:p>
            <a:pPr lvl="1"/>
            <a:r>
              <a:rPr lang="en-CH" dirty="0"/>
              <a:t>Execution is expensive</a:t>
            </a:r>
          </a:p>
          <a:p>
            <a:endParaRPr lang="en-CH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 (rare)</a:t>
            </a:r>
          </a:p>
          <a:p>
            <a:pPr lvl="1"/>
            <a:r>
              <a:rPr lang="en-CH" dirty="0"/>
              <a:t>Formal Verification (proprietary, very rare)</a:t>
            </a: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 </a:t>
            </a:r>
            <a:r>
              <a:rPr lang="en-CH" dirty="0">
                <a:solidFill>
                  <a:schemeClr val="tx2"/>
                </a:solidFill>
              </a:rPr>
              <a:t>(&gt;2000$ per auditor per day)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9828584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(2021-2024)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1EB870-A322-67F0-9A53-EC3F5455D594}"/>
              </a:ext>
            </a:extLst>
          </p:cNvPr>
          <p:cNvGrpSpPr/>
          <p:nvPr/>
        </p:nvGrpSpPr>
        <p:grpSpPr>
          <a:xfrm>
            <a:off x="7837405" y="2768507"/>
            <a:ext cx="747001" cy="2487983"/>
            <a:chOff x="7837405" y="2768507"/>
            <a:chExt cx="747001" cy="248798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1EF8E-54A4-2000-F07F-0973BADF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AE86CBA-9283-9AAD-9530-DC8A3A568B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425350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396E26-BF22-ABF0-29B7-7D696D727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solidFill>
                  <a:schemeClr val="tx2"/>
                </a:solidFill>
              </a:rPr>
              <a:t>Common Vulnerabilities (2021-2024)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6B4D1-1DCE-3422-D694-A34CF015F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9D011-3434-56C6-5FB0-B32B96165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94CBD-3CE5-8B9F-0E4E-B9C8D1A96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472FDE-9EF7-EA8C-3B5F-BA5D0ACA35E8}"/>
              </a:ext>
            </a:extLst>
          </p:cNvPr>
          <p:cNvSpPr txBox="1"/>
          <p:nvPr/>
        </p:nvSpPr>
        <p:spPr>
          <a:xfrm>
            <a:off x="7837405" y="2768507"/>
            <a:ext cx="746999" cy="307777"/>
          </a:xfrm>
          <a:prstGeom prst="rect">
            <a:avLst/>
          </a:prstGeom>
          <a:solidFill>
            <a:schemeClr val="accent4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CH" sz="2000" dirty="0">
                <a:solidFill>
                  <a:schemeClr val="bg1"/>
                </a:solidFill>
              </a:rPr>
              <a:t>$284M</a:t>
            </a:r>
          </a:p>
        </p:txBody>
      </p:sp>
    </p:spTree>
    <p:extLst>
      <p:ext uri="{BB962C8B-B14F-4D97-AF65-F5344CB8AC3E}">
        <p14:creationId xmlns:p14="http://schemas.microsoft.com/office/powerpoint/2010/main" val="3072959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6A8F-5170-1F70-EC51-21BEB993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– 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BEED7-A8A4-761D-28F0-A1B7E658C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Contract is “re-entered”</a:t>
            </a:r>
            <a:r>
              <a:rPr lang="en-CH" dirty="0"/>
              <a:t> in a nested message-call</a:t>
            </a:r>
          </a:p>
          <a:p>
            <a:pPr lvl="1"/>
            <a:r>
              <a:rPr lang="en-CH" dirty="0"/>
              <a:t>Stack / Memory is not shared!</a:t>
            </a:r>
          </a:p>
          <a:p>
            <a:r>
              <a:rPr lang="en-GB" dirty="0"/>
              <a:t>Concurrency, but limited</a:t>
            </a:r>
          </a:p>
          <a:p>
            <a:pPr lvl="1"/>
            <a:r>
              <a:rPr lang="en-GB" b="1" dirty="0"/>
              <a:t>R-W</a:t>
            </a:r>
            <a:r>
              <a:rPr lang="en-GB" dirty="0"/>
              <a:t>, </a:t>
            </a:r>
            <a:r>
              <a:rPr lang="en-GB" b="1" dirty="0"/>
              <a:t>W-R</a:t>
            </a:r>
            <a:r>
              <a:rPr lang="en-GB" dirty="0"/>
              <a:t>, </a:t>
            </a:r>
            <a:r>
              <a:rPr lang="en-GB" b="1" dirty="0"/>
              <a:t>W-W</a:t>
            </a:r>
            <a:r>
              <a:rPr lang="en-GB" dirty="0"/>
              <a:t> conflicts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C8CAF-F2C1-E23B-9D9A-B6AC30830B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671F-CF07-F489-31DC-7240D7B0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899D-7E0E-D888-B6AF-2F9C72C9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62096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5F9D-F831-10F0-B4A3-402692C5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A59B-94C1-1A59-B40C-9F194D2F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E3AE8-FC64-A0AC-93D5-12F3055F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992E3-0F9D-71E9-2614-B466311EE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0888-D13B-4663-6AE2-B7591719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9DC15DA-BE46-9855-4A34-C46C0C172895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7B4D0-11F0-058B-D596-80CEC7EA580F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BB979C1F-2B56-2442-7A8D-C52BBD24E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AE94F329-F41A-A08F-5438-C9D75FFE19A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BDFF461-814A-C370-6EA1-66D5F0CDBB84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68793B0-F791-D78D-2D98-F02B999EC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014688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B435F1-037C-389B-BE57-0352DD1AB5B8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F26153FC-12AB-04CE-93BF-129973F2051A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1456380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000-7270-DBE6-E4B6-042EA614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D455-4727-5AFA-AC50-4729648C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69CF-36D5-58DD-D7D9-3B2E0FABAB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98A1A-3A15-937E-2C1B-F4CC748EA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5654D-33F5-49C1-2925-2EE7A221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6680D8-775C-6AE0-7256-C68E7588C6DA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D4D448-4E45-7CF8-1AD7-F495C26FACF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CF4D6A67-4280-F03D-A203-D030F9149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4B1A2040-4B91-4FDA-8AFB-99996D4823A1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41A6E540-B3C8-6E6C-9FD5-BBBB924840DD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A58FB1D4-BF42-BA85-6A5F-6C4345751E13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7A0BA54-342F-87DD-568C-01D011F12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848800"/>
              </p:ext>
            </p:extLst>
          </p:nvPr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FF70CF0-5EE8-3847-008C-0C9E25078CBA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DE3C55-AB57-58FB-B694-97E144B4B908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E92ED1-881A-6B62-79A9-77318C795FBE}"/>
              </a:ext>
            </a:extLst>
          </p:cNvPr>
          <p:cNvGraphicFramePr>
            <a:graphicFrameLocks noGrp="1"/>
          </p:cNvGraphicFramePr>
          <p:nvPr/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D10640-1BFD-8ABC-6D7F-A38869D7C99F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29809-3771-9505-FF76-2311087A1744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3FFCF0-DFF3-768B-4AFF-DAD199139ECD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AC5544C-B846-E269-4899-6C121A90600D}"/>
              </a:ext>
            </a:extLst>
          </p:cNvPr>
          <p:cNvGrpSpPr/>
          <p:nvPr/>
        </p:nvGrpSpPr>
        <p:grpSpPr>
          <a:xfrm>
            <a:off x="4480561" y="1812973"/>
            <a:ext cx="1278446" cy="2987622"/>
            <a:chOff x="4480561" y="1427965"/>
            <a:chExt cx="1278446" cy="3014812"/>
          </a:xfrm>
        </p:grpSpPr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45200735-4882-FA64-3D71-CF618F87BD9C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>
              <a:off x="3216360" y="2692167"/>
              <a:ext cx="3014811" cy="48641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81C9310-94EF-9C88-8077-A326C7AF7D4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7012" y="1427965"/>
              <a:ext cx="801995" cy="1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825B9D55-DD7C-8A80-D010-9D6A6BA9A703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208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8AFB30-ACFD-8250-0CE8-A49F6D41A9F7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61446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57193F-3A80-EEDC-2296-1448FBDF66C9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743121"/>
              </p:ext>
            </p:extLst>
          </p:nvPr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40920-EDE4-3ABF-D41E-306E108132C3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DA7F91-D35B-DEBE-24E7-C3CA876999B8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2D2FE0E-F516-E4A7-C8B7-CC57735206F2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C8186AC-440E-F39E-E224-79570E71737F}"/>
              </a:ext>
            </a:extLst>
          </p:cNvPr>
          <p:cNvGrpSpPr/>
          <p:nvPr/>
        </p:nvGrpSpPr>
        <p:grpSpPr>
          <a:xfrm>
            <a:off x="7078389" y="1809345"/>
            <a:ext cx="1726990" cy="3035030"/>
            <a:chOff x="7078389" y="1809345"/>
            <a:chExt cx="1726990" cy="3035030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226D6A8-3292-EA0D-AB50-8DE29A60933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007915" y="3046910"/>
              <a:ext cx="3035030" cy="559899"/>
            </a:xfrm>
            <a:prstGeom prst="bentConnector3">
              <a:avLst>
                <a:gd name="adj1" fmla="val 100000"/>
              </a:avLst>
            </a:prstGeom>
            <a:ln>
              <a:tailEnd type="non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0CFBCEA-08E7-5D64-01CD-DB2F445AF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8389" y="1809345"/>
              <a:ext cx="11768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7935-62AF-888D-44C5-74D4E036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3926A8-136D-C71D-ABE2-AD9A3902E489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10005-393C-3CD3-7B68-4040593C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E05D-A95A-EF56-693B-7C5CA26F32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DBA09-5656-F957-8DC5-6F1CA31A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EE448-B38A-8E02-5E38-7A942D58D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034A3572-4CD4-E2D0-EF7F-09A605AAC6E8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876C7C56-EC4A-F59A-EF08-E3FE809EA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51855C-AB8E-0F1A-99DD-E4187E56630D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C858B97-5F49-8CC4-43C0-986298187651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95C36B3-A5B8-6C2F-0526-93268FEDBE04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C02290-89F0-CBD4-21D4-5176E10150A5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D76D716-9C36-BE0E-0716-6C06E3B47E8D}"/>
              </a:ext>
            </a:extLst>
          </p:cNvPr>
          <p:cNvGrpSpPr/>
          <p:nvPr/>
        </p:nvGrpSpPr>
        <p:grpSpPr>
          <a:xfrm>
            <a:off x="3468276" y="4999038"/>
            <a:ext cx="3425819" cy="657410"/>
            <a:chOff x="3468276" y="4999038"/>
            <a:chExt cx="3459053" cy="389709"/>
          </a:xfrm>
        </p:grpSpPr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7DCE89A-E3CF-7E9C-0129-9424D7684828}"/>
                </a:ext>
              </a:extLst>
            </p:cNvPr>
            <p:cNvCxnSpPr/>
            <p:nvPr/>
          </p:nvCxnSpPr>
          <p:spPr>
            <a:xfrm rot="10800000">
              <a:off x="3468276" y="4999038"/>
              <a:ext cx="2268984" cy="389708"/>
            </a:xfrm>
            <a:prstGeom prst="bentConnector3">
              <a:avLst>
                <a:gd name="adj1" fmla="val 100081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3BCDDA6E-D84A-4095-BA60-E9DE4090AA5C}"/>
                </a:ext>
              </a:extLst>
            </p:cNvPr>
            <p:cNvCxnSpPr/>
            <p:nvPr/>
          </p:nvCxnSpPr>
          <p:spPr>
            <a:xfrm flipV="1">
              <a:off x="4592502" y="4999038"/>
              <a:ext cx="2334827" cy="389709"/>
            </a:xfrm>
            <a:prstGeom prst="bentConnector3">
              <a:avLst>
                <a:gd name="adj1" fmla="val 100190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: Folded Corner 34">
            <a:extLst>
              <a:ext uri="{FF2B5EF4-FFF2-40B4-BE49-F238E27FC236}">
                <a16:creationId xmlns:a16="http://schemas.microsoft.com/office/drawing/2014/main" id="{2F4DACB4-424E-1245-D49A-AF89584DF114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0CECD-0FC9-0E11-38C6-5A370468EF9A}"/>
              </a:ext>
            </a:extLst>
          </p:cNvPr>
          <p:cNvSpPr txBox="1"/>
          <p:nvPr/>
        </p:nvSpPr>
        <p:spPr>
          <a:xfrm>
            <a:off x="4402115" y="5651393"/>
            <a:ext cx="1478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dirty="0">
                <a:solidFill>
                  <a:schemeClr val="accent1"/>
                </a:solidFill>
              </a:rPr>
              <a:t>R-W conflict!</a:t>
            </a:r>
          </a:p>
        </p:txBody>
      </p:sp>
    </p:spTree>
    <p:extLst>
      <p:ext uri="{BB962C8B-B14F-4D97-AF65-F5344CB8AC3E}">
        <p14:creationId xmlns:p14="http://schemas.microsoft.com/office/powerpoint/2010/main" val="762378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4.81481E-6 L 0.00404 0.43959 " pathEditMode="relative" rAng="0" ptsTypes="AA">
                                      <p:cBhvr>
                                        <p:cTn id="6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5" y="2196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1.48148E-6 L 0.00326 0.44838 " pathEditMode="relative" rAng="0" ptsTypes="AA">
                                      <p:cBhvr>
                                        <p:cTn id="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224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Easily preventable in most cases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CH" dirty="0"/>
              <a:t>There is no</a:t>
            </a:r>
            <a:r>
              <a:rPr lang="en-GB" dirty="0"/>
              <a:t> “safety by default”</a:t>
            </a:r>
          </a:p>
          <a:p>
            <a:endParaRPr lang="en-GB" dirty="0"/>
          </a:p>
          <a:p>
            <a:r>
              <a:rPr lang="en-CH" dirty="0"/>
              <a:t>But w</a:t>
            </a:r>
            <a:r>
              <a:rPr lang="en-GB" dirty="0"/>
              <a:t>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22EF-42EE-FFC5-2561-7A4EE6BB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29A17BE9-980C-4992-DB08-050598E940B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7181C262-100E-E9F9-063A-07E5485E47E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DAEA6353-0429-9F6E-5C99-6EC45305C1A4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5284E23A-C257-F3F5-173F-071D1C49236C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E37B2A45-E80B-9E7A-B91D-FC55C79D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5DE94420-D1E6-6792-5509-10210CDD9ED7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E517237-A8E9-9114-FF00-200D52A63693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A057BB1-4050-1903-F4D9-16C818AFB182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BD70170-8972-F613-073F-03257ACC9CFD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0D8814AA-8A8E-E29A-715E-82342B47A1F7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24773C65-9678-8F82-F3F1-52AE6342000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7694D426-BDC4-7E2F-0271-B5BA197E2BE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BA5539-A877-A2D4-9527-B49ADC88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DF8F2-7ACC-9F5B-20DA-5663A0CB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75CC6-B041-8B59-E168-3A1B05CE5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E84F5-C031-6617-E53D-557837723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6CCE513A-84B4-80D4-7E6C-B92B0939070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1D872-A3B1-B8D8-8C1D-C511F1A1134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DCF89-2DB9-FC40-EFF0-2A80E58BD6DB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60ABB859-63FF-972F-A052-81761A80E7D6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0900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F6CDFC3C-F582-7A56-4A34-484B67D40668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 flipH="1">
            <a:off x="5245098" y="3884455"/>
            <a:ext cx="1884362" cy="608845"/>
          </a:xfrm>
          <a:prstGeom prst="curvedConnector5">
            <a:avLst>
              <a:gd name="adj1" fmla="val -27800"/>
              <a:gd name="adj2" fmla="val 295616"/>
              <a:gd name="adj3" fmla="val 1369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6107812-5CB6-45FD-7840-D736015C1862}"/>
              </a:ext>
            </a:extLst>
          </p:cNvPr>
          <p:cNvCxnSpPr>
            <a:stCxn id="9" idx="3"/>
            <a:endCxn id="15" idx="1"/>
          </p:cNvCxnSpPr>
          <p:nvPr/>
        </p:nvCxnSpPr>
        <p:spPr>
          <a:xfrm flipH="1">
            <a:off x="5245098" y="3275649"/>
            <a:ext cx="1884363" cy="1217651"/>
          </a:xfrm>
          <a:prstGeom prst="curvedConnector5">
            <a:avLst>
              <a:gd name="adj1" fmla="val -45492"/>
              <a:gd name="adj2" fmla="val 222876"/>
              <a:gd name="adj3" fmla="val 15509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3748925-2359-B53F-070B-44E01DC30D58}"/>
              </a:ext>
            </a:extLst>
          </p:cNvPr>
          <p:cNvSpPr txBox="1"/>
          <p:nvPr/>
        </p:nvSpPr>
        <p:spPr>
          <a:xfrm>
            <a:off x="8222982" y="4445029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2FFB1D0A-3BB1-C015-1BD7-089B2119B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D97D1439-A1CC-E988-DF2F-1F557BACE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83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/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2867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616686" y="3075738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616685" y="3684623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pic>
        <p:nvPicPr>
          <p:cNvPr id="23" name="Graphic 22" descr="Shield Tick with solid fill">
            <a:extLst>
              <a:ext uri="{FF2B5EF4-FFF2-40B4-BE49-F238E27FC236}">
                <a16:creationId xmlns:a16="http://schemas.microsoft.com/office/drawing/2014/main" id="{295B4F4D-6215-8EA5-1D20-55FC58C34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24" name="Graphic 23" descr="Shield Tick with solid fill">
            <a:extLst>
              <a:ext uri="{FF2B5EF4-FFF2-40B4-BE49-F238E27FC236}">
                <a16:creationId xmlns:a16="http://schemas.microsoft.com/office/drawing/2014/main" id="{006F46F1-E9F6-82D1-D798-D8D97E7DF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H="1" flipV="1">
            <a:off x="5245098" y="3884415"/>
            <a:ext cx="1884362" cy="608925"/>
          </a:xfrm>
          <a:prstGeom prst="curvedConnector5">
            <a:avLst>
              <a:gd name="adj1" fmla="val -19344"/>
              <a:gd name="adj2" fmla="val -223952"/>
              <a:gd name="adj3" fmla="val 138361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 flipH="1" flipV="1">
            <a:off x="5245099" y="3275609"/>
            <a:ext cx="1884361" cy="1217731"/>
          </a:xfrm>
          <a:prstGeom prst="curvedConnector5">
            <a:avLst>
              <a:gd name="adj1" fmla="val -39673"/>
              <a:gd name="adj2" fmla="val -135697"/>
              <a:gd name="adj3" fmla="val 15803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/>
              <a:t> / XX</a:t>
            </a:r>
            <a:endParaRPr lang="en-CH" dirty="0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68A8A645-8193-3BE0-AEFF-57048E6E2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17" name="Graphic 16" descr="Shield Tick with solid fill">
            <a:extLst>
              <a:ext uri="{FF2B5EF4-FFF2-40B4-BE49-F238E27FC236}">
                <a16:creationId xmlns:a16="http://schemas.microsoft.com/office/drawing/2014/main" id="{6A430F5F-3353-D54C-F733-C139708B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D93CC7F2-2101-79B8-A354-33829FF69040}"/>
              </a:ext>
            </a:extLst>
          </p:cNvPr>
          <p:cNvSpPr/>
          <p:nvPr/>
        </p:nvSpPr>
        <p:spPr>
          <a:xfrm>
            <a:off x="6417360" y="370185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BC8DB58F-D0C3-163C-D6CC-0876568A0063}"/>
              </a:ext>
            </a:extLst>
          </p:cNvPr>
          <p:cNvSpPr/>
          <p:nvPr/>
        </p:nvSpPr>
        <p:spPr>
          <a:xfrm>
            <a:off x="6417358" y="4310737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4" name="Arrow: Chevron 33">
            <a:extLst>
              <a:ext uri="{FF2B5EF4-FFF2-40B4-BE49-F238E27FC236}">
                <a16:creationId xmlns:a16="http://schemas.microsoft.com/office/drawing/2014/main" id="{97FFD1D5-3453-61CC-E712-EDA199EE6367}"/>
              </a:ext>
            </a:extLst>
          </p:cNvPr>
          <p:cNvSpPr/>
          <p:nvPr/>
        </p:nvSpPr>
        <p:spPr>
          <a:xfrm>
            <a:off x="6417361" y="309304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39" name="Graphic 38" descr="Shield Tick with solid fill">
            <a:extLst>
              <a:ext uri="{FF2B5EF4-FFF2-40B4-BE49-F238E27FC236}">
                <a16:creationId xmlns:a16="http://schemas.microsoft.com/office/drawing/2014/main" id="{056E8BAA-961F-BD03-4CB9-C709C3FF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56" y="4225256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8" grpId="0"/>
      <p:bldP spid="19" grpId="0" animBg="1"/>
      <p:bldP spid="32" grpId="0" animBg="1"/>
      <p:bldP spid="38" grpId="0" animBg="1"/>
      <p:bldP spid="33" grpId="0" animBg="1"/>
      <p:bldP spid="34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</a:p>
          <a:p>
            <a:r>
              <a:rPr lang="en-CH" dirty="0"/>
              <a:t>Ordering is important!</a:t>
            </a:r>
          </a:p>
          <a:p>
            <a:pPr lvl="1"/>
            <a:r>
              <a:rPr lang="en-CH" dirty="0"/>
              <a:t>Solidity and </a:t>
            </a:r>
            <a:r>
              <a:rPr lang="en-CH" dirty="0" err="1"/>
              <a:t>Vyper</a:t>
            </a:r>
            <a:r>
              <a:rPr lang="en-CH" dirty="0"/>
              <a:t> have ambiguous execution order</a:t>
            </a:r>
          </a:p>
          <a:p>
            <a:pPr lvl="2"/>
            <a:r>
              <a:rPr lang="en-CH" dirty="0"/>
              <a:t>e.g.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f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(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</a:rPr>
              <a:t>,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h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)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dirty="0"/>
              <a:t>no warning!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Auditor’s perspective:</a:t>
            </a:r>
          </a:p>
          <a:p>
            <a:pPr lvl="1"/>
            <a:r>
              <a:rPr lang="en-CH" dirty="0"/>
              <a:t>Which entry-points cause which side effects?</a:t>
            </a:r>
          </a:p>
          <a:p>
            <a:pPr lvl="1"/>
            <a:r>
              <a:rPr lang="en-CH" dirty="0"/>
              <a:t>Which effects may have unexpected interactions?</a:t>
            </a:r>
          </a:p>
          <a:p>
            <a:pPr lvl="1"/>
            <a:r>
              <a:rPr lang="en-CH" dirty="0"/>
              <a:t>Can side effects violate contract invariants?</a:t>
            </a:r>
          </a:p>
          <a:p>
            <a:endParaRPr lang="en-CH" dirty="0"/>
          </a:p>
          <a:p>
            <a:endParaRPr lang="en-CH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A2A0E-AF0D-57FD-A52E-B67C83F6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8CE39-FBCF-1731-012A-BAB1B188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can we help developers / auditors manage side effects?</a:t>
            </a:r>
          </a:p>
          <a:p>
            <a:pPr lvl="1"/>
            <a:r>
              <a:rPr lang="en-CH" dirty="0"/>
              <a:t>Make them explicit (no “hidden” / implicit effects)</a:t>
            </a:r>
          </a:p>
          <a:p>
            <a:pPr lvl="1"/>
            <a:r>
              <a:rPr lang="en-CH" dirty="0"/>
              <a:t>Never allow ambiguous orderings</a:t>
            </a:r>
          </a:p>
          <a:p>
            <a:pPr lvl="1"/>
            <a:endParaRPr lang="en-CH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0FC6E-931F-9CB6-1CC2-0A601210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25618-9A56-E0D9-8725-A6CE2E4E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50307-901F-096A-27AF-165F6F1BC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24720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AB33A-3BA8-F5F2-90AF-E9D267A53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6C5F3-4B11-87AC-74AE-8337ED4B9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0A3C-0C77-BC72-9CCE-E138D82A9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4B738AA-1444-5EFB-F19D-359709586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4B9508E-6E30-F9CF-70AD-036B6A979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72FA0B-F9D4-07B8-4072-8BF51645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A9375-C0F4-21E7-B7DA-4FB70E89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 1:</a:t>
            </a:r>
          </a:p>
          <a:p>
            <a:pPr marL="0" indent="0">
              <a:buNone/>
            </a:pPr>
            <a:r>
              <a:rPr lang="en-CH" dirty="0"/>
              <a:t>Determine effects without reading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body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Issue 2:</a:t>
            </a:r>
          </a:p>
          <a:p>
            <a:pPr marL="0" indent="0">
              <a:buNone/>
            </a:pPr>
            <a:r>
              <a:rPr lang="en-CH" dirty="0"/>
              <a:t>Hidden side effects in syntax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BAE32DE-537D-2748-7F43-922BCB0D95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81996E3-ED27-7A5B-37B3-0394B5459F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6CA50-B653-FBF7-CB47-4A64A09ED0C3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3BA5A3F-D9D6-6F16-1316-33B7169A31C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FA5BFF4-4F23-41AC-6467-FB3FFFEF8A5A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662E06-C10A-D037-6E2B-7EFDCDF22A79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9CB37D-B155-7943-1428-49995D499DC4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602628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7C2F-6F7C-855C-DCBE-5626F0B15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08257-3154-956C-4D9E-0DE3ED3F0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8357DB4-787E-D9E2-F802-F6E7A306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DB7B7E-BA13-9916-CB8C-A96AD1DE5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05B9856-F1F2-E225-646E-9EF2CB51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39BB-8ECC-08DA-1115-31C488619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1:</a:t>
            </a:r>
          </a:p>
          <a:p>
            <a:pPr marL="0" indent="0">
              <a:buNone/>
            </a:pPr>
            <a:r>
              <a:rPr lang="en-CH" dirty="0"/>
              <a:t>Include effects in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2:</a:t>
            </a:r>
          </a:p>
          <a:p>
            <a:pPr marL="0" indent="0">
              <a:buNone/>
            </a:pPr>
            <a:r>
              <a:rPr lang="en-CH" dirty="0"/>
              <a:t>Annotate inline effects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EEBC02-D554-2E4C-E9D9-E7DB71D17C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  <a:endParaRPr lang="en-CH" dirty="0"/>
          </a:p>
          <a:p>
            <a:r>
              <a:rPr lang="en-CH" dirty="0"/>
              <a:t>  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257C67B-666C-DDC0-6A24-490BAC7C54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689028BC-94A7-0262-24B1-1A1A7D7D6746}"/>
              </a:ext>
            </a:extLst>
          </p:cNvPr>
          <p:cNvSpPr txBox="1">
            <a:spLocks/>
          </p:cNvSpPr>
          <p:nvPr/>
        </p:nvSpPr>
        <p:spPr>
          <a:xfrm>
            <a:off x="6555600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>
                <a:solidFill>
                  <a:schemeClr val="accent1"/>
                </a:solidFill>
              </a:rPr>
              <a:t> 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1F1D8720-6E8D-7319-1D01-81F189B14E6E}"/>
              </a:ext>
            </a:extLst>
          </p:cNvPr>
          <p:cNvSpPr txBox="1">
            <a:spLocks/>
          </p:cNvSpPr>
          <p:nvPr/>
        </p:nvSpPr>
        <p:spPr>
          <a:xfrm>
            <a:off x="6555418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CB1F2DC-2BF5-D480-9368-19A3A14FB111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EED68FB-A4D7-D741-DD32-7FB58DA7D50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9DF3F1-9A00-6DC8-9398-451CE12DE4F9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8651F3-969C-2808-6859-96D26728C03C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D7648E-6E9F-B697-BEAD-0E7124073C0D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0759E8-8FA7-DD84-0DA0-766F6C770124}"/>
              </a:ext>
            </a:extLst>
          </p:cNvPr>
          <p:cNvGrpSpPr/>
          <p:nvPr/>
        </p:nvGrpSpPr>
        <p:grpSpPr>
          <a:xfrm>
            <a:off x="7194698" y="2930396"/>
            <a:ext cx="4189223" cy="646331"/>
            <a:chOff x="7194698" y="2930396"/>
            <a:chExt cx="4189223" cy="64633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C762E6-3612-330C-9CCC-E6AE09FF8647}"/>
                </a:ext>
              </a:extLst>
            </p:cNvPr>
            <p:cNvSpPr txBox="1"/>
            <p:nvPr/>
          </p:nvSpPr>
          <p:spPr>
            <a:xfrm>
              <a:off x="9115642" y="2930396"/>
              <a:ext cx="22682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No annotation here – effect is visible!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1DEF2DD-D4AE-3479-1054-0931F653A126}"/>
                </a:ext>
              </a:extLst>
            </p:cNvPr>
            <p:cNvSpPr/>
            <p:nvPr/>
          </p:nvSpPr>
          <p:spPr>
            <a:xfrm>
              <a:off x="7194698" y="3012558"/>
              <a:ext cx="1920944" cy="482009"/>
            </a:xfrm>
            <a:prstGeom prst="rect">
              <a:avLst/>
            </a:prstGeom>
            <a:solidFill>
              <a:srgbClr val="FFF2CC">
                <a:alpha val="19000"/>
              </a:srgb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197181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9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We can leverage our reentrancy protection!</a:t>
            </a: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B3A2B27-05B9-A72B-C7E6-60B6DA39AA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address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data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8C9DC8-BE7F-1EC9-791F-76D58FF3BA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F4DC1E-B81A-E43D-555F-41382143C174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810BB6E-0B88-0026-B419-A5C4DEE90C95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AB620E-3005-EDC0-DB88-641E6DA155C6}"/>
                </a:ext>
              </a:extLst>
            </p:cNvPr>
            <p:cNvSpPr/>
            <p:nvPr/>
          </p:nvSpPr>
          <p:spPr>
            <a:xfrm>
              <a:off x="6115509" y="5309191"/>
              <a:ext cx="5236400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E92196B-1E7E-391B-A76E-6E58FD8635CE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 function call!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C3D6FE0-53DF-B80A-48C3-4264A160D4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A2C319D6-252F-33DA-0B04-68B894A1EC3A}"/>
              </a:ext>
            </a:extLst>
          </p:cNvPr>
          <p:cNvSpPr txBox="1">
            <a:spLocks/>
          </p:cNvSpPr>
          <p:nvPr/>
        </p:nvSpPr>
        <p:spPr>
          <a:xfrm>
            <a:off x="6555600" y="363600"/>
            <a:ext cx="4798381" cy="5834063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5E260A20-2509-4C31-E6C6-4EF5EB7FC546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7F53EF-4587-2CBB-B14B-38D89208019A}"/>
                </a:ext>
              </a:extLst>
            </p:cNvPr>
            <p:cNvSpPr/>
            <p:nvPr/>
          </p:nvSpPr>
          <p:spPr>
            <a:xfrm>
              <a:off x="6115509" y="5309191"/>
              <a:ext cx="5236399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4A8F25-BE6B-04EF-2CEB-2B57FEEAAE83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4E84-A344-14A5-5ABA-16FD2F8F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BDBA-E8FE-4B86-0F4C-4CAE53EC8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CA1DA95-5DE3-EC17-00BA-4A80B605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904765-8631-1024-B517-79EAB9B4F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26937F-FAF4-29C3-CBB0-DA9FD27A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7F413-942B-FB7C-C0E4-9F32FDBF9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782879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</a:t>
            </a:r>
            <a:br>
              <a:rPr lang="en-CH" dirty="0"/>
            </a:br>
            <a:r>
              <a:rPr lang="en-CH" dirty="0"/>
              <a:t>function call!</a:t>
            </a:r>
          </a:p>
          <a:p>
            <a:pPr>
              <a:buFont typeface="Aptos" panose="020B0004020202020204" pitchFamily="34" charset="0"/>
              <a:buChar char="→"/>
            </a:pPr>
            <a:endParaRPr lang="en-CH" dirty="0"/>
          </a:p>
          <a:p>
            <a:r>
              <a:rPr lang="en-CH" dirty="0"/>
              <a:t>Add reentrancy to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09A5B3-5568-604B-BD6B-ADF2EB3866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</a:t>
            </a:r>
            <a:r>
              <a:rPr lang="en-CH" sz="1800" dirty="0">
                <a:solidFill>
                  <a:schemeClr val="accent4"/>
                </a:solidFill>
              </a:rPr>
              <a:t>modifies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>
                <a:solidFill>
                  <a:schemeClr val="accent3"/>
                </a:solidFill>
              </a:rPr>
              <a:t>self</a:t>
            </a:r>
            <a:r>
              <a:rPr lang="en-CH" sz="1800" dirty="0">
                <a:solidFill>
                  <a:schemeClr val="accent1"/>
                </a:solidFill>
              </a:rPr>
              <a:t>.</a:t>
            </a:r>
            <a:r>
              <a:rPr lang="en-CH" sz="1800" dirty="0"/>
              <a:t>n</a:t>
            </a:r>
            <a:r>
              <a:rPr lang="en-CH" sz="1800" dirty="0">
                <a:solidFill>
                  <a:schemeClr val="accent1"/>
                </a:solidFill>
              </a:rPr>
              <a:t>) </a:t>
            </a:r>
            <a:r>
              <a:rPr lang="en-CH" sz="1800" dirty="0">
                <a:solidFill>
                  <a:schemeClr val="accent4"/>
                </a:solidFill>
              </a:rPr>
              <a:t>reenters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/>
              <a:t>inc</a:t>
            </a:r>
            <a:r>
              <a:rPr lang="en-CH" sz="1800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BDD6F2-900F-098C-146C-AFDDC61AB5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249FA5A-6D35-9AB1-2767-4B5BFC25DC01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B1B5CD-6796-254C-959F-3F1119339B01}"/>
              </a:ext>
            </a:extLst>
          </p:cNvPr>
          <p:cNvGrpSpPr/>
          <p:nvPr/>
        </p:nvGrpSpPr>
        <p:grpSpPr>
          <a:xfrm>
            <a:off x="6115509" y="363601"/>
            <a:ext cx="5238290" cy="5835586"/>
            <a:chOff x="6115509" y="365126"/>
            <a:chExt cx="5238290" cy="58340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361C96-1704-C35D-386A-6AF244254D5F}"/>
                </a:ext>
              </a:extLst>
            </p:cNvPr>
            <p:cNvSpPr/>
            <p:nvPr/>
          </p:nvSpPr>
          <p:spPr>
            <a:xfrm>
              <a:off x="6115509" y="3771648"/>
              <a:ext cx="5236399" cy="242753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B695A7-8E22-A810-D33F-12BAB5091B45}"/>
                </a:ext>
              </a:extLst>
            </p:cNvPr>
            <p:cNvSpPr/>
            <p:nvPr/>
          </p:nvSpPr>
          <p:spPr>
            <a:xfrm>
              <a:off x="6117399" y="365126"/>
              <a:ext cx="5236400" cy="309126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2163167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Nothing new here</a:t>
            </a:r>
          </a:p>
          <a:p>
            <a:r>
              <a:rPr lang="en-CH" dirty="0"/>
              <a:t>Existing compilers for EVM do not support ADTs</a:t>
            </a:r>
          </a:p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pPr lvl="1"/>
            <a:r>
              <a:rPr lang="en-CH" dirty="0"/>
              <a:t>Extended with:</a:t>
            </a: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contract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abi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types, still experimental</a:t>
            </a:r>
          </a:p>
          <a:p>
            <a:pPr lvl="1"/>
            <a:r>
              <a:rPr lang="en-CH" dirty="0"/>
              <a:t>Contracts and </a:t>
            </a:r>
            <a:r>
              <a:rPr lang="en-CH" dirty="0" err="1"/>
              <a:t>ABIs</a:t>
            </a:r>
            <a:r>
              <a:rPr lang="en-CH" dirty="0"/>
              <a:t> are monomorphic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Require inline 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First: Type inference, side effect checks, monomorphization</a:t>
            </a:r>
          </a:p>
          <a:p>
            <a:r>
              <a:rPr lang="en-CH" dirty="0"/>
              <a:t>Generates </a:t>
            </a:r>
            <a:r>
              <a:rPr lang="en-CH" dirty="0">
                <a:solidFill>
                  <a:schemeClr val="accent2"/>
                </a:solidFill>
              </a:rPr>
              <a:t>Solidity</a:t>
            </a:r>
            <a:r>
              <a:rPr lang="en-CH" dirty="0"/>
              <a:t> code</a:t>
            </a:r>
          </a:p>
          <a:p>
            <a:pPr lvl="1"/>
            <a:r>
              <a:rPr lang="en-CH" dirty="0"/>
              <a:t>Granular control over memory</a:t>
            </a:r>
          </a:p>
          <a:p>
            <a:pPr lvl="1"/>
            <a:r>
              <a:rPr lang="en-CH" dirty="0"/>
              <a:t>Produces optimized bytecode</a:t>
            </a:r>
          </a:p>
          <a:p>
            <a:pPr lvl="1"/>
            <a:r>
              <a:rPr lang="en-CH" dirty="0"/>
              <a:t>“Inline assembly” for specific optimizations</a:t>
            </a:r>
          </a:p>
          <a:p>
            <a:pPr lvl="1"/>
            <a:r>
              <a:rPr lang="en-CH" dirty="0"/>
              <a:t>Guaranteed compatibility with existing contracts</a:t>
            </a:r>
          </a:p>
          <a:p>
            <a:pPr lvl="1"/>
            <a:r>
              <a:rPr lang="en-CH" dirty="0"/>
              <a:t>Can use existing testing / deployment tools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CH" dirty="0"/>
              <a:t>ADTs:</a:t>
            </a:r>
          </a:p>
          <a:p>
            <a:pPr lvl="1"/>
            <a:r>
              <a:rPr lang="en-CH" dirty="0"/>
              <a:t>Reduces code complexity</a:t>
            </a:r>
          </a:p>
          <a:p>
            <a:pPr lvl="1"/>
            <a:r>
              <a:rPr lang="en-CH" dirty="0"/>
              <a:t>Less error-prone</a:t>
            </a:r>
          </a:p>
          <a:p>
            <a:pPr lvl="1"/>
            <a:r>
              <a:rPr lang="en-CH" dirty="0"/>
              <a:t>High memory usage (for now)</a:t>
            </a:r>
          </a:p>
          <a:p>
            <a:pPr marL="0" indent="0">
              <a:buNone/>
            </a:pPr>
            <a:endParaRPr lang="en-CH" sz="1800" dirty="0"/>
          </a:p>
          <a:p>
            <a:r>
              <a:rPr lang="en-CH" dirty="0"/>
              <a:t>Reentrancy Protection:</a:t>
            </a:r>
          </a:p>
          <a:p>
            <a:pPr lvl="1"/>
            <a:r>
              <a:rPr lang="en-CH" dirty="0"/>
              <a:t>Disabling reentrancy by default does most of the work</a:t>
            </a:r>
          </a:p>
          <a:p>
            <a:pPr lvl="1"/>
            <a:r>
              <a:rPr lang="en-CH" dirty="0"/>
              <a:t>When does it not suffice?</a:t>
            </a:r>
          </a:p>
          <a:p>
            <a:pPr lvl="2"/>
            <a:r>
              <a:rPr lang="en-CH" dirty="0"/>
              <a:t>Mandated callbacks in token standards</a:t>
            </a:r>
          </a:p>
          <a:p>
            <a:pPr lvl="2"/>
            <a:r>
              <a:rPr lang="en-CH" dirty="0"/>
              <a:t>Cross-contract </a:t>
            </a:r>
            <a:r>
              <a:rPr lang="en-CH" dirty="0" err="1"/>
              <a:t>reentrancies</a:t>
            </a:r>
            <a:endParaRPr lang="en-CH" dirty="0"/>
          </a:p>
          <a:p>
            <a:pPr lvl="2"/>
            <a:r>
              <a:rPr lang="en-CH" dirty="0"/>
              <a:t>Specific use cases (e.g. flash loans)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5288280" y="1825625"/>
            <a:ext cx="66370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/>
              <a:t>Side Effect Annotations:</a:t>
            </a:r>
          </a:p>
          <a:p>
            <a:pPr lvl="1"/>
            <a:r>
              <a:rPr lang="en-CH" dirty="0"/>
              <a:t>Primary goal: enhance auditability</a:t>
            </a:r>
          </a:p>
          <a:p>
            <a:pPr lvl="1"/>
            <a:r>
              <a:rPr lang="en-CH" dirty="0"/>
              <a:t>Difficult to quantify</a:t>
            </a:r>
          </a:p>
          <a:p>
            <a:pPr lvl="1"/>
            <a:r>
              <a:rPr lang="en-CH" dirty="0"/>
              <a:t>Helps flag unexpected / missing side effects</a:t>
            </a:r>
          </a:p>
          <a:p>
            <a:pPr lvl="1"/>
            <a:r>
              <a:rPr lang="en-CH" dirty="0"/>
              <a:t>Can be propagated across reentrant calls</a:t>
            </a:r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Reentrancies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Breakdown of 54 reentrancy exploits 2021-2024: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0229"/>
              </p:ext>
            </p:extLst>
          </p:nvPr>
        </p:nvGraphicFramePr>
        <p:xfrm>
          <a:off x="838200" y="2431574"/>
          <a:ext cx="7942606" cy="35102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663886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782558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397968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1974194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 Reentrancies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  <a:p>
                      <a:pPr algn="ctr"/>
                      <a:r>
                        <a:rPr lang="en-CH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BC46B-551E-AB41-F6BD-AD90740DD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Performance Comparison (WIP)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F9B8A-D3FB-DCE7-91C8-0078921B0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mostly in terms of memory usage</a:t>
            </a:r>
          </a:p>
          <a:p>
            <a:pPr lvl="1"/>
            <a:r>
              <a:rPr lang="en-CH" dirty="0"/>
              <a:t>since my ADTs are garbage</a:t>
            </a:r>
          </a:p>
          <a:p>
            <a:r>
              <a:rPr lang="en-CH" dirty="0"/>
              <a:t>how much do reentrancy checks cost?</a:t>
            </a:r>
          </a:p>
          <a:p>
            <a:pPr lvl="1"/>
            <a:r>
              <a:rPr lang="en-CH" dirty="0"/>
              <a:t>difficult to quantify, since storage &gt;&gt; memory so it’s not really comparable</a:t>
            </a:r>
          </a:p>
          <a:p>
            <a:pPr lvl="1"/>
            <a:r>
              <a:rPr lang="en-CH" dirty="0"/>
              <a:t>but can actually perform better than existing tools -&gt; </a:t>
            </a:r>
            <a:r>
              <a:rPr lang="en-CH" dirty="0" err="1"/>
              <a:t>compi</a:t>
            </a:r>
            <a:r>
              <a:rPr lang="en-US" dirty="0"/>
              <a:t>le</a:t>
            </a:r>
            <a:r>
              <a:rPr lang="en-CH" dirty="0"/>
              <a:t>r could choose cheapest sufficient check (i.e. not writing reentrancy guard to storage if no external calls are made)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2E660-6274-CAB3-1E76-E66D6392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8E735-1875-850E-7082-26F73F6C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2D1F0-66B8-C97A-37DE-4CEB717B6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132727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Code Overhead (WIP)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many additional lines of code, etc?</a:t>
            </a:r>
          </a:p>
          <a:p>
            <a:pPr lvl="1"/>
            <a:r>
              <a:rPr lang="en-CH" dirty="0"/>
              <a:t>kind of need a full rewrite of a real-world protocol to compare</a:t>
            </a:r>
          </a:p>
          <a:p>
            <a:pPr lvl="1"/>
            <a:r>
              <a:rPr lang="en-CH" dirty="0"/>
              <a:t>that sounds like fun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r>
              <a:rPr lang="en-CH" dirty="0"/>
              <a:t>Facilitates (static) analysis across reentrant call paths</a:t>
            </a:r>
          </a:p>
          <a:p>
            <a:r>
              <a:rPr lang="en-CH" dirty="0"/>
              <a:t>Effect annotations result in significant overhead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Features:</a:t>
            </a:r>
          </a:p>
          <a:p>
            <a:pPr lvl="1"/>
            <a:r>
              <a:rPr lang="en-CH" dirty="0"/>
              <a:t>Automatically split large contracts</a:t>
            </a:r>
          </a:p>
          <a:p>
            <a:pPr lvl="1"/>
            <a:r>
              <a:rPr lang="en-CH" dirty="0"/>
              <a:t>Error handling (with result types)</a:t>
            </a:r>
          </a:p>
          <a:p>
            <a:pPr lvl="1"/>
            <a:r>
              <a:rPr lang="en-CH" dirty="0"/>
              <a:t>More effect types</a:t>
            </a:r>
          </a:p>
          <a:p>
            <a:pPr lvl="1"/>
            <a:r>
              <a:rPr lang="en-CH" dirty="0"/>
              <a:t>Access Control Mechanisms</a:t>
            </a:r>
          </a:p>
          <a:p>
            <a:endParaRPr lang="en-CH" dirty="0"/>
          </a:p>
          <a:p>
            <a:r>
              <a:rPr lang="en-CH" dirty="0"/>
              <a:t>Codegen: Rely less on Solidity</a:t>
            </a:r>
          </a:p>
          <a:p>
            <a:pPr lvl="1"/>
            <a:r>
              <a:rPr lang="en-CH" dirty="0"/>
              <a:t>Memory Allocations</a:t>
            </a:r>
          </a:p>
          <a:p>
            <a:pPr lvl="1"/>
            <a:r>
              <a:rPr lang="en-CH" dirty="0"/>
              <a:t>Generate Yul IR directly</a:t>
            </a:r>
          </a:p>
          <a:p>
            <a:endParaRPr lang="en-CH" dirty="0"/>
          </a:p>
          <a:p>
            <a:r>
              <a:rPr lang="en-CH" dirty="0"/>
              <a:t>User Studies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 fontScale="92500" lnSpcReduction="1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5CF91-966D-8DA4-7E89-E83949178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062E1-FC84-D62B-00E2-D66602040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4F9FC-F5DA-F0F7-3A75-E922447E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reentrancy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97D8438-7FB5-13E9-5731-C418FBEA6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7BB2-96EE-F2BA-AC71-83B98DB9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18F72-9DA0-546B-2CAC-2DE1CDDA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other similar projects / papers / theses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CD38-BBD7-4119-DF16-D3F1ED58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70519-779E-1AED-0210-47F44598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67875-6032-1360-C8D9-6659976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57833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C4DE3F38-3FE7-472F-2DF5-6F582DA40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 Tooling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C406F5-71EE-FBE8-90CF-182F580B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51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53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54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3794</Words>
  <Application>Microsoft Office PowerPoint</Application>
  <PresentationFormat>Widescreen</PresentationFormat>
  <Paragraphs>1258</Paragraphs>
  <Slides>54</Slides>
  <Notes>6</Notes>
  <HiddenSlides>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Aptos</vt:lpstr>
      <vt:lpstr>Aptos Display</vt:lpstr>
      <vt:lpstr>Arial</vt:lpstr>
      <vt:lpstr>Calibri</vt:lpstr>
      <vt:lpstr>Lucida Console</vt:lpstr>
      <vt:lpstr>Office Theme</vt:lpstr>
      <vt:lpstr>Eliminating Reentrancy through Language Design</vt:lpstr>
      <vt:lpstr>Introduction &amp; Motivation</vt:lpstr>
      <vt:lpstr>Motivation (WIP)</vt:lpstr>
      <vt:lpstr>Ethereum Blockchain</vt:lpstr>
      <vt:lpstr>Smart Contract</vt:lpstr>
      <vt:lpstr>EVM   Ethereum Virtual Machine</vt:lpstr>
      <vt:lpstr>State of the Art</vt:lpstr>
      <vt:lpstr>Solidity</vt:lpstr>
      <vt:lpstr>Vyper</vt:lpstr>
      <vt:lpstr>Security</vt:lpstr>
      <vt:lpstr>Common Vulnerabilities (2021-2024)</vt:lpstr>
      <vt:lpstr>Common Vulnerabilities (2021-2024)</vt:lpstr>
      <vt:lpstr>Reentrancy – what is it?</vt:lpstr>
      <vt:lpstr>Reentrancy</vt:lpstr>
      <vt:lpstr>Reentrancy</vt:lpstr>
      <vt:lpstr>Reentrancy</vt:lpstr>
      <vt:lpstr>Reentrancy</vt:lpstr>
      <vt:lpstr>Reentrancy</vt:lpstr>
      <vt:lpstr>Reentrancy</vt:lpstr>
      <vt:lpstr>Reentrancy Protection</vt:lpstr>
      <vt:lpstr>Entry-Point Annotation</vt:lpstr>
      <vt:lpstr>Call-Site Annotation</vt:lpstr>
      <vt:lpstr>Call Path Specification</vt:lpstr>
      <vt:lpstr>Side Effects</vt:lpstr>
      <vt:lpstr>Side Effects</vt:lpstr>
      <vt:lpstr>Side Effects</vt:lpstr>
      <vt:lpstr>Side Effects</vt:lpstr>
      <vt:lpstr>Side Effects</vt:lpstr>
      <vt:lpstr>Effects in Calls</vt:lpstr>
      <vt:lpstr>Effects in Calls</vt:lpstr>
      <vt:lpstr>Effects in Calls</vt:lpstr>
      <vt:lpstr>Algebraic Data Types</vt:lpstr>
      <vt:lpstr>Implementation</vt:lpstr>
      <vt:lpstr>Feature Set</vt:lpstr>
      <vt:lpstr>Compilation</vt:lpstr>
      <vt:lpstr>Evaluation</vt:lpstr>
      <vt:lpstr>Reentrancies</vt:lpstr>
      <vt:lpstr>Performance Comparison (WIP)</vt:lpstr>
      <vt:lpstr>Code Overhead (WIP)</vt:lpstr>
      <vt:lpstr>Conclusion</vt:lpstr>
      <vt:lpstr>Future Work</vt:lpstr>
      <vt:lpstr>Q&amp;A</vt:lpstr>
      <vt:lpstr>Q&amp;A</vt:lpstr>
      <vt:lpstr>Examples</vt:lpstr>
      <vt:lpstr>Common Vulnerabilities (Count)</vt:lpstr>
      <vt:lpstr>Common Vulnerabilities (Funds Lost, in $M)</vt:lpstr>
      <vt:lpstr>Related Work</vt:lpstr>
      <vt:lpstr>Popsicle Finance   2021-08, $20 million</vt:lpstr>
      <vt:lpstr>Super Sushi Samurai   2024-03, $4.8 million</vt:lpstr>
      <vt:lpstr>Future Work: Tooling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646</cp:revision>
  <dcterms:created xsi:type="dcterms:W3CDTF">2026-03-21T11:27:25Z</dcterms:created>
  <dcterms:modified xsi:type="dcterms:W3CDTF">2026-03-26T15:24:54Z</dcterms:modified>
</cp:coreProperties>
</file>
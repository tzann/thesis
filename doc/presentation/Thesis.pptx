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93" r:id="rId4"/>
    <p:sldId id="297" r:id="rId5"/>
    <p:sldId id="296" r:id="rId6"/>
    <p:sldId id="295" r:id="rId7"/>
    <p:sldId id="298" r:id="rId8"/>
    <p:sldId id="272" r:id="rId9"/>
    <p:sldId id="273" r:id="rId10"/>
    <p:sldId id="299" r:id="rId11"/>
    <p:sldId id="276" r:id="rId12"/>
    <p:sldId id="324" r:id="rId13"/>
    <p:sldId id="286" r:id="rId14"/>
    <p:sldId id="280" r:id="rId15"/>
    <p:sldId id="279" r:id="rId16"/>
    <p:sldId id="282" r:id="rId17"/>
    <p:sldId id="284" r:id="rId18"/>
    <p:sldId id="285" r:id="rId19"/>
    <p:sldId id="287" r:id="rId20"/>
    <p:sldId id="288" r:id="rId21"/>
    <p:sldId id="289" r:id="rId22"/>
    <p:sldId id="290" r:id="rId23"/>
    <p:sldId id="291" r:id="rId24"/>
    <p:sldId id="292" r:id="rId25"/>
    <p:sldId id="301" r:id="rId26"/>
    <p:sldId id="308" r:id="rId27"/>
    <p:sldId id="307" r:id="rId28"/>
    <p:sldId id="305" r:id="rId29"/>
    <p:sldId id="310" r:id="rId30"/>
    <p:sldId id="311" r:id="rId31"/>
    <p:sldId id="313" r:id="rId32"/>
    <p:sldId id="300" r:id="rId33"/>
    <p:sldId id="314" r:id="rId34"/>
    <p:sldId id="315" r:id="rId35"/>
    <p:sldId id="316" r:id="rId36"/>
    <p:sldId id="321" r:id="rId37"/>
    <p:sldId id="322" r:id="rId38"/>
    <p:sldId id="323" r:id="rId39"/>
    <p:sldId id="332" r:id="rId40"/>
    <p:sldId id="331" r:id="rId41"/>
    <p:sldId id="329" r:id="rId42"/>
    <p:sldId id="319" r:id="rId43"/>
    <p:sldId id="268" r:id="rId44"/>
    <p:sldId id="330" r:id="rId45"/>
    <p:sldId id="277" r:id="rId46"/>
    <p:sldId id="269" r:id="rId47"/>
    <p:sldId id="328" r:id="rId48"/>
    <p:sldId id="317" r:id="rId49"/>
    <p:sldId id="258" r:id="rId50"/>
    <p:sldId id="326" r:id="rId51"/>
    <p:sldId id="320" r:id="rId52"/>
    <p:sldId id="327" r:id="rId53"/>
    <p:sldId id="274" r:id="rId54"/>
    <p:sldId id="259" r:id="rId55"/>
    <p:sldId id="260" r:id="rId5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98EED9-A4B4-4F1D-B74F-B7C08A6C0F4F}">
          <p14:sldIdLst>
            <p14:sldId id="256"/>
          </p14:sldIdLst>
        </p14:section>
        <p14:section name="Introduction &amp; Motivation" id="{3A0920A3-7089-4D36-ACD9-7D36A88FA363}">
          <p14:sldIdLst>
            <p14:sldId id="257"/>
            <p14:sldId id="293"/>
          </p14:sldIdLst>
        </p14:section>
        <p14:section name="Background &amp; Related Work" id="{155D24CD-1F67-4B2A-8BBA-6043068973F2}">
          <p14:sldIdLst>
            <p14:sldId id="297"/>
            <p14:sldId id="296"/>
            <p14:sldId id="295"/>
            <p14:sldId id="298"/>
            <p14:sldId id="272"/>
            <p14:sldId id="273"/>
            <p14:sldId id="299"/>
            <p14:sldId id="276"/>
            <p14:sldId id="324"/>
            <p14:sldId id="286"/>
            <p14:sldId id="280"/>
            <p14:sldId id="279"/>
            <p14:sldId id="282"/>
            <p14:sldId id="284"/>
          </p14:sldIdLst>
        </p14:section>
        <p14:section name="Problem Statement" id="{D007D5E9-0273-4A98-8D76-718A668981DA}">
          <p14:sldIdLst>
            <p14:sldId id="285"/>
            <p14:sldId id="287"/>
            <p14:sldId id="288"/>
            <p14:sldId id="289"/>
            <p14:sldId id="290"/>
            <p14:sldId id="291"/>
            <p14:sldId id="292"/>
            <p14:sldId id="301"/>
            <p14:sldId id="308"/>
            <p14:sldId id="307"/>
            <p14:sldId id="305"/>
            <p14:sldId id="310"/>
            <p14:sldId id="311"/>
            <p14:sldId id="313"/>
            <p14:sldId id="300"/>
          </p14:sldIdLst>
        </p14:section>
        <p14:section name="Implementation" id="{7E93AC4F-DCBE-4D35-B88C-49CC76E39595}">
          <p14:sldIdLst>
            <p14:sldId id="314"/>
            <p14:sldId id="315"/>
            <p14:sldId id="316"/>
          </p14:sldIdLst>
        </p14:section>
        <p14:section name="Evaluation &amp; Results" id="{8219F86C-B3AF-4EAA-830F-8DFAE481BD8F}">
          <p14:sldIdLst>
            <p14:sldId id="321"/>
            <p14:sldId id="322"/>
            <p14:sldId id="323"/>
            <p14:sldId id="332"/>
            <p14:sldId id="331"/>
          </p14:sldIdLst>
        </p14:section>
        <p14:section name="Conclusion &amp; Future Work" id="{803E403D-1B92-466A-BE97-26C9AB7892A5}">
          <p14:sldIdLst>
            <p14:sldId id="329"/>
            <p14:sldId id="319"/>
          </p14:sldIdLst>
        </p14:section>
        <p14:section name="Q&amp;A" id="{4132604F-A5FF-4E6F-A51C-CD14EC1306E2}">
          <p14:sldIdLst>
            <p14:sldId id="268"/>
            <p14:sldId id="330"/>
          </p14:sldIdLst>
        </p14:section>
        <p14:section name="Backup / Extra Examples" id="{274778F2-46BC-4298-9911-D5D9332C2A83}">
          <p14:sldIdLst>
            <p14:sldId id="277"/>
            <p14:sldId id="269"/>
            <p14:sldId id="328"/>
            <p14:sldId id="317"/>
          </p14:sldIdLst>
        </p14:section>
        <p14:section name="Templates" id="{7D75C5C1-E226-422F-BC2D-7889BBB961BB}">
          <p14:sldIdLst>
            <p14:sldId id="258"/>
            <p14:sldId id="326"/>
            <p14:sldId id="320"/>
            <p14:sldId id="327"/>
            <p14:sldId id="274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9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312431054813802E-2"/>
          <c:y val="5.8480550407034114E-2"/>
          <c:w val="0.68317861082582065"/>
          <c:h val="0.8453745048720003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Business Logic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7</c:v>
                </c:pt>
                <c:pt idx="1">
                  <c:v>21</c:v>
                </c:pt>
                <c:pt idx="2">
                  <c:v>65</c:v>
                </c:pt>
                <c:pt idx="3">
                  <c:v>58</c:v>
                </c:pt>
                <c:pt idx="4">
                  <c:v>151</c:v>
                </c:pt>
                <c:pt idx="5">
                  <c:v>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D0D-A8EE-972C953D966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Price Manipulation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10</c:v>
                </c:pt>
                <c:pt idx="1">
                  <c:v>35</c:v>
                </c:pt>
                <c:pt idx="2">
                  <c:v>42</c:v>
                </c:pt>
                <c:pt idx="3">
                  <c:v>21</c:v>
                </c:pt>
                <c:pt idx="4">
                  <c:v>108</c:v>
                </c:pt>
                <c:pt idx="5">
                  <c:v>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4-4D0D-A8EE-972C953D966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Access Control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Sheet1!$B$4:$G$4</c:f>
              <c:numCache>
                <c:formatCode>General</c:formatCode>
                <c:ptCount val="6"/>
                <c:pt idx="0">
                  <c:v>3</c:v>
                </c:pt>
                <c:pt idx="1">
                  <c:v>16</c:v>
                </c:pt>
                <c:pt idx="2">
                  <c:v>22</c:v>
                </c:pt>
                <c:pt idx="3">
                  <c:v>35</c:v>
                </c:pt>
                <c:pt idx="4">
                  <c:v>76</c:v>
                </c:pt>
                <c:pt idx="5">
                  <c:v>60.5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14-4D0D-A8EE-972C953D9669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Reentrancy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Sheet1!$B$5:$G$5</c:f>
              <c:numCache>
                <c:formatCode>General</c:formatCode>
                <c:ptCount val="6"/>
                <c:pt idx="0">
                  <c:v>9</c:v>
                </c:pt>
                <c:pt idx="1">
                  <c:v>13</c:v>
                </c:pt>
                <c:pt idx="2">
                  <c:v>17</c:v>
                </c:pt>
                <c:pt idx="3">
                  <c:v>15</c:v>
                </c:pt>
                <c:pt idx="4">
                  <c:v>54</c:v>
                </c:pt>
                <c:pt idx="5">
                  <c:v>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14-4D0D-A8EE-972C953D9669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Input Validation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Sheet1!$B$6:$G$6</c:f>
              <c:numCache>
                <c:formatCode>General</c:formatCode>
                <c:ptCount val="6"/>
                <c:pt idx="0">
                  <c:v>2</c:v>
                </c:pt>
                <c:pt idx="1">
                  <c:v>10</c:v>
                </c:pt>
                <c:pt idx="2">
                  <c:v>8</c:v>
                </c:pt>
                <c:pt idx="3">
                  <c:v>18</c:v>
                </c:pt>
                <c:pt idx="4">
                  <c:v>38</c:v>
                </c:pt>
                <c:pt idx="5">
                  <c:v>141.5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14-4D0D-A8EE-972C953D9669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Sheet1!$B$7:$G$7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18</c:v>
                </c:pt>
                <c:pt idx="3">
                  <c:v>12</c:v>
                </c:pt>
                <c:pt idx="4">
                  <c:v>40</c:v>
                </c:pt>
                <c:pt idx="5">
                  <c:v>151.69999999999999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AE-493D-997F-068EED26B0C5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Arbitrary Call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Sheet1!$B$8:$G$8</c:f>
              <c:numCache>
                <c:formatCode>General</c:formatCode>
                <c:ptCount val="6"/>
                <c:pt idx="0">
                  <c:v>0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26</c:v>
                </c:pt>
                <c:pt idx="5">
                  <c:v>15.7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AE-493D-997F-068EED26B0C5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Token Design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Sheet1!$B$9:$G$9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18</c:v>
                </c:pt>
                <c:pt idx="3">
                  <c:v>3</c:v>
                </c:pt>
                <c:pt idx="4">
                  <c:v>28</c:v>
                </c:pt>
                <c:pt idx="5">
                  <c:v>5.6310000000000002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AE-493D-997F-068EED26B0C5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Slippage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Sheet1!$B$10:$G$10</c:f>
              <c:numCache>
                <c:formatCode>General</c:formatCode>
                <c:ptCount val="6"/>
                <c:pt idx="0">
                  <c:v>2</c:v>
                </c:pt>
                <c:pt idx="1">
                  <c:v>0</c:v>
                </c:pt>
                <c:pt idx="2">
                  <c:v>9</c:v>
                </c:pt>
                <c:pt idx="3">
                  <c:v>2</c:v>
                </c:pt>
                <c:pt idx="4">
                  <c:v>13</c:v>
                </c:pt>
                <c:pt idx="5">
                  <c:v>11.754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AE-493D-997F-068EED26B0C5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Sheet1!$B$11:$G$11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15</c:v>
                </c:pt>
                <c:pt idx="5">
                  <c:v>54.4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AE-493D-997F-068EED26B0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77104384"/>
        <c:axId val="1477098624"/>
      </c:barChart>
      <c:catAx>
        <c:axId val="147710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477098624"/>
        <c:crosses val="autoZero"/>
        <c:auto val="1"/>
        <c:lblAlgn val="ctr"/>
        <c:lblOffset val="100"/>
        <c:noMultiLvlLbl val="0"/>
      </c:catAx>
      <c:valAx>
        <c:axId val="147709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477104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219961085865318"/>
          <c:y val="5.6989830043032742E-2"/>
          <c:w val="0.22368616636686292"/>
          <c:h val="0.842364106719536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312431054813802E-2"/>
          <c:y val="5.8480550407034114E-2"/>
          <c:w val="0.68317861082582065"/>
          <c:h val="0.8453745048720003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Business Logic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7</c:v>
                </c:pt>
                <c:pt idx="1">
                  <c:v>21</c:v>
                </c:pt>
                <c:pt idx="2">
                  <c:v>65</c:v>
                </c:pt>
                <c:pt idx="3">
                  <c:v>58</c:v>
                </c:pt>
                <c:pt idx="4">
                  <c:v>151</c:v>
                </c:pt>
                <c:pt idx="5">
                  <c:v>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D0D-A8EE-972C953D966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Price Manipulation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10</c:v>
                </c:pt>
                <c:pt idx="1">
                  <c:v>35</c:v>
                </c:pt>
                <c:pt idx="2">
                  <c:v>42</c:v>
                </c:pt>
                <c:pt idx="3">
                  <c:v>21</c:v>
                </c:pt>
                <c:pt idx="4">
                  <c:v>108</c:v>
                </c:pt>
                <c:pt idx="5">
                  <c:v>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4-4D0D-A8EE-972C953D966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Access Control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Sheet1!$B$4:$G$4</c:f>
              <c:numCache>
                <c:formatCode>General</c:formatCode>
                <c:ptCount val="6"/>
                <c:pt idx="0">
                  <c:v>3</c:v>
                </c:pt>
                <c:pt idx="1">
                  <c:v>16</c:v>
                </c:pt>
                <c:pt idx="2">
                  <c:v>22</c:v>
                </c:pt>
                <c:pt idx="3">
                  <c:v>35</c:v>
                </c:pt>
                <c:pt idx="4">
                  <c:v>76</c:v>
                </c:pt>
                <c:pt idx="5">
                  <c:v>60.5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14-4D0D-A8EE-972C953D9669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Reentrancy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Sheet1!$B$5:$G$5</c:f>
              <c:numCache>
                <c:formatCode>General</c:formatCode>
                <c:ptCount val="6"/>
                <c:pt idx="0">
                  <c:v>9</c:v>
                </c:pt>
                <c:pt idx="1">
                  <c:v>13</c:v>
                </c:pt>
                <c:pt idx="2">
                  <c:v>17</c:v>
                </c:pt>
                <c:pt idx="3">
                  <c:v>15</c:v>
                </c:pt>
                <c:pt idx="4">
                  <c:v>54</c:v>
                </c:pt>
                <c:pt idx="5">
                  <c:v>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14-4D0D-A8EE-972C953D9669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Input Validation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Sheet1!$B$6:$G$6</c:f>
              <c:numCache>
                <c:formatCode>General</c:formatCode>
                <c:ptCount val="6"/>
                <c:pt idx="0">
                  <c:v>2</c:v>
                </c:pt>
                <c:pt idx="1">
                  <c:v>10</c:v>
                </c:pt>
                <c:pt idx="2">
                  <c:v>8</c:v>
                </c:pt>
                <c:pt idx="3">
                  <c:v>18</c:v>
                </c:pt>
                <c:pt idx="4">
                  <c:v>38</c:v>
                </c:pt>
                <c:pt idx="5">
                  <c:v>141.5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14-4D0D-A8EE-972C953D9669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Sheet1!$B$7:$G$7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18</c:v>
                </c:pt>
                <c:pt idx="3">
                  <c:v>12</c:v>
                </c:pt>
                <c:pt idx="4">
                  <c:v>40</c:v>
                </c:pt>
                <c:pt idx="5">
                  <c:v>151.69999999999999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AE-493D-997F-068EED26B0C5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Arbitrary Call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Sheet1!$B$8:$G$8</c:f>
              <c:numCache>
                <c:formatCode>General</c:formatCode>
                <c:ptCount val="6"/>
                <c:pt idx="0">
                  <c:v>0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26</c:v>
                </c:pt>
                <c:pt idx="5">
                  <c:v>15.7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AE-493D-997F-068EED26B0C5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Token Design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Sheet1!$B$9:$G$9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18</c:v>
                </c:pt>
                <c:pt idx="3">
                  <c:v>3</c:v>
                </c:pt>
                <c:pt idx="4">
                  <c:v>28</c:v>
                </c:pt>
                <c:pt idx="5">
                  <c:v>5.6310000000000002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AE-493D-997F-068EED26B0C5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Slippage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Sheet1!$B$10:$G$10</c:f>
              <c:numCache>
                <c:formatCode>General</c:formatCode>
                <c:ptCount val="6"/>
                <c:pt idx="0">
                  <c:v>2</c:v>
                </c:pt>
                <c:pt idx="1">
                  <c:v>0</c:v>
                </c:pt>
                <c:pt idx="2">
                  <c:v>9</c:v>
                </c:pt>
                <c:pt idx="3">
                  <c:v>2</c:v>
                </c:pt>
                <c:pt idx="4">
                  <c:v>13</c:v>
                </c:pt>
                <c:pt idx="5">
                  <c:v>11.754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AE-493D-997F-068EED26B0C5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Total</c:v>
                </c:pt>
                <c:pt idx="5">
                  <c:v>Funds Lost</c:v>
                </c:pt>
              </c:strCache>
            </c:strRef>
          </c:cat>
          <c:val>
            <c:numRef>
              <c:f>Sheet1!$B$11:$G$11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15</c:v>
                </c:pt>
                <c:pt idx="5">
                  <c:v>54.4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AE-493D-997F-068EED26B0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5"/>
        <c:overlap val="100"/>
        <c:axId val="1477104384"/>
        <c:axId val="1477098624"/>
      </c:barChart>
      <c:catAx>
        <c:axId val="147710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477098624"/>
        <c:crosses val="autoZero"/>
        <c:auto val="1"/>
        <c:lblAlgn val="ctr"/>
        <c:lblOffset val="100"/>
        <c:noMultiLvlLbl val="0"/>
      </c:catAx>
      <c:valAx>
        <c:axId val="147709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/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1477104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8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egendEntry>
        <c:idx val="9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</c:legendEntry>
      <c:layout>
        <c:manualLayout>
          <c:xMode val="edge"/>
          <c:yMode val="edge"/>
          <c:x val="0.76219961085865318"/>
          <c:y val="5.6989830043032742E-2"/>
          <c:w val="0.22368616636686292"/>
          <c:h val="0.842364106719536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78CE3-0542-442B-AF7E-6DC0ED069798}" type="datetimeFigureOut">
              <a:rPr lang="en-CH" smtClean="0"/>
              <a:t>27/03/2026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26BFD-26FA-41FF-A418-AE5D5C01BD9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5738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market share is really % of TVL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6BFD-26FA-41FF-A418-AE5D5C01BD91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72181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549 recent exploits in 2020-2024, totalling $1.671 billion. excluding some huge outliers (e.g. bridge exploits)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6BFD-26FA-41FF-A418-AE5D5C01BD91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23235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3E79-A427-7220-C0BD-F07F1CB8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FB4FB-97B1-0B84-833F-00C760946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8D4AA-69F6-1599-EF0D-C5B063968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549 recent exploits in 2020-2024, totalling $1.671 billion. excluding some huge outliers (e.g. bridge exploits)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D981B-5927-25F0-8DE4-94AF82176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6BFD-26FA-41FF-A418-AE5D5C01BD91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59107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actually, it’s even worse – the </a:t>
            </a:r>
            <a:r>
              <a:rPr lang="en-CH" dirty="0" err="1"/>
              <a:t>reentrancies</a:t>
            </a:r>
            <a:r>
              <a:rPr lang="en-CH" dirty="0"/>
              <a:t> are only guarded against if we entered the contract through one of the @nonReentrant </a:t>
            </a:r>
            <a:r>
              <a:rPr lang="en-CH" dirty="0" err="1"/>
              <a:t>entrypoints</a:t>
            </a:r>
            <a:r>
              <a:rPr lang="en-CH" dirty="0"/>
              <a:t>. but I’m not sure how to concisely explain that...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6BFD-26FA-41FF-A418-AE5D5C01BD91}" type="slidenum">
              <a:rPr lang="en-CH" smtClean="0"/>
              <a:t>21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1999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mention that there are actual cases where order is not left to 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6BFD-26FA-41FF-A418-AE5D5C01BD91}" type="slidenum">
              <a:rPr lang="en-CH" smtClean="0"/>
              <a:t>24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48305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6BFD-26FA-41FF-A418-AE5D5C01BD91}" type="slidenum">
              <a:rPr lang="en-CH" smtClean="0"/>
              <a:t>50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8984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10EE-955B-04AF-69AE-2C5CBDF4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7B284-DEDD-C7A1-F677-3C323FC4E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98D6C-2E65-AD26-CB39-4FF49B5F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2D3CE-F954-A4FA-D605-E621A421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A812F-8EA3-4D23-A7DF-03B878F9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99795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5BFB-9507-B6A3-5746-77FAFF98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0633-D3BD-33D1-8738-6D311DDD8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6D426-583C-7EFF-D99F-EBC43021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C2871-7DCF-9118-B480-A83A876F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17226-16A2-9057-06A2-7AE7D8EF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0273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Bloc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4324AC18-5D92-5E65-C285-02B83C4F2A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25625"/>
            <a:ext cx="438016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n>
                  <a:noFill/>
                </a:ln>
                <a:solidFill>
                  <a:schemeClr val="tx2"/>
                </a:solidFill>
                <a:latin typeface="Lucida Console" panose="020B0609040504020204" pitchFamily="49" charset="0"/>
              </a:defRPr>
            </a:lvl1pPr>
          </a:lstStyle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4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5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6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7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8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9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10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14</a:t>
            </a:r>
          </a:p>
          <a:p>
            <a:endParaRPr lang="en-CH" dirty="0">
              <a:solidFill>
                <a:schemeClr val="accent6"/>
              </a:solidFill>
              <a:latin typeface="Lucida Console" panose="020B0609040504020204" pitchFamily="49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D2F2E2A-1DB1-0F73-F73F-CAD6E4E681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7618" y="1825625"/>
            <a:ext cx="4798381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Lucida Console" panose="020B0609040504020204" pitchFamily="49" charset="0"/>
              </a:defRPr>
            </a:lvl1pPr>
          </a:lstStyle>
          <a:p>
            <a:r>
              <a:rPr lang="en-CH" dirty="0">
                <a:solidFill>
                  <a:schemeClr val="tx1"/>
                </a:solidFill>
                <a:latin typeface="Lucida Console" panose="020B0609040504020204" pitchFamily="49" charset="0"/>
              </a:rPr>
              <a:t>color0</a:t>
            </a:r>
          </a:p>
          <a:p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  <a:latin typeface="Lucida Console" panose="020B0609040504020204" pitchFamily="49" charset="0"/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  <a:latin typeface="Lucida Console" panose="020B0609040504020204" pitchFamily="49" charset="0"/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  <a:latin typeface="Lucida Console" panose="020B0609040504020204" pitchFamily="49" charset="0"/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color6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42A28-ABF4-F249-B7B6-6DC7AC0C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696F5-2601-D050-07F4-D4F0E1B1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A525C-0EC2-2F95-561A-BCB5B3C8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E72E6-8C91-2D3C-1312-C480DD9E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B40927-8367-591E-6EA3-0C753674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4478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Block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4324AC18-5D92-5E65-C285-02B83C4F2A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65125"/>
            <a:ext cx="438016" cy="5834063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n>
                  <a:noFill/>
                </a:ln>
                <a:solidFill>
                  <a:schemeClr val="tx2"/>
                </a:solidFill>
                <a:latin typeface="Lucida Console" panose="020B0609040504020204" pitchFamily="49" charset="0"/>
              </a:defRPr>
            </a:lvl1pPr>
          </a:lstStyle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4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5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6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7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8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9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10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14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15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16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17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18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19</a:t>
            </a:r>
          </a:p>
          <a:p>
            <a:endParaRPr lang="en-CH" dirty="0">
              <a:solidFill>
                <a:schemeClr val="accent6"/>
              </a:solidFill>
              <a:latin typeface="Lucida Console" panose="020B0609040504020204" pitchFamily="49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D2F2E2A-1DB1-0F73-F73F-CAD6E4E681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5418" y="365125"/>
            <a:ext cx="4798381" cy="5834063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Lucida Console" panose="020B0609040504020204" pitchFamily="49" charset="0"/>
              </a:defRPr>
            </a:lvl1pPr>
          </a:lstStyle>
          <a:p>
            <a:r>
              <a:rPr lang="en-CH" dirty="0">
                <a:solidFill>
                  <a:schemeClr val="tx1"/>
                </a:solidFill>
                <a:latin typeface="Lucida Console" panose="020B0609040504020204" pitchFamily="49" charset="0"/>
              </a:rPr>
              <a:t>color0</a:t>
            </a:r>
          </a:p>
          <a:p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  <a:latin typeface="Lucida Console" panose="020B0609040504020204" pitchFamily="49" charset="0"/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  <a:latin typeface="Lucida Console" panose="020B0609040504020204" pitchFamily="49" charset="0"/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  <a:latin typeface="Lucida Console" panose="020B0609040504020204" pitchFamily="49" charset="0"/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color6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42A28-ABF4-F249-B7B6-6DC7AC0C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3639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696F5-2601-D050-07F4-D4F0E1B1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A525C-0EC2-2F95-561A-BCB5B3C8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E72E6-8C91-2D3C-1312-C480DD9E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B40927-8367-591E-6EA3-0C753674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523639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2376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de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2A28-ABF4-F249-B7B6-6DC7AC0C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696F5-2601-D050-07F4-D4F0E1B1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A525C-0EC2-2F95-561A-BCB5B3C8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E72E6-8C91-2D3C-1312-C480DD9E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430C50-0CEF-F0E7-8E9D-2ED5CBA2B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25625"/>
            <a:ext cx="438016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n>
                  <a:noFill/>
                </a:ln>
                <a:solidFill>
                  <a:schemeClr val="tx2"/>
                </a:solidFill>
                <a:latin typeface="Lucida Console" panose="020B0609040504020204" pitchFamily="49" charset="0"/>
              </a:defRPr>
            </a:lvl1pPr>
          </a:lstStyle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4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5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6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7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8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9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10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14</a:t>
            </a:r>
          </a:p>
          <a:p>
            <a:endParaRPr lang="en-CH" dirty="0">
              <a:solidFill>
                <a:schemeClr val="accent6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2A326E5-C8E5-5B4F-170A-369F80F3BB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7619" y="1825625"/>
            <a:ext cx="4601736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Lucida Console" panose="020B0609040504020204" pitchFamily="49" charset="0"/>
              </a:defRPr>
            </a:lvl1pPr>
          </a:lstStyle>
          <a:p>
            <a:r>
              <a:rPr lang="en-CH" dirty="0">
                <a:solidFill>
                  <a:schemeClr val="tx1"/>
                </a:solidFill>
                <a:latin typeface="Lucida Console" panose="020B0609040504020204" pitchFamily="49" charset="0"/>
              </a:rPr>
              <a:t>color0</a:t>
            </a:r>
          </a:p>
          <a:p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  <a:latin typeface="Lucida Console" panose="020B0609040504020204" pitchFamily="49" charset="0"/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  <a:latin typeface="Lucida Console" panose="020B0609040504020204" pitchFamily="49" charset="0"/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  <a:latin typeface="Lucida Console" panose="020B0609040504020204" pitchFamily="49" charset="0"/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color6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7CDDD39-E193-8FAF-4873-57128487B2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2647" y="1825625"/>
            <a:ext cx="438016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n>
                  <a:noFill/>
                </a:ln>
                <a:solidFill>
                  <a:schemeClr val="tx2"/>
                </a:solidFill>
                <a:latin typeface="Lucida Console" panose="020B0609040504020204" pitchFamily="49" charset="0"/>
              </a:defRPr>
            </a:lvl1pPr>
          </a:lstStyle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4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5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6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7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8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9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10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14</a:t>
            </a:r>
          </a:p>
          <a:p>
            <a:endParaRPr lang="en-CH" dirty="0">
              <a:solidFill>
                <a:schemeClr val="accent6"/>
              </a:solidFill>
              <a:latin typeface="Lucida Console" panose="020B0609040504020204" pitchFamily="49" charset="0"/>
            </a:endParaRP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B96D1A9-59BE-6499-F40D-8C8BCAEE7E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2066" y="1825625"/>
            <a:ext cx="4592626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Lucida Console" panose="020B0609040504020204" pitchFamily="49" charset="0"/>
              </a:defRPr>
            </a:lvl1pPr>
          </a:lstStyle>
          <a:p>
            <a:r>
              <a:rPr lang="en-CH" dirty="0">
                <a:solidFill>
                  <a:schemeClr val="tx1"/>
                </a:solidFill>
                <a:latin typeface="Lucida Console" panose="020B0609040504020204" pitchFamily="49" charset="0"/>
              </a:rPr>
              <a:t>color0</a:t>
            </a:r>
          </a:p>
          <a:p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  <a:latin typeface="Lucida Console" panose="020B0609040504020204" pitchFamily="49" charset="0"/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  <a:latin typeface="Lucida Console" panose="020B0609040504020204" pitchFamily="49" charset="0"/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  <a:latin typeface="Lucida Console" panose="020B0609040504020204" pitchFamily="49" charset="0"/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color6</a:t>
            </a:r>
          </a:p>
        </p:txBody>
      </p:sp>
    </p:spTree>
    <p:extLst>
      <p:ext uri="{BB962C8B-B14F-4D97-AF65-F5344CB8AC3E}">
        <p14:creationId xmlns:p14="http://schemas.microsoft.com/office/powerpoint/2010/main" val="400754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Block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2A28-ABF4-F249-B7B6-6DC7AC0C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B40927-8367-591E-6EA3-0C753674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CA4E993B-59E9-39A7-1375-00EAACC700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25625"/>
            <a:ext cx="438016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n>
                  <a:noFill/>
                </a:ln>
                <a:solidFill>
                  <a:schemeClr val="tx2"/>
                </a:solidFill>
                <a:latin typeface="Lucida Console" panose="020B0609040504020204" pitchFamily="49" charset="0"/>
              </a:defRPr>
            </a:lvl1pPr>
          </a:lstStyle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4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5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6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7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8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9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10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11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12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13</a:t>
            </a:r>
          </a:p>
          <a:p>
            <a:r>
              <a:rPr lang="en-CH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14</a:t>
            </a:r>
          </a:p>
          <a:p>
            <a:endParaRPr lang="en-CH" dirty="0">
              <a:solidFill>
                <a:schemeClr val="accent6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880A9CE-0042-04E4-D124-238A7185F1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7618" y="1825625"/>
            <a:ext cx="4798381" cy="4351338"/>
          </a:xfrm>
          <a:solidFill>
            <a:schemeClr val="bg2"/>
          </a:solidFill>
        </p:spPr>
        <p:txBody>
          <a:bodyPr wrap="non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Lucida Console" panose="020B0609040504020204" pitchFamily="49" charset="0"/>
              </a:defRPr>
            </a:lvl1pPr>
          </a:lstStyle>
          <a:p>
            <a:r>
              <a:rPr lang="en-CH" dirty="0">
                <a:solidFill>
                  <a:schemeClr val="tx1"/>
                </a:solidFill>
                <a:latin typeface="Lucida Console" panose="020B0609040504020204" pitchFamily="49" charset="0"/>
              </a:rPr>
              <a:t>color0</a:t>
            </a:r>
          </a:p>
          <a:p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  <a:latin typeface="Lucida Console" panose="020B0609040504020204" pitchFamily="49" charset="0"/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  <a:latin typeface="Lucida Console" panose="020B0609040504020204" pitchFamily="49" charset="0"/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  <a:latin typeface="Lucida Console" panose="020B0609040504020204" pitchFamily="49" charset="0"/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color6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A5F3F2E-14C6-586F-9779-032F40027F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0844" y="2694909"/>
            <a:ext cx="4228111" cy="2612769"/>
          </a:xfrm>
          <a:solidFill>
            <a:schemeClr val="bg2"/>
          </a:solidFill>
          <a:ln w="38100">
            <a:solidFill>
              <a:schemeClr val="tx2"/>
            </a:solidFill>
          </a:ln>
          <a:effectLst>
            <a:outerShdw blurRad="127000" dist="127000" dir="2700000" algn="tl" rotWithShape="0">
              <a:schemeClr val="bg1">
                <a:alpha val="75000"/>
              </a:schemeClr>
            </a:outerShdw>
          </a:effectLst>
        </p:spPr>
        <p:txBody>
          <a:bodyPr wrap="non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Lucida Console" panose="020B0609040504020204" pitchFamily="49" charset="0"/>
              </a:defRPr>
            </a:lvl1pPr>
          </a:lstStyle>
          <a:p>
            <a:r>
              <a:rPr lang="en-CH" dirty="0">
                <a:solidFill>
                  <a:schemeClr val="tx1"/>
                </a:solidFill>
                <a:latin typeface="Lucida Console" panose="020B0609040504020204" pitchFamily="49" charset="0"/>
              </a:rPr>
              <a:t>color0</a:t>
            </a:r>
          </a:p>
          <a:p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  <a:latin typeface="Lucida Console" panose="020B0609040504020204" pitchFamily="49" charset="0"/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  <a:latin typeface="Lucida Console" panose="020B0609040504020204" pitchFamily="49" charset="0"/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  <a:latin typeface="Lucida Console" panose="020B0609040504020204" pitchFamily="49" charset="0"/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color6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F8A2BFFD-3002-E2ED-D085-F5BCBD00D54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BB6B5A23-37DC-63DC-60BD-21C1E23891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97510C-3AC9-121F-47B0-18D2B0EBBB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6960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ECC50-C9F0-6580-D9EB-E3E8A8E2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3AB04-23D0-8CC6-F784-28F661DDE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1C745-6BB9-2E88-7EFF-11C0DF2A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702-631B-3EB7-F073-CAD70385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ACD1-2B14-9C0F-718A-C61FB92E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8152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9E8C-2513-A64C-42E8-95D1492D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9869-6146-DA1C-CD9E-DE8FB950D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1B0F6-938C-68CA-111C-EE3B59D40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93D23-F675-8E4E-88B3-F5B0FE12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2AAD7-4BDC-D902-DC80-8FCA27B2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9F38A-FB1A-79E3-AC9F-4A9B2CF1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6360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C32A-9B1E-490F-18D0-54448E6B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85BA0-D117-2492-BE56-4EFA823C7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C4E63-C515-1E35-DA8F-37B27A6E1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9DF89-89EB-4F85-6891-8008AF807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27893-B9FB-7D74-1694-FA8C1C573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CABEE-40B5-9B08-883E-C649FED2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173C72-3ACF-1CC6-82DC-3A1A6078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DB9B0-FEC8-16BD-9E2D-E98FD258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64215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2DE4-D26F-7309-3E72-B7FF4AE6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972BD-83A2-E254-6E6E-7E712DFC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C5C14-F8A8-982D-0E31-41BFD8DA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6BAA3-4C7A-76AF-A49F-7361103B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8648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E86DC-A25C-6630-A69E-3B888031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DA8AB3-0FD1-3F19-79A7-A50132B2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57896-73F1-A2A4-A208-0B12A01B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1011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58EE-0ED4-0B80-ACD6-668A6E0E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88DE2-4455-AF57-269A-AF1954344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8DF25-F96C-722A-111F-295496926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CD471-630D-B96C-5F86-2D6A4B09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69589-EF5E-773A-F859-50EF2115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030B6-C8CB-F266-2565-3482BD3F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160056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202B-8314-CC47-028A-B7E6D580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037BF-4B10-3289-13E1-1F1119393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EE7CF-9523-7B45-15F5-CB69D5FC7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C053A-616F-8E94-94E7-43887EAB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EC473-B889-114B-555C-83C06D20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F2931-069C-EE45-51E6-9972C2BE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44203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594B-0953-2F9B-6468-CF5E07FB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DBB52-E4A9-B9B8-C153-53157BA5E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AF4A-B667-8098-892F-67F206E1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C4C00-39BB-B071-BF58-90514816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7E722-60CE-2C3E-2D31-FC5A81C6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499080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EA721-914B-C3BD-C5F8-6287B7E60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7ED28-C735-89C7-EE75-C26432039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67B6-99E1-AD5D-D86D-A18C331C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EC1CB-66F4-5C4C-4EF0-56D6EFD8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BECED-8C17-DEFC-153F-FD6E6901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‹#›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0041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6B6291-F75D-EA52-E49C-138C6F18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B967E-B845-2A6E-8DFF-9D17FFC3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31623-A0A0-2A8B-E467-88692E37F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6B48C-DFA7-BDBA-11DA-7A8D38C6A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CH" dirty="0"/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E8443-C510-02CD-B968-B4DC78523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1013ED95-016C-42D7-B550-5C99AA40E4D5}" type="slidenum">
              <a:rPr lang="en-CH" smtClean="0"/>
              <a:pPr/>
              <a:t>‹#›</a:t>
            </a:fld>
            <a:r>
              <a:rPr lang="en-CH" dirty="0"/>
              <a:t> / XX</a:t>
            </a:r>
          </a:p>
        </p:txBody>
      </p:sp>
    </p:spTree>
    <p:extLst>
      <p:ext uri="{BB962C8B-B14F-4D97-AF65-F5344CB8AC3E}">
        <p14:creationId xmlns:p14="http://schemas.microsoft.com/office/powerpoint/2010/main" val="1723132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1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4D3C-CF3D-0DDE-623D-8BE30C417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Eliminating Reentrancy through Language Design</a:t>
            </a:r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79441BCA-E9CB-052F-68C9-22AAF8E2A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br>
              <a:rPr lang="en-CH" dirty="0"/>
            </a:br>
            <a:r>
              <a:rPr lang="en-CH" dirty="0"/>
              <a:t>Master Thesis</a:t>
            </a:r>
          </a:p>
          <a:p>
            <a:r>
              <a:rPr lang="en-CH" dirty="0"/>
              <a:t>Tynan Richards</a:t>
            </a:r>
          </a:p>
          <a:p>
            <a:r>
              <a:rPr lang="en-CH" dirty="0"/>
              <a:t>March 30, 202</a:t>
            </a:r>
            <a:br>
              <a:rPr lang="en-CH" dirty="0"/>
            </a:b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6041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BE25-5A1F-5934-56E8-022A66EB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H" dirty="0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FF46-3CC9-1AEA-1B77-04F0A271A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H" dirty="0"/>
              <a:t>What is the specific application domain?</a:t>
            </a:r>
          </a:p>
          <a:p>
            <a:r>
              <a:rPr lang="en-CH" dirty="0"/>
              <a:t>Why is this area important?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4757EB3-271C-D2F4-1A9F-0E8BEA8A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7B1F397-42E5-CA4D-236E-DF8AA283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01E229F-413A-6EB7-41E5-1AA8675A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2761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ECA16-4101-C92B-9557-B44E9353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Motivation (WIP)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A7871-6C32-901F-8087-340023C2D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bugs expensive</a:t>
            </a:r>
          </a:p>
          <a:p>
            <a:r>
              <a:rPr lang="en-CH" dirty="0"/>
              <a:t>safety good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33A22-3C21-4878-0B96-C0DBAC38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AF1A-AD0E-DD62-3DCE-49BC16B7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8F58-B1EA-B09A-C722-FDEA780C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8900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C857-CDA9-64C7-79DB-EA10941A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Ethereum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28CBA-D102-52C9-EA2E-465731447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The “blockchain” part is not relevant for us</a:t>
            </a:r>
          </a:p>
          <a:p>
            <a:pPr lvl="1"/>
            <a:r>
              <a:rPr lang="en-CH" dirty="0"/>
              <a:t>only its state</a:t>
            </a:r>
          </a:p>
          <a:p>
            <a:r>
              <a:rPr lang="en-CH" dirty="0"/>
              <a:t>Address: 20-byte unique identifier</a:t>
            </a:r>
          </a:p>
          <a:p>
            <a:r>
              <a:rPr lang="en-CH" dirty="0"/>
              <a:t>“State”: Hash Map  Address </a:t>
            </a:r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CH" dirty="0"/>
              <a:t> Account</a:t>
            </a:r>
          </a:p>
          <a:p>
            <a:r>
              <a:rPr lang="en-CH" dirty="0"/>
              <a:t>“Account”:</a:t>
            </a:r>
          </a:p>
          <a:p>
            <a:pPr lvl="1"/>
            <a:r>
              <a:rPr lang="en-CH" dirty="0"/>
              <a:t>EOA: </a:t>
            </a:r>
            <a:r>
              <a:rPr lang="en-CH" b="1" dirty="0"/>
              <a:t>E</a:t>
            </a:r>
            <a:r>
              <a:rPr lang="en-CH" dirty="0"/>
              <a:t>xternally </a:t>
            </a:r>
            <a:r>
              <a:rPr lang="en-CH" b="1" dirty="0"/>
              <a:t>O</a:t>
            </a:r>
            <a:r>
              <a:rPr lang="en-CH" dirty="0"/>
              <a:t>wned </a:t>
            </a:r>
            <a:r>
              <a:rPr lang="en-CH" b="1" dirty="0"/>
              <a:t>A</a:t>
            </a:r>
            <a:r>
              <a:rPr lang="en-CH" dirty="0"/>
              <a:t>ccount, may initiate transactions</a:t>
            </a:r>
          </a:p>
          <a:p>
            <a:pPr lvl="1"/>
            <a:r>
              <a:rPr lang="en-CH" dirty="0"/>
              <a:t>Smart Contract: “Program”, may be executed by transactions</a:t>
            </a:r>
          </a:p>
          <a:p>
            <a:pPr lvl="2">
              <a:buFont typeface="Calibri" panose="020F0502020204030204" pitchFamily="34" charset="0"/>
              <a:buChar char="→"/>
            </a:pPr>
            <a:r>
              <a:rPr lang="en-CH" dirty="0"/>
              <a:t> Will be the sole focus of this talk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EFDA2-C952-004D-FAFE-30745464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B1172-6D66-CD2F-9DDC-F792CEFD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7F1F5-284C-2853-441B-F9A13A1F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4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9265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9A32-A8EA-9746-7C0E-86807228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Smart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A6EB-51BF-8ADC-967E-230DF8EAF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A “program” that runs on the blockchain</a:t>
            </a:r>
          </a:p>
          <a:p>
            <a:r>
              <a:rPr lang="en-CH" dirty="0"/>
              <a:t>Consists of:</a:t>
            </a:r>
          </a:p>
          <a:p>
            <a:pPr lvl="1"/>
            <a:r>
              <a:rPr lang="en-CH" dirty="0"/>
              <a:t>Address (20-byte unique identifier)</a:t>
            </a:r>
          </a:p>
          <a:p>
            <a:pPr lvl="1"/>
            <a:r>
              <a:rPr lang="en-CH" dirty="0"/>
              <a:t>Balance (of the native ETH currency)</a:t>
            </a:r>
          </a:p>
          <a:p>
            <a:pPr lvl="1"/>
            <a:r>
              <a:rPr lang="en-CH" dirty="0"/>
              <a:t>Bytecode (max. 24’576 bytes)</a:t>
            </a:r>
          </a:p>
          <a:p>
            <a:pPr lvl="1"/>
            <a:r>
              <a:rPr lang="en-CH" dirty="0"/>
              <a:t>Storage (uint256 </a:t>
            </a:r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CH" dirty="0"/>
              <a:t> uint256 Hash Map)</a:t>
            </a:r>
          </a:p>
          <a:p>
            <a:endParaRPr lang="en-CH" dirty="0"/>
          </a:p>
          <a:p>
            <a:r>
              <a:rPr lang="en-CH" dirty="0"/>
              <a:t>Executed by the Ethereum Virtual Machine</a:t>
            </a:r>
          </a:p>
          <a:p>
            <a:pPr lvl="1"/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632C9-2054-2726-9B90-8F6B59A2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844DF-6BF6-B034-AB0D-BBFC998F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860A5-75AF-C811-25F7-D9545A9B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5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20935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1A3E-358C-6291-7383-0B02A9DF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EVM   </a:t>
            </a:r>
            <a:r>
              <a:rPr lang="en-CH" sz="2800" dirty="0"/>
              <a:t>Ethereum Virtual Machine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64CCF-B0F5-C015-96EB-374FD81BD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H" dirty="0"/>
              <a:t>Custom stack-based instruction set</a:t>
            </a:r>
          </a:p>
          <a:p>
            <a:pPr lvl="1"/>
            <a:r>
              <a:rPr lang="en-CH" dirty="0"/>
              <a:t>many EVM-specific intrinsics (</a:t>
            </a:r>
            <a:r>
              <a:rPr lang="en-CH" dirty="0">
                <a:latin typeface="Lucida Console" panose="020B0609040504020204" pitchFamily="49" charset="0"/>
              </a:rPr>
              <a:t>CALL</a:t>
            </a:r>
            <a:r>
              <a:rPr lang="en-CH" dirty="0"/>
              <a:t>, </a:t>
            </a:r>
            <a:r>
              <a:rPr lang="en-CH" dirty="0">
                <a:latin typeface="Lucida Console" panose="020B0609040504020204" pitchFamily="49" charset="0"/>
              </a:rPr>
              <a:t>REVERT</a:t>
            </a:r>
            <a:r>
              <a:rPr lang="en-CH" dirty="0"/>
              <a:t>, etc.)</a:t>
            </a:r>
          </a:p>
          <a:p>
            <a:pPr lvl="1"/>
            <a:r>
              <a:rPr lang="en-CH" dirty="0"/>
              <a:t>Native “word size” is 32 bytes</a:t>
            </a:r>
          </a:p>
          <a:p>
            <a:pPr lvl="2">
              <a:buFont typeface="Calibri" panose="020F0502020204030204" pitchFamily="34" charset="0"/>
              <a:buChar char="→"/>
            </a:pPr>
            <a:r>
              <a:rPr lang="en-CH" dirty="0"/>
              <a:t> uint256 is “default” integer type  </a:t>
            </a:r>
            <a:r>
              <a:rPr lang="en-CH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(no floating-point!)</a:t>
            </a:r>
            <a:endParaRPr lang="en-CH" sz="1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CH" dirty="0"/>
              <a:t>Transactions begin VM execution</a:t>
            </a:r>
          </a:p>
          <a:p>
            <a:pPr lvl="1"/>
            <a:r>
              <a:rPr lang="en-CH" dirty="0"/>
              <a:t>target address and data (</a:t>
            </a:r>
            <a:r>
              <a:rPr lang="en-CH" i="1" dirty="0"/>
              <a:t>message-call</a:t>
            </a:r>
            <a:r>
              <a:rPr lang="en-CH" dirty="0"/>
              <a:t>)</a:t>
            </a:r>
          </a:p>
          <a:p>
            <a:pPr lvl="1"/>
            <a:r>
              <a:rPr lang="en-CH" dirty="0"/>
              <a:t>Executes bytecode at that address</a:t>
            </a:r>
          </a:p>
          <a:p>
            <a:r>
              <a:rPr lang="en-CH" dirty="0"/>
              <a:t>Contract execution</a:t>
            </a:r>
          </a:p>
          <a:p>
            <a:pPr lvl="1"/>
            <a:r>
              <a:rPr lang="en-CH" dirty="0">
                <a:latin typeface="Lucida Console" panose="020B0609040504020204" pitchFamily="49" charset="0"/>
              </a:rPr>
              <a:t>CALL</a:t>
            </a:r>
            <a:r>
              <a:rPr lang="en-CH" dirty="0"/>
              <a:t>: Create a nested message-call</a:t>
            </a:r>
          </a:p>
          <a:p>
            <a:pPr lvl="1"/>
            <a:r>
              <a:rPr lang="en-CH" dirty="0">
                <a:latin typeface="Lucida Console" panose="020B0609040504020204" pitchFamily="49" charset="0"/>
              </a:rPr>
              <a:t>REVERT</a:t>
            </a:r>
            <a:r>
              <a:rPr lang="en-CH" dirty="0"/>
              <a:t>: Roll-back current message-call</a:t>
            </a:r>
          </a:p>
          <a:p>
            <a:pPr lvl="1"/>
            <a:r>
              <a:rPr lang="en-CH" dirty="0"/>
              <a:t>Each message-call has its own stack and 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0B301-984F-D856-1302-8A9D3FD0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4AEB6-DB08-73C1-96E8-B4C62334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830F3-1D8A-6BCC-9751-4E63DFD8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6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03843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43C2-42A4-D7F4-4699-D01AEF9A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B14A6-AB7B-9A16-6CB7-34B9EE774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H" dirty="0"/>
              <a:t>Two widely-used compilers:</a:t>
            </a:r>
          </a:p>
          <a:p>
            <a:pPr lvl="1"/>
            <a:r>
              <a:rPr lang="en-CH" dirty="0"/>
              <a:t>Solidity  </a:t>
            </a:r>
            <a:r>
              <a:rPr lang="en-CH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OOP,  ~87% market share</a:t>
            </a:r>
            <a:endParaRPr lang="en-CH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CH" dirty="0" err="1"/>
              <a:t>Vyper</a:t>
            </a:r>
            <a:r>
              <a:rPr lang="en-CH" dirty="0"/>
              <a:t>  </a:t>
            </a:r>
            <a:r>
              <a:rPr lang="en-CH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Python, ~8% market share</a:t>
            </a:r>
          </a:p>
          <a:p>
            <a:pPr marL="0" indent="0">
              <a:buNone/>
            </a:pPr>
            <a:endParaRPr lang="en-CH" dirty="0"/>
          </a:p>
          <a:p>
            <a:r>
              <a:rPr lang="en-CH" dirty="0"/>
              <a:t>Memory is typically arena-allocated</a:t>
            </a:r>
          </a:p>
          <a:p>
            <a:pPr lvl="1"/>
            <a:r>
              <a:rPr lang="en-CH" dirty="0"/>
              <a:t>Discarded when message-call terminates</a:t>
            </a:r>
          </a:p>
          <a:p>
            <a:pPr lvl="1"/>
            <a:r>
              <a:rPr lang="en-CH" dirty="0"/>
              <a:t>Execution is expensive</a:t>
            </a:r>
          </a:p>
          <a:p>
            <a:endParaRPr lang="en-CH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71C3E-F3DD-57B1-2E95-EA3249CA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5EBA0-8082-DE27-4FF7-A58BD623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189EF-2B9B-8FBF-D006-7496DBF3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7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43704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BA5C-1E19-CCED-313E-750CB5F7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5F0FC6-D728-8EA4-A5EF-7120DC8182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6749045" y="365123"/>
            <a:ext cx="489953" cy="5834063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r>
              <a:rPr lang="en-CH" dirty="0"/>
              <a:t>18</a:t>
            </a:r>
          </a:p>
          <a:p>
            <a:r>
              <a:rPr lang="en-CH" dirty="0"/>
              <a:t>19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717F5-109E-5A5D-2D2E-55D1AB09B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7238998" y="365125"/>
            <a:ext cx="4114801" cy="583406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pragma solidity </a:t>
            </a:r>
            <a:r>
              <a:rPr lang="en-US" dirty="0">
                <a:solidFill>
                  <a:schemeClr val="accent3"/>
                </a:solidFill>
              </a:rPr>
              <a:t>^</a:t>
            </a:r>
            <a:r>
              <a:rPr lang="en-US" dirty="0">
                <a:solidFill>
                  <a:schemeClr val="accent4"/>
                </a:solidFill>
              </a:rPr>
              <a:t>0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r>
              <a:rPr lang="en-US" dirty="0">
                <a:solidFill>
                  <a:schemeClr val="accent4"/>
                </a:solidFill>
              </a:rPr>
              <a:t>8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r>
              <a:rPr lang="en-US" dirty="0">
                <a:solidFill>
                  <a:schemeClr val="accent4"/>
                </a:solidFill>
              </a:rPr>
              <a:t>31</a:t>
            </a:r>
            <a:r>
              <a:rPr lang="en-US" dirty="0">
                <a:solidFill>
                  <a:schemeClr val="accent3"/>
                </a:solidFill>
              </a:rPr>
              <a:t>;</a:t>
            </a:r>
          </a:p>
          <a:p>
            <a:endParaRPr lang="en-CH" dirty="0"/>
          </a:p>
          <a:p>
            <a:r>
              <a:rPr lang="en-CH" dirty="0">
                <a:solidFill>
                  <a:schemeClr val="accent2"/>
                </a:solidFill>
              </a:rPr>
              <a:t>contract</a:t>
            </a:r>
            <a:r>
              <a:rPr lang="en-CH" dirty="0"/>
              <a:t> Counter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2"/>
                </a:solidFill>
              </a:rPr>
              <a:t>uint256 </a:t>
            </a:r>
            <a:r>
              <a:rPr lang="en-CH" dirty="0">
                <a:solidFill>
                  <a:schemeClr val="accent1"/>
                </a:solidFill>
              </a:rPr>
              <a:t>private</a:t>
            </a:r>
            <a:r>
              <a:rPr lang="en-CH" dirty="0">
                <a:solidFill>
                  <a:schemeClr val="accent2"/>
                </a:solidFill>
              </a:rPr>
              <a:t> </a:t>
            </a:r>
            <a:r>
              <a:rPr lang="en-CH" dirty="0"/>
              <a:t>value</a:t>
            </a:r>
            <a:r>
              <a:rPr lang="en-CH" dirty="0">
                <a:solidFill>
                  <a:schemeClr val="accent3"/>
                </a:solidFill>
              </a:rPr>
              <a:t>;</a:t>
            </a:r>
          </a:p>
          <a:p>
            <a:endParaRPr lang="en-CH" dirty="0">
              <a:solidFill>
                <a:schemeClr val="accent2"/>
              </a:solidFill>
            </a:endParaRPr>
          </a:p>
          <a:p>
            <a:r>
              <a:rPr lang="en-CH" dirty="0">
                <a:solidFill>
                  <a:schemeClr val="accent2"/>
                </a:solidFill>
              </a:rPr>
              <a:t>  constructor</a:t>
            </a:r>
            <a:r>
              <a:rPr lang="en-CH" dirty="0">
                <a:solidFill>
                  <a:schemeClr val="accent3"/>
                </a:solidFill>
              </a:rPr>
              <a:t>(</a:t>
            </a:r>
            <a:r>
              <a:rPr lang="en-CH" dirty="0">
                <a:solidFill>
                  <a:schemeClr val="accent2"/>
                </a:solidFill>
              </a:rPr>
              <a:t>uint256 </a:t>
            </a:r>
            <a:r>
              <a:rPr lang="en-CH" dirty="0"/>
              <a:t>x</a:t>
            </a:r>
            <a:r>
              <a:rPr lang="en-CH" dirty="0">
                <a:solidFill>
                  <a:schemeClr val="accent3"/>
                </a:solidFill>
              </a:rPr>
              <a:t>) {</a:t>
            </a:r>
          </a:p>
          <a:p>
            <a:r>
              <a:rPr lang="en-CH" dirty="0">
                <a:solidFill>
                  <a:schemeClr val="accent3"/>
                </a:solidFill>
              </a:rPr>
              <a:t>    </a:t>
            </a:r>
            <a:r>
              <a:rPr lang="en-CH" dirty="0"/>
              <a:t>value </a:t>
            </a:r>
            <a:r>
              <a:rPr lang="en-CH" dirty="0">
                <a:solidFill>
                  <a:schemeClr val="accent3"/>
                </a:solidFill>
              </a:rPr>
              <a:t>=</a:t>
            </a:r>
            <a:r>
              <a:rPr lang="en-CH" dirty="0"/>
              <a:t> x</a:t>
            </a:r>
            <a:r>
              <a:rPr lang="en-CH" dirty="0">
                <a:solidFill>
                  <a:schemeClr val="accent3"/>
                </a:solidFill>
              </a:rPr>
              <a:t>;</a:t>
            </a:r>
          </a:p>
          <a:p>
            <a:r>
              <a:rPr lang="en-CH" dirty="0">
                <a:solidFill>
                  <a:schemeClr val="accent3"/>
                </a:solidFill>
              </a:rPr>
              <a:t>  }</a:t>
            </a:r>
          </a:p>
          <a:p>
            <a:endParaRPr lang="en-CH" dirty="0">
              <a:solidFill>
                <a:schemeClr val="accent3"/>
              </a:solidFill>
            </a:endParaRPr>
          </a:p>
          <a:p>
            <a:r>
              <a:rPr lang="en-CH" dirty="0">
                <a:solidFill>
                  <a:schemeClr val="accent3"/>
                </a:solidFill>
              </a:rPr>
              <a:t>  </a:t>
            </a:r>
            <a:r>
              <a:rPr lang="en-CH" dirty="0">
                <a:solidFill>
                  <a:schemeClr val="accent2"/>
                </a:solidFill>
              </a:rPr>
              <a:t>function </a:t>
            </a:r>
            <a:r>
              <a:rPr lang="en-CH" dirty="0">
                <a:solidFill>
                  <a:schemeClr val="accent6"/>
                </a:solidFill>
              </a:rPr>
              <a:t>get</a:t>
            </a:r>
            <a:r>
              <a:rPr lang="en-CH" dirty="0">
                <a:solidFill>
                  <a:schemeClr val="accent3"/>
                </a:solidFill>
              </a:rPr>
              <a:t>()</a:t>
            </a:r>
          </a:p>
          <a:p>
            <a:r>
              <a:rPr lang="en-CH" dirty="0">
                <a:solidFill>
                  <a:schemeClr val="accent3"/>
                </a:solidFill>
              </a:rPr>
              <a:t>	</a:t>
            </a:r>
            <a:r>
              <a:rPr lang="en-CH" dirty="0">
                <a:solidFill>
                  <a:schemeClr val="accent1"/>
                </a:solidFill>
              </a:rPr>
              <a:t>returns</a:t>
            </a:r>
            <a:r>
              <a:rPr lang="en-CH" dirty="0">
                <a:solidFill>
                  <a:schemeClr val="accent3"/>
                </a:solidFill>
              </a:rPr>
              <a:t> (</a:t>
            </a:r>
            <a:r>
              <a:rPr lang="en-CH" dirty="0">
                <a:solidFill>
                  <a:schemeClr val="accent2"/>
                </a:solidFill>
              </a:rPr>
              <a:t>uint256</a:t>
            </a:r>
            <a:r>
              <a:rPr lang="en-CH" dirty="0">
                <a:solidFill>
                  <a:schemeClr val="accent3"/>
                </a:solidFill>
              </a:rPr>
              <a:t>)</a:t>
            </a:r>
          </a:p>
          <a:p>
            <a:r>
              <a:rPr lang="en-CH" dirty="0">
                <a:solidFill>
                  <a:schemeClr val="accent3"/>
                </a:solidFill>
              </a:rPr>
              <a:t>  {</a:t>
            </a:r>
          </a:p>
          <a:p>
            <a:r>
              <a:rPr lang="en-CH" dirty="0">
                <a:solidFill>
                  <a:schemeClr val="accent3"/>
                </a:solidFill>
              </a:rPr>
              <a:t>    </a:t>
            </a:r>
            <a:r>
              <a:rPr lang="en-CH" dirty="0">
                <a:solidFill>
                  <a:schemeClr val="accent1"/>
                </a:solidFill>
              </a:rPr>
              <a:t>return </a:t>
            </a:r>
            <a:r>
              <a:rPr lang="en-CH" dirty="0"/>
              <a:t>value</a:t>
            </a:r>
            <a:r>
              <a:rPr lang="en-CH" dirty="0">
                <a:solidFill>
                  <a:schemeClr val="accent3"/>
                </a:solidFill>
              </a:rPr>
              <a:t>;</a:t>
            </a:r>
          </a:p>
          <a:p>
            <a:r>
              <a:rPr lang="en-CH" dirty="0">
                <a:solidFill>
                  <a:schemeClr val="accent3"/>
                </a:solidFill>
              </a:rPr>
              <a:t>  }</a:t>
            </a:r>
          </a:p>
          <a:p>
            <a:endParaRPr lang="en-CH" dirty="0">
              <a:solidFill>
                <a:schemeClr val="accent3"/>
              </a:solidFill>
            </a:endParaRPr>
          </a:p>
          <a:p>
            <a:r>
              <a:rPr lang="en-CH" dirty="0">
                <a:solidFill>
                  <a:schemeClr val="accent3"/>
                </a:solidFill>
              </a:rPr>
              <a:t>  </a:t>
            </a:r>
            <a:r>
              <a:rPr lang="en-CH" dirty="0">
                <a:solidFill>
                  <a:schemeClr val="accent2"/>
                </a:solidFill>
              </a:rPr>
              <a:t>function 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3"/>
                </a:solidFill>
              </a:rPr>
              <a:t>() {</a:t>
            </a:r>
          </a:p>
          <a:p>
            <a:r>
              <a:rPr lang="en-CH" dirty="0">
                <a:solidFill>
                  <a:schemeClr val="accent3"/>
                </a:solidFill>
              </a:rPr>
              <a:t>    </a:t>
            </a:r>
            <a:r>
              <a:rPr lang="en-CH" dirty="0"/>
              <a:t>value </a:t>
            </a:r>
            <a:r>
              <a:rPr lang="en-CH" dirty="0">
                <a:solidFill>
                  <a:schemeClr val="accent3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accent3"/>
                </a:solidFill>
              </a:rPr>
              <a:t>;</a:t>
            </a:r>
          </a:p>
          <a:p>
            <a:r>
              <a:rPr lang="en-CH" dirty="0">
                <a:solidFill>
                  <a:schemeClr val="accent3"/>
                </a:solidFill>
              </a:rPr>
              <a:t>  }</a:t>
            </a:r>
            <a:endParaRPr lang="en-CH" dirty="0"/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9E4B5-C066-8ADD-373C-11BE5995C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Solidity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E8613E-4733-3F18-4138-B38FF35A2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2105C7-A833-4BBE-84F9-4F3BB5CA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EDF37B1-75B7-0B35-2374-2B02A70F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8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5963B-8667-6CA9-7CB5-983A2C422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7850"/>
            <a:ext cx="5236398" cy="4351338"/>
          </a:xfrm>
        </p:spPr>
        <p:txBody>
          <a:bodyPr>
            <a:normAutofit/>
          </a:bodyPr>
          <a:lstStyle/>
          <a:p>
            <a:r>
              <a:rPr lang="en-CH" dirty="0"/>
              <a:t>Inspired by OOP</a:t>
            </a:r>
          </a:p>
          <a:p>
            <a:pPr lvl="1"/>
            <a:r>
              <a:rPr lang="en-CH" dirty="0"/>
              <a:t>Contracts </a:t>
            </a:r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↔</a:t>
            </a:r>
            <a:r>
              <a:rPr lang="en-CH" dirty="0"/>
              <a:t> Objects</a:t>
            </a:r>
          </a:p>
          <a:p>
            <a:r>
              <a:rPr lang="en-CH" dirty="0"/>
              <a:t>Complex type system</a:t>
            </a:r>
          </a:p>
          <a:p>
            <a:pPr lvl="1"/>
            <a:r>
              <a:rPr lang="en-CH" dirty="0"/>
              <a:t>Inheritance</a:t>
            </a:r>
          </a:p>
          <a:p>
            <a:pPr lvl="1"/>
            <a:r>
              <a:rPr lang="en-CH" dirty="0"/>
              <a:t>Function Pointers</a:t>
            </a:r>
          </a:p>
          <a:p>
            <a:pPr lvl="1"/>
            <a:r>
              <a:rPr lang="en-CH" dirty="0"/>
              <a:t>Storage Pointers</a:t>
            </a:r>
          </a:p>
          <a:p>
            <a:r>
              <a:rPr lang="en-CH" dirty="0"/>
              <a:t>Few protection mechanisms</a:t>
            </a:r>
          </a:p>
          <a:p>
            <a:r>
              <a:rPr lang="en-CH" dirty="0"/>
              <a:t>Large library of contracts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AFE5C9-E905-7396-A5F9-6F9161F338F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238998" y="365124"/>
            <a:ext cx="479" cy="58340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542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3B7E-F9E9-6F6A-8B18-DF3F1C21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A68216-E563-600F-9EAA-ACF32BAEE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r>
              <a:rPr lang="en-CH" dirty="0"/>
              <a:t>18</a:t>
            </a:r>
          </a:p>
          <a:p>
            <a:r>
              <a:rPr lang="en-CH" dirty="0"/>
              <a:t>19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EACB6-3E80-3F73-5329-0C125D94C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value: </a:t>
            </a:r>
            <a:r>
              <a:rPr lang="en-US" dirty="0">
                <a:solidFill>
                  <a:schemeClr val="accent2"/>
                </a:solidFill>
              </a:rPr>
              <a:t>uint256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@public</a:t>
            </a:r>
          </a:p>
          <a:p>
            <a:r>
              <a:rPr lang="en-US" dirty="0">
                <a:solidFill>
                  <a:schemeClr val="accent2"/>
                </a:solidFill>
              </a:rPr>
              <a:t>def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__</a:t>
            </a:r>
            <a:r>
              <a:rPr lang="en-US" dirty="0" err="1">
                <a:solidFill>
                  <a:schemeClr val="accent6"/>
                </a:solidFill>
              </a:rPr>
              <a:t>init</a:t>
            </a:r>
            <a:r>
              <a:rPr lang="en-US" dirty="0">
                <a:solidFill>
                  <a:schemeClr val="accent6"/>
                </a:solidFill>
              </a:rPr>
              <a:t>__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dirty="0"/>
              <a:t>x</a:t>
            </a:r>
            <a:r>
              <a:rPr lang="en-US" dirty="0">
                <a:solidFill>
                  <a:schemeClr val="accent3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uint256</a:t>
            </a:r>
            <a:r>
              <a:rPr lang="en-US" dirty="0">
                <a:solidFill>
                  <a:schemeClr val="accent3"/>
                </a:solidFill>
              </a:rPr>
              <a:t>):</a:t>
            </a:r>
          </a:p>
          <a:p>
            <a:r>
              <a:rPr lang="en-US" dirty="0"/>
              <a:t>   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self</a:t>
            </a:r>
            <a:r>
              <a:rPr lang="en-US" dirty="0" err="1">
                <a:solidFill>
                  <a:schemeClr val="accent3"/>
                </a:solidFill>
              </a:rPr>
              <a:t>.</a:t>
            </a:r>
            <a:r>
              <a:rPr lang="en-US" dirty="0" err="1"/>
              <a:t>value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=</a:t>
            </a:r>
            <a:r>
              <a:rPr lang="en-US" dirty="0"/>
              <a:t> x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@public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@constant</a:t>
            </a:r>
          </a:p>
          <a:p>
            <a:r>
              <a:rPr lang="en-US" dirty="0">
                <a:solidFill>
                  <a:schemeClr val="accent2"/>
                </a:solidFill>
              </a:rPr>
              <a:t>def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get</a:t>
            </a:r>
            <a:r>
              <a:rPr lang="en-US" dirty="0">
                <a:solidFill>
                  <a:schemeClr val="accent3"/>
                </a:solidFill>
              </a:rPr>
              <a:t>() -&gt; </a:t>
            </a:r>
            <a:r>
              <a:rPr lang="en-US" dirty="0">
                <a:solidFill>
                  <a:schemeClr val="accent2"/>
                </a:solidFill>
              </a:rPr>
              <a:t>uint256</a:t>
            </a:r>
            <a:r>
              <a:rPr lang="en-US" dirty="0">
                <a:solidFill>
                  <a:schemeClr val="accent3"/>
                </a:solidFill>
              </a:rPr>
              <a:t>:</a:t>
            </a:r>
          </a:p>
          <a:p>
            <a:r>
              <a:rPr lang="en-US" dirty="0"/>
              <a:t>   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self</a:t>
            </a:r>
            <a:r>
              <a:rPr lang="en-US" dirty="0" err="1">
                <a:solidFill>
                  <a:schemeClr val="accent3"/>
                </a:solidFill>
              </a:rPr>
              <a:t>.</a:t>
            </a:r>
            <a:r>
              <a:rPr lang="en-US" dirty="0" err="1"/>
              <a:t>value</a:t>
            </a:r>
            <a:endParaRPr lang="en-US" dirty="0"/>
          </a:p>
          <a:p>
            <a:endParaRPr lang="en-CH" dirty="0"/>
          </a:p>
          <a:p>
            <a:r>
              <a:rPr lang="en-US" dirty="0">
                <a:solidFill>
                  <a:schemeClr val="accent1"/>
                </a:solidFill>
              </a:rPr>
              <a:t>@public</a:t>
            </a:r>
          </a:p>
          <a:p>
            <a:r>
              <a:rPr lang="en-US" dirty="0">
                <a:solidFill>
                  <a:schemeClr val="accent2"/>
                </a:solidFill>
              </a:rPr>
              <a:t>def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increment</a:t>
            </a:r>
            <a:r>
              <a:rPr lang="en-US" dirty="0">
                <a:solidFill>
                  <a:schemeClr val="accent3"/>
                </a:solidFill>
              </a:rPr>
              <a:t>() -&gt; </a:t>
            </a:r>
            <a:r>
              <a:rPr lang="en-US" dirty="0">
                <a:solidFill>
                  <a:schemeClr val="accent2"/>
                </a:solidFill>
              </a:rPr>
              <a:t>bool</a:t>
            </a:r>
            <a:r>
              <a:rPr lang="en-US" dirty="0">
                <a:solidFill>
                  <a:schemeClr val="accent3"/>
                </a:solidFill>
              </a:rPr>
              <a:t>:</a:t>
            </a:r>
          </a:p>
          <a:p>
            <a:r>
              <a:rPr lang="en-US" dirty="0"/>
              <a:t>   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self</a:t>
            </a:r>
            <a:r>
              <a:rPr lang="en-US" dirty="0" err="1">
                <a:solidFill>
                  <a:schemeClr val="accent3"/>
                </a:solidFill>
              </a:rPr>
              <a:t>.</a:t>
            </a:r>
            <a:r>
              <a:rPr lang="en-US" dirty="0" err="1"/>
              <a:t>value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+=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5A23A-9662-73FA-26E9-8D09089E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 err="1"/>
              <a:t>Vyper</a:t>
            </a:r>
            <a:endParaRPr lang="en-CH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31F4A06-C5FC-B9B4-BE00-556C9CB0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EFEF207-BB3F-794D-350F-1FF6506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35152D0-1E25-27A7-E281-52288300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9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1C632-3841-6AE3-E8E8-952B80C04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678680" cy="4351338"/>
          </a:xfrm>
        </p:spPr>
        <p:txBody>
          <a:bodyPr/>
          <a:lstStyle/>
          <a:p>
            <a:r>
              <a:rPr lang="en-CH" dirty="0"/>
              <a:t>Closely based on Python</a:t>
            </a:r>
          </a:p>
          <a:p>
            <a:r>
              <a:rPr lang="en-CH" dirty="0"/>
              <a:t>Strives to be simple</a:t>
            </a:r>
          </a:p>
          <a:p>
            <a:r>
              <a:rPr lang="en-CH" dirty="0"/>
              <a:t>No low-level control</a:t>
            </a:r>
          </a:p>
          <a:p>
            <a:pPr lvl="1"/>
            <a:r>
              <a:rPr lang="en-CH" dirty="0"/>
              <a:t>e.g. of memory allocations</a:t>
            </a:r>
          </a:p>
          <a:p>
            <a:pPr lvl="1"/>
            <a:r>
              <a:rPr lang="en-CH" dirty="0"/>
              <a:t>large memory footprint</a:t>
            </a:r>
          </a:p>
          <a:p>
            <a:r>
              <a:rPr lang="en-CH" dirty="0"/>
              <a:t>Some opt-in protection mechanisms</a:t>
            </a:r>
          </a:p>
          <a:p>
            <a:endParaRPr lang="en-CH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00617D-25EC-F043-3B29-EA91FE056D59}"/>
              </a:ext>
            </a:extLst>
          </p:cNvPr>
          <p:cNvCxnSpPr>
            <a:cxnSpLocks/>
          </p:cNvCxnSpPr>
          <p:nvPr/>
        </p:nvCxnSpPr>
        <p:spPr>
          <a:xfrm>
            <a:off x="6534016" y="365125"/>
            <a:ext cx="0" cy="58340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07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75E81-BE4F-D637-EC6A-41DBF873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Security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1D2AF1C-0A85-296E-C6F8-92BC656A5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How to ensure contracts are secure?</a:t>
            </a:r>
          </a:p>
          <a:p>
            <a:pPr lvl="1"/>
            <a:r>
              <a:rPr lang="en-CH" dirty="0"/>
              <a:t>Static Analysis (rare)</a:t>
            </a:r>
          </a:p>
          <a:p>
            <a:pPr lvl="1"/>
            <a:r>
              <a:rPr lang="en-CH" dirty="0"/>
              <a:t>Formal Verification (proprietary, very rare)</a:t>
            </a:r>
          </a:p>
          <a:p>
            <a:pPr lvl="1"/>
            <a:r>
              <a:rPr lang="en-CH" dirty="0"/>
              <a:t>Third-party Audits</a:t>
            </a:r>
          </a:p>
          <a:p>
            <a:pPr lvl="2"/>
            <a:r>
              <a:rPr lang="en-CH" dirty="0"/>
              <a:t>Expensive </a:t>
            </a:r>
            <a:r>
              <a:rPr lang="en-CH" dirty="0">
                <a:solidFill>
                  <a:schemeClr val="tx2"/>
                </a:solidFill>
              </a:rPr>
              <a:t>(&gt;2000$ per auditor per day)</a:t>
            </a:r>
          </a:p>
          <a:p>
            <a:pPr lvl="2"/>
            <a:r>
              <a:rPr lang="en-CH" dirty="0"/>
              <a:t>#1 way to “prove” legitimacy of a new project</a:t>
            </a:r>
          </a:p>
          <a:p>
            <a:pPr lvl="2"/>
            <a:r>
              <a:rPr lang="en-CH" dirty="0"/>
              <a:t>Code </a:t>
            </a:r>
            <a:r>
              <a:rPr lang="en-CH" i="1" dirty="0"/>
              <a:t>readability</a:t>
            </a:r>
            <a:r>
              <a:rPr lang="en-CH" dirty="0"/>
              <a:t> is important!</a:t>
            </a:r>
          </a:p>
          <a:p>
            <a:endParaRPr lang="en-CH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33F08-5CBC-E248-1303-24BDA9584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06379-78DA-7111-E26D-5A0E786B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99090-7939-E106-CC41-624E41AE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10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7553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D5D5614-E33E-57A6-CC37-8370F1F5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828584"/>
              </p:ext>
            </p:extLst>
          </p:nvPr>
        </p:nvGraphicFramePr>
        <p:xfrm>
          <a:off x="697190" y="1392382"/>
          <a:ext cx="10797619" cy="4806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DEA0C95-8379-2D26-E244-5C0064E6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Common Vulnerabilities (2021-2024)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8FA7F-FDD2-AC8A-CF26-59C714C0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8C107-FD91-CFAF-C623-2737E155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4673-53B5-F42E-8776-57203959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11</a:t>
            </a:fld>
            <a:r>
              <a:rPr lang="en-CH"/>
              <a:t> / XX</a:t>
            </a:r>
            <a:endParaRPr lang="en-CH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1EB870-A322-67F0-9A53-EC3F5455D594}"/>
              </a:ext>
            </a:extLst>
          </p:cNvPr>
          <p:cNvGrpSpPr/>
          <p:nvPr/>
        </p:nvGrpSpPr>
        <p:grpSpPr>
          <a:xfrm>
            <a:off x="7837405" y="2768507"/>
            <a:ext cx="747001" cy="2487983"/>
            <a:chOff x="7837405" y="2768507"/>
            <a:chExt cx="747001" cy="248798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2DF3E9-7EBD-E36A-18B1-E96B8595B3A6}"/>
                </a:ext>
              </a:extLst>
            </p:cNvPr>
            <p:cNvSpPr txBox="1"/>
            <p:nvPr/>
          </p:nvSpPr>
          <p:spPr>
            <a:xfrm>
              <a:off x="7837407" y="4948713"/>
              <a:ext cx="746999" cy="30777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CH" sz="2000" dirty="0">
                  <a:solidFill>
                    <a:schemeClr val="bg1"/>
                  </a:solidFill>
                </a:rPr>
                <a:t>$524M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E37218-9366-45FC-D4B3-13F7EC41DB57}"/>
                </a:ext>
              </a:extLst>
            </p:cNvPr>
            <p:cNvSpPr txBox="1"/>
            <p:nvPr/>
          </p:nvSpPr>
          <p:spPr>
            <a:xfrm>
              <a:off x="7837406" y="3743801"/>
              <a:ext cx="746999" cy="30777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CH" sz="2000" dirty="0">
                  <a:solidFill>
                    <a:schemeClr val="bg1"/>
                  </a:solidFill>
                </a:rPr>
                <a:t>$422M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F04AEC-19E1-1A0D-E719-521C33EAA4B2}"/>
                </a:ext>
              </a:extLst>
            </p:cNvPr>
            <p:cNvSpPr txBox="1"/>
            <p:nvPr/>
          </p:nvSpPr>
          <p:spPr>
            <a:xfrm>
              <a:off x="7837405" y="2768507"/>
              <a:ext cx="746999" cy="307777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CH" sz="2000" dirty="0">
                  <a:solidFill>
                    <a:schemeClr val="bg1"/>
                  </a:solidFill>
                </a:rPr>
                <a:t>$284M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064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EF8E-54A4-2000-F07F-0973BADF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AE86CBA-9283-9AAD-9530-DC8A3A568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253500"/>
              </p:ext>
            </p:extLst>
          </p:nvPr>
        </p:nvGraphicFramePr>
        <p:xfrm>
          <a:off x="697190" y="1392382"/>
          <a:ext cx="10797619" cy="4806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6396E26-BF22-ABF0-29B7-7D696D72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solidFill>
                  <a:schemeClr val="tx2"/>
                </a:solidFill>
              </a:rPr>
              <a:t>Common Vulnerabilities (2021-2024)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6B4D1-1DCE-3422-D694-A34CF015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9D011-3434-56C6-5FB0-B32B9616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94CBD-3CE5-8B9F-0E4E-B9C8D1A9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12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72FDE-9EF7-EA8C-3B5F-BA5D0ACA35E8}"/>
              </a:ext>
            </a:extLst>
          </p:cNvPr>
          <p:cNvSpPr txBox="1"/>
          <p:nvPr/>
        </p:nvSpPr>
        <p:spPr>
          <a:xfrm>
            <a:off x="7837405" y="2768507"/>
            <a:ext cx="746999" cy="307777"/>
          </a:xfrm>
          <a:prstGeom prst="rect">
            <a:avLst/>
          </a:prstGeom>
          <a:solidFill>
            <a:schemeClr val="accent4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CH" sz="2000" dirty="0">
                <a:solidFill>
                  <a:schemeClr val="bg1"/>
                </a:solidFill>
              </a:rPr>
              <a:t>$284M</a:t>
            </a:r>
          </a:p>
        </p:txBody>
      </p:sp>
    </p:spTree>
    <p:extLst>
      <p:ext uri="{BB962C8B-B14F-4D97-AF65-F5344CB8AC3E}">
        <p14:creationId xmlns:p14="http://schemas.microsoft.com/office/powerpoint/2010/main" val="307295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6A8F-5170-1F70-EC51-21BEB993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Reentrancy – 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EED7-A8A4-761D-28F0-A1B7E658C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Contract is “re-entered”</a:t>
            </a:r>
            <a:r>
              <a:rPr lang="en-CH" dirty="0"/>
              <a:t> in a nested message-call</a:t>
            </a:r>
          </a:p>
          <a:p>
            <a:pPr lvl="1"/>
            <a:r>
              <a:rPr lang="en-CH" dirty="0"/>
              <a:t>Stack / Memory is not shared!</a:t>
            </a:r>
          </a:p>
          <a:p>
            <a:r>
              <a:rPr lang="en-GB" dirty="0"/>
              <a:t>Concurrency, but limited</a:t>
            </a:r>
          </a:p>
          <a:p>
            <a:pPr lvl="1"/>
            <a:r>
              <a:rPr lang="en-GB" b="1" dirty="0"/>
              <a:t>R-W</a:t>
            </a:r>
            <a:r>
              <a:rPr lang="en-GB" dirty="0"/>
              <a:t>, </a:t>
            </a:r>
            <a:r>
              <a:rPr lang="en-GB" b="1" dirty="0"/>
              <a:t>W-R</a:t>
            </a:r>
            <a:r>
              <a:rPr lang="en-GB" dirty="0"/>
              <a:t>, </a:t>
            </a:r>
            <a:r>
              <a:rPr lang="en-GB" b="1" dirty="0"/>
              <a:t>W-W</a:t>
            </a:r>
            <a:r>
              <a:rPr lang="en-GB" dirty="0"/>
              <a:t> conflicts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C8CAF-F2C1-E23B-9D9A-B6AC3083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0671F-CF07-F489-31DC-7240D7B0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899D-7E0E-D888-B6AF-2F9C72C9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13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20962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A5F9D-F831-10F0-B4A3-402692C5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A59B-94C1-1A59-B40C-9F194D2F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31160" cy="1325563"/>
          </a:xfrm>
        </p:spPr>
        <p:txBody>
          <a:bodyPr/>
          <a:lstStyle/>
          <a:p>
            <a:r>
              <a:rPr lang="en-CH" dirty="0"/>
              <a:t>Reentrancy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E3AE8-FC64-A0AC-93D5-12F3055F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992E3-0F9D-71E9-2614-B466311E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0888-D13B-4663-6AE2-B7591719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14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79DC15DA-BE46-9855-4A34-C46C0C172895}"/>
              </a:ext>
            </a:extLst>
          </p:cNvPr>
          <p:cNvSpPr/>
          <p:nvPr/>
        </p:nvSpPr>
        <p:spPr>
          <a:xfrm>
            <a:off x="5647690" y="417671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7B4D0-11F0-058B-D596-80CEC7EA580F}"/>
              </a:ext>
            </a:extLst>
          </p:cNvPr>
          <p:cNvSpPr/>
          <p:nvPr/>
        </p:nvSpPr>
        <p:spPr>
          <a:xfrm>
            <a:off x="838200" y="2611119"/>
            <a:ext cx="10556240" cy="3404553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2" name="Content Placeholder 9" descr="Address Book with solid fill">
            <a:extLst>
              <a:ext uri="{FF2B5EF4-FFF2-40B4-BE49-F238E27FC236}">
                <a16:creationId xmlns:a16="http://schemas.microsoft.com/office/drawing/2014/main" id="{BB979C1F-2B56-2442-7A8D-C52BBD24E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360" y="2723647"/>
            <a:ext cx="1010920" cy="1010920"/>
          </a:xfrm>
          <a:prstGeom prst="rect">
            <a:avLst/>
          </a:prstGeom>
        </p:spPr>
      </p:pic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AE94F329-F41A-A08F-5438-C9D75FFE19A9}"/>
              </a:ext>
            </a:extLst>
          </p:cNvPr>
          <p:cNvSpPr/>
          <p:nvPr/>
        </p:nvSpPr>
        <p:spPr>
          <a:xfrm>
            <a:off x="3088640" y="2912375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BDFF461-814A-C370-6EA1-66D5F0CDBB84}"/>
              </a:ext>
            </a:extLst>
          </p:cNvPr>
          <p:cNvGraphicFramePr>
            <a:graphicFrameLocks noGrp="1"/>
          </p:cNvGraphicFramePr>
          <p:nvPr/>
        </p:nvGraphicFramePr>
        <p:xfrm>
          <a:off x="2255520" y="3886518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0xAAAA...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>
                          <a:solidFill>
                            <a:schemeClr val="tx1"/>
                          </a:solidFill>
                        </a:rPr>
                        <a:t>Calldata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0xABCD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68793B0-F791-D78D-2D98-F02B999EC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014688"/>
              </p:ext>
            </p:extLst>
          </p:nvPr>
        </p:nvGraphicFramePr>
        <p:xfrm>
          <a:off x="5771038" y="874871"/>
          <a:ext cx="1297623" cy="11125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1063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Balance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...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Storage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B435F1-037C-389B-BE57-0352DD1AB5B8}"/>
              </a:ext>
            </a:extLst>
          </p:cNvPr>
          <p:cNvCxnSpPr>
            <a:cxnSpLocks/>
          </p:cNvCxnSpPr>
          <p:nvPr/>
        </p:nvCxnSpPr>
        <p:spPr>
          <a:xfrm>
            <a:off x="1648640" y="3229107"/>
            <a:ext cx="1440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F26153FC-12AB-04CE-93BF-129973F2051A}"/>
              </a:ext>
            </a:extLst>
          </p:cNvPr>
          <p:cNvSpPr/>
          <p:nvPr/>
        </p:nvSpPr>
        <p:spPr>
          <a:xfrm>
            <a:off x="8777579" y="417671"/>
            <a:ext cx="1544320" cy="190531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B</a:t>
            </a:r>
          </a:p>
          <a:p>
            <a:pPr algn="ctr"/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Mali</a:t>
            </a:r>
            <a:r>
              <a:rPr lang="en-GB" i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ious</a:t>
            </a:r>
          </a:p>
        </p:txBody>
      </p:sp>
    </p:spTree>
    <p:extLst>
      <p:ext uri="{BB962C8B-B14F-4D97-AF65-F5344CB8AC3E}">
        <p14:creationId xmlns:p14="http://schemas.microsoft.com/office/powerpoint/2010/main" val="145638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7000-7270-DBE6-E4B6-042EA614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D455-4727-5AFA-AC50-4729648CD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31160" cy="1325563"/>
          </a:xfrm>
        </p:spPr>
        <p:txBody>
          <a:bodyPr/>
          <a:lstStyle/>
          <a:p>
            <a:r>
              <a:rPr lang="en-CH" dirty="0"/>
              <a:t>Reentrancy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169CF-36D5-58DD-D7D9-3B2E0FABA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8A1A-3A15-937E-2C1B-F4CC748E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5654D-33F5-49C1-2925-2EE7A221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15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1D6680D8-775C-6AE0-7256-C68E7588C6DA}"/>
              </a:ext>
            </a:extLst>
          </p:cNvPr>
          <p:cNvSpPr/>
          <p:nvPr/>
        </p:nvSpPr>
        <p:spPr>
          <a:xfrm>
            <a:off x="5647690" y="417671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D4D448-4E45-7CF8-1AD7-F495C26FACFC}"/>
              </a:ext>
            </a:extLst>
          </p:cNvPr>
          <p:cNvSpPr/>
          <p:nvPr/>
        </p:nvSpPr>
        <p:spPr>
          <a:xfrm>
            <a:off x="838200" y="2611119"/>
            <a:ext cx="10556240" cy="3404553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2" name="Content Placeholder 9" descr="Address Book with solid fill">
            <a:extLst>
              <a:ext uri="{FF2B5EF4-FFF2-40B4-BE49-F238E27FC236}">
                <a16:creationId xmlns:a16="http://schemas.microsoft.com/office/drawing/2014/main" id="{CF4D6A67-4280-F03D-A203-D030F9149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360" y="2723647"/>
            <a:ext cx="1010920" cy="1010920"/>
          </a:xfrm>
          <a:prstGeom prst="rect">
            <a:avLst/>
          </a:prstGeom>
        </p:spPr>
      </p:pic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4B1A2040-4B91-4FDA-8AFB-99996D4823A1}"/>
              </a:ext>
            </a:extLst>
          </p:cNvPr>
          <p:cNvSpPr/>
          <p:nvPr/>
        </p:nvSpPr>
        <p:spPr>
          <a:xfrm>
            <a:off x="3088640" y="2912375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41A6E540-B3C8-6E6C-9FD5-BBBB924840DD}"/>
              </a:ext>
            </a:extLst>
          </p:cNvPr>
          <p:cNvSpPr/>
          <p:nvPr/>
        </p:nvSpPr>
        <p:spPr>
          <a:xfrm>
            <a:off x="9690100" y="2935866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A58FB1D4-BF42-BA85-6A5F-6C4345751E13}"/>
              </a:ext>
            </a:extLst>
          </p:cNvPr>
          <p:cNvSpPr/>
          <p:nvPr/>
        </p:nvSpPr>
        <p:spPr>
          <a:xfrm>
            <a:off x="6324600" y="2912375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B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7A0BA54-342F-87DD-568C-01D011F12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848800"/>
              </p:ext>
            </p:extLst>
          </p:nvPr>
        </p:nvGraphicFramePr>
        <p:xfrm>
          <a:off x="2255520" y="3886518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0xAAAA...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>
                          <a:solidFill>
                            <a:schemeClr val="tx1"/>
                          </a:solidFill>
                        </a:rPr>
                        <a:t>Calldata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0xABCD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FF70CF0-5EE8-3847-008C-0C9E25078CBA}"/>
              </a:ext>
            </a:extLst>
          </p:cNvPr>
          <p:cNvGraphicFramePr>
            <a:graphicFrameLocks noGrp="1"/>
          </p:cNvGraphicFramePr>
          <p:nvPr/>
        </p:nvGraphicFramePr>
        <p:xfrm>
          <a:off x="5771038" y="874871"/>
          <a:ext cx="1297623" cy="11125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1063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Balance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...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Storage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DE3C55-AB57-58FB-B694-97E144B4B908}"/>
              </a:ext>
            </a:extLst>
          </p:cNvPr>
          <p:cNvGraphicFramePr>
            <a:graphicFrameLocks noGrp="1"/>
          </p:cNvGraphicFramePr>
          <p:nvPr/>
        </p:nvGraphicFramePr>
        <p:xfrm>
          <a:off x="5458460" y="3910011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0xBBBB...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E92ED1-881A-6B62-79A9-77318C795FBE}"/>
              </a:ext>
            </a:extLst>
          </p:cNvPr>
          <p:cNvGraphicFramePr>
            <a:graphicFrameLocks noGrp="1"/>
          </p:cNvGraphicFramePr>
          <p:nvPr/>
        </p:nvGraphicFramePr>
        <p:xfrm>
          <a:off x="8823960" y="3910011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0xAAAA...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>
                          <a:solidFill>
                            <a:schemeClr val="tx1"/>
                          </a:solidFill>
                        </a:rPr>
                        <a:t>Calldata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0xCDEF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D10640-1BFD-8ABC-6D7F-A38869D7C99F}"/>
              </a:ext>
            </a:extLst>
          </p:cNvPr>
          <p:cNvCxnSpPr>
            <a:cxnSpLocks/>
          </p:cNvCxnSpPr>
          <p:nvPr/>
        </p:nvCxnSpPr>
        <p:spPr>
          <a:xfrm>
            <a:off x="1648640" y="3229107"/>
            <a:ext cx="1440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D29809-3771-9505-FF76-2311087A1744}"/>
              </a:ext>
            </a:extLst>
          </p:cNvPr>
          <p:cNvCxnSpPr>
            <a:cxnSpLocks/>
          </p:cNvCxnSpPr>
          <p:nvPr/>
        </p:nvCxnSpPr>
        <p:spPr>
          <a:xfrm>
            <a:off x="3591560" y="3229106"/>
            <a:ext cx="2700000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3FFCF0-DFF3-768B-4AFF-DAD199139ECD}"/>
              </a:ext>
            </a:extLst>
          </p:cNvPr>
          <p:cNvCxnSpPr>
            <a:cxnSpLocks/>
          </p:cNvCxnSpPr>
          <p:nvPr/>
        </p:nvCxnSpPr>
        <p:spPr>
          <a:xfrm>
            <a:off x="6827520" y="3229105"/>
            <a:ext cx="2844000" cy="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C5544C-B846-E269-4899-6C121A90600D}"/>
              </a:ext>
            </a:extLst>
          </p:cNvPr>
          <p:cNvGrpSpPr/>
          <p:nvPr/>
        </p:nvGrpSpPr>
        <p:grpSpPr>
          <a:xfrm>
            <a:off x="4480561" y="1812973"/>
            <a:ext cx="1278446" cy="2987622"/>
            <a:chOff x="4480561" y="1427965"/>
            <a:chExt cx="1278446" cy="3014812"/>
          </a:xfrm>
        </p:grpSpPr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45200735-4882-FA64-3D71-CF618F87BD9C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rot="5400000">
              <a:off x="3216360" y="2692167"/>
              <a:ext cx="3014811" cy="48641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81C9310-94EF-9C88-8077-A326C7AF7D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7012" y="1427965"/>
              <a:ext cx="801995" cy="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2" name="Rectangle: Folded Corner 41">
            <a:extLst>
              <a:ext uri="{FF2B5EF4-FFF2-40B4-BE49-F238E27FC236}">
                <a16:creationId xmlns:a16="http://schemas.microsoft.com/office/drawing/2014/main" id="{825B9D55-DD7C-8A80-D010-9D6A6BA9A703}"/>
              </a:ext>
            </a:extLst>
          </p:cNvPr>
          <p:cNvSpPr/>
          <p:nvPr/>
        </p:nvSpPr>
        <p:spPr>
          <a:xfrm>
            <a:off x="8777579" y="417671"/>
            <a:ext cx="1544320" cy="190531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B</a:t>
            </a:r>
          </a:p>
          <a:p>
            <a:pPr algn="ctr"/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Mali</a:t>
            </a:r>
            <a:r>
              <a:rPr lang="en-GB" i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ious</a:t>
            </a:r>
          </a:p>
        </p:txBody>
      </p:sp>
    </p:spTree>
    <p:extLst>
      <p:ext uri="{BB962C8B-B14F-4D97-AF65-F5344CB8AC3E}">
        <p14:creationId xmlns:p14="http://schemas.microsoft.com/office/powerpoint/2010/main" val="212082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ED03-B932-65DE-53CF-5EA9EBF1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626C-FC4E-4AE5-A6C8-78314F00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31160" cy="1325563"/>
          </a:xfrm>
        </p:spPr>
        <p:txBody>
          <a:bodyPr/>
          <a:lstStyle/>
          <a:p>
            <a:r>
              <a:rPr lang="en-CH" dirty="0"/>
              <a:t>Reentrancy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87F0E-42F1-C76F-7C25-A17E23CF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A3C81-4473-116D-BEF5-BFCA40F4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6C63A-1B71-214C-9DA9-E6567F07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16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1D8AFB30-ACFD-8250-0CE8-A49F6D41A9F7}"/>
              </a:ext>
            </a:extLst>
          </p:cNvPr>
          <p:cNvSpPr/>
          <p:nvPr/>
        </p:nvSpPr>
        <p:spPr>
          <a:xfrm>
            <a:off x="5647690" y="417671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DE01CE-23B9-4A8C-94D2-17785EE8575C}"/>
              </a:ext>
            </a:extLst>
          </p:cNvPr>
          <p:cNvSpPr/>
          <p:nvPr/>
        </p:nvSpPr>
        <p:spPr>
          <a:xfrm>
            <a:off x="838200" y="2611119"/>
            <a:ext cx="10556240" cy="3404553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2" name="Content Placeholder 9" descr="Address Book with solid fill">
            <a:extLst>
              <a:ext uri="{FF2B5EF4-FFF2-40B4-BE49-F238E27FC236}">
                <a16:creationId xmlns:a16="http://schemas.microsoft.com/office/drawing/2014/main" id="{63F1DBBD-A69F-7E56-46C1-1F9476211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360" y="2723647"/>
            <a:ext cx="1010920" cy="1010920"/>
          </a:xfrm>
          <a:prstGeom prst="rect">
            <a:avLst/>
          </a:prstGeom>
        </p:spPr>
      </p:pic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D66E0428-4495-52FA-8B4F-58B735996F79}"/>
              </a:ext>
            </a:extLst>
          </p:cNvPr>
          <p:cNvSpPr/>
          <p:nvPr/>
        </p:nvSpPr>
        <p:spPr>
          <a:xfrm>
            <a:off x="3088640" y="2912375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53EDD61F-FF39-814C-2440-2EFEDC693CB4}"/>
              </a:ext>
            </a:extLst>
          </p:cNvPr>
          <p:cNvSpPr/>
          <p:nvPr/>
        </p:nvSpPr>
        <p:spPr>
          <a:xfrm>
            <a:off x="9690100" y="2935866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FD2D53EB-98E2-EADD-024D-6736ED05E6BA}"/>
              </a:ext>
            </a:extLst>
          </p:cNvPr>
          <p:cNvSpPr/>
          <p:nvPr/>
        </p:nvSpPr>
        <p:spPr>
          <a:xfrm>
            <a:off x="6324600" y="2912375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B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032A101-2296-8AA4-864F-F4C6B10B191B}"/>
              </a:ext>
            </a:extLst>
          </p:cNvPr>
          <p:cNvGraphicFramePr>
            <a:graphicFrameLocks noGrp="1"/>
          </p:cNvGraphicFramePr>
          <p:nvPr/>
        </p:nvGraphicFramePr>
        <p:xfrm>
          <a:off x="2255520" y="3886518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0xAAAA...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>
                          <a:solidFill>
                            <a:schemeClr val="tx1"/>
                          </a:solidFill>
                        </a:rPr>
                        <a:t>Calldata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0xABCD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03A3D0-942C-8F16-ABC2-4C3066651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861446"/>
              </p:ext>
            </p:extLst>
          </p:nvPr>
        </p:nvGraphicFramePr>
        <p:xfrm>
          <a:off x="5771038" y="874871"/>
          <a:ext cx="1297623" cy="11125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1063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Balance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...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Storage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  <a:latin typeface="+mn-lt"/>
                        </a:rPr>
                        <a:t>4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57193F-3A80-EEDC-2296-1448FBDF66C9}"/>
              </a:ext>
            </a:extLst>
          </p:cNvPr>
          <p:cNvGraphicFramePr>
            <a:graphicFrameLocks noGrp="1"/>
          </p:cNvGraphicFramePr>
          <p:nvPr/>
        </p:nvGraphicFramePr>
        <p:xfrm>
          <a:off x="5458460" y="3910011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0xBBBB...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54CCD8-F93E-EF82-FD1D-C66216DD0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743121"/>
              </p:ext>
            </p:extLst>
          </p:nvPr>
        </p:nvGraphicFramePr>
        <p:xfrm>
          <a:off x="8823960" y="3910011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0xAAAA...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>
                          <a:solidFill>
                            <a:schemeClr val="tx1"/>
                          </a:solidFill>
                        </a:rPr>
                        <a:t>Calldata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0xCDEF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40920-EDE4-3ABF-D41E-306E108132C3}"/>
              </a:ext>
            </a:extLst>
          </p:cNvPr>
          <p:cNvCxnSpPr>
            <a:cxnSpLocks/>
          </p:cNvCxnSpPr>
          <p:nvPr/>
        </p:nvCxnSpPr>
        <p:spPr>
          <a:xfrm>
            <a:off x="1648640" y="3229107"/>
            <a:ext cx="1440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DA7F91-D35B-DEBE-24E7-C3CA876999B8}"/>
              </a:ext>
            </a:extLst>
          </p:cNvPr>
          <p:cNvCxnSpPr>
            <a:cxnSpLocks/>
          </p:cNvCxnSpPr>
          <p:nvPr/>
        </p:nvCxnSpPr>
        <p:spPr>
          <a:xfrm>
            <a:off x="3591560" y="3229106"/>
            <a:ext cx="2700000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D2FE0E-F516-E4A7-C8B7-CC57735206F2}"/>
              </a:ext>
            </a:extLst>
          </p:cNvPr>
          <p:cNvCxnSpPr>
            <a:cxnSpLocks/>
          </p:cNvCxnSpPr>
          <p:nvPr/>
        </p:nvCxnSpPr>
        <p:spPr>
          <a:xfrm>
            <a:off x="6827520" y="3229105"/>
            <a:ext cx="2844000" cy="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8186AC-440E-F39E-E224-79570E71737F}"/>
              </a:ext>
            </a:extLst>
          </p:cNvPr>
          <p:cNvGrpSpPr/>
          <p:nvPr/>
        </p:nvGrpSpPr>
        <p:grpSpPr>
          <a:xfrm>
            <a:off x="7078389" y="1809345"/>
            <a:ext cx="1726990" cy="3035030"/>
            <a:chOff x="7078389" y="1809345"/>
            <a:chExt cx="1726990" cy="3035030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3226D6A8-3292-EA0D-AB50-8DE29A60933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07915" y="3046910"/>
              <a:ext cx="3035030" cy="559899"/>
            </a:xfrm>
            <a:prstGeom prst="bentConnector3">
              <a:avLst>
                <a:gd name="adj1" fmla="val 100000"/>
              </a:avLst>
            </a:prstGeom>
            <a:ln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0CFBCEA-08E7-5D64-01CD-DB2F445AF3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8389" y="1809345"/>
              <a:ext cx="11768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Rectangle: Folded Corner 38">
            <a:extLst>
              <a:ext uri="{FF2B5EF4-FFF2-40B4-BE49-F238E27FC236}">
                <a16:creationId xmlns:a16="http://schemas.microsoft.com/office/drawing/2014/main" id="{20E1F54B-5BDA-1CFA-4D46-6BE9A619D6C5}"/>
              </a:ext>
            </a:extLst>
          </p:cNvPr>
          <p:cNvSpPr/>
          <p:nvPr/>
        </p:nvSpPr>
        <p:spPr>
          <a:xfrm>
            <a:off x="8777579" y="417671"/>
            <a:ext cx="1544320" cy="190531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B</a:t>
            </a:r>
          </a:p>
          <a:p>
            <a:pPr algn="ctr"/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Mali</a:t>
            </a:r>
            <a:r>
              <a:rPr lang="en-GB" i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ious</a:t>
            </a:r>
          </a:p>
        </p:txBody>
      </p:sp>
    </p:spTree>
    <p:extLst>
      <p:ext uri="{BB962C8B-B14F-4D97-AF65-F5344CB8AC3E}">
        <p14:creationId xmlns:p14="http://schemas.microsoft.com/office/powerpoint/2010/main" val="219439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7935-62AF-888D-44C5-74D4E036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926A8-136D-C71D-ABE2-AD9A3902E489}"/>
              </a:ext>
            </a:extLst>
          </p:cNvPr>
          <p:cNvSpPr/>
          <p:nvPr/>
        </p:nvSpPr>
        <p:spPr>
          <a:xfrm>
            <a:off x="838200" y="2611119"/>
            <a:ext cx="10556240" cy="3404553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10005-393C-3CD3-7B68-4040593C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31160" cy="1325563"/>
          </a:xfrm>
        </p:spPr>
        <p:txBody>
          <a:bodyPr/>
          <a:lstStyle/>
          <a:p>
            <a:r>
              <a:rPr lang="en-CH" dirty="0"/>
              <a:t>Reentrancy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4E05D-A95A-EF56-693B-7C5CA26F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DBA09-5656-F957-8DC5-6F1CA31A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EE448-B38A-8E02-5E38-7A942D58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17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034A3572-4CD4-E2D0-EF7F-09A605AAC6E8}"/>
              </a:ext>
            </a:extLst>
          </p:cNvPr>
          <p:cNvSpPr/>
          <p:nvPr/>
        </p:nvSpPr>
        <p:spPr>
          <a:xfrm>
            <a:off x="5647690" y="417671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A</a:t>
            </a:r>
          </a:p>
        </p:txBody>
      </p:sp>
      <p:pic>
        <p:nvPicPr>
          <p:cNvPr id="12" name="Content Placeholder 9" descr="Address Book with solid fill">
            <a:extLst>
              <a:ext uri="{FF2B5EF4-FFF2-40B4-BE49-F238E27FC236}">
                <a16:creationId xmlns:a16="http://schemas.microsoft.com/office/drawing/2014/main" id="{876C7C56-EC4A-F59A-EF08-E3FE809EA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360" y="2723647"/>
            <a:ext cx="1010920" cy="1010920"/>
          </a:xfrm>
          <a:prstGeom prst="rect">
            <a:avLst/>
          </a:prstGeom>
        </p:spPr>
      </p:pic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0C51855C-AB8E-0F1A-99DD-E4187E56630D}"/>
              </a:ext>
            </a:extLst>
          </p:cNvPr>
          <p:cNvSpPr/>
          <p:nvPr/>
        </p:nvSpPr>
        <p:spPr>
          <a:xfrm>
            <a:off x="3088640" y="2912375"/>
            <a:ext cx="492760" cy="633465"/>
          </a:xfrm>
          <a:prstGeom prst="foldedCorner">
            <a:avLst>
              <a:gd name="adj" fmla="val 311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sz="2400" dirty="0">
                <a:solidFill>
                  <a:schemeClr val="bg1"/>
                </a:solidFill>
              </a:rPr>
              <a:t>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858B97-5F49-8CC4-43C0-986298187651}"/>
              </a:ext>
            </a:extLst>
          </p:cNvPr>
          <p:cNvGraphicFramePr>
            <a:graphicFrameLocks noGrp="1"/>
          </p:cNvGraphicFramePr>
          <p:nvPr/>
        </p:nvGraphicFramePr>
        <p:xfrm>
          <a:off x="2255520" y="3886518"/>
          <a:ext cx="222504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0xAAAA...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>
                          <a:solidFill>
                            <a:schemeClr val="tx1"/>
                          </a:solidFill>
                        </a:rPr>
                        <a:t>Calldata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0xABCD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95C36B3-A5B8-6C2F-0526-93268FEDBE04}"/>
              </a:ext>
            </a:extLst>
          </p:cNvPr>
          <p:cNvGraphicFramePr>
            <a:graphicFrameLocks noGrp="1"/>
          </p:cNvGraphicFramePr>
          <p:nvPr/>
        </p:nvGraphicFramePr>
        <p:xfrm>
          <a:off x="5771038" y="874871"/>
          <a:ext cx="1297623" cy="11125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1063">
                  <a:extLst>
                    <a:ext uri="{9D8B030D-6E8A-4147-A177-3AD203B41FA5}">
                      <a16:colId xmlns:a16="http://schemas.microsoft.com/office/drawing/2014/main" val="58652385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870854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Balance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21019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...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209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Storage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  <a:latin typeface="+mn-lt"/>
                        </a:rPr>
                        <a:t>4</a:t>
                      </a:r>
                      <a:endParaRPr lang="en-CH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2533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C02290-89F0-CBD4-21D4-5176E10150A5}"/>
              </a:ext>
            </a:extLst>
          </p:cNvPr>
          <p:cNvCxnSpPr>
            <a:cxnSpLocks/>
          </p:cNvCxnSpPr>
          <p:nvPr/>
        </p:nvCxnSpPr>
        <p:spPr>
          <a:xfrm>
            <a:off x="1648640" y="3229107"/>
            <a:ext cx="14400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76D716-9C36-BE0E-0716-6C06E3B47E8D}"/>
              </a:ext>
            </a:extLst>
          </p:cNvPr>
          <p:cNvGrpSpPr/>
          <p:nvPr/>
        </p:nvGrpSpPr>
        <p:grpSpPr>
          <a:xfrm>
            <a:off x="3468276" y="4999038"/>
            <a:ext cx="3425819" cy="657410"/>
            <a:chOff x="3468276" y="4999038"/>
            <a:chExt cx="3459053" cy="389709"/>
          </a:xfrm>
        </p:grpSpPr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97DCE89A-E3CF-7E9C-0129-9424D7684828}"/>
                </a:ext>
              </a:extLst>
            </p:cNvPr>
            <p:cNvCxnSpPr/>
            <p:nvPr/>
          </p:nvCxnSpPr>
          <p:spPr>
            <a:xfrm rot="10800000">
              <a:off x="3468276" y="4999038"/>
              <a:ext cx="2268984" cy="389708"/>
            </a:xfrm>
            <a:prstGeom prst="bentConnector3">
              <a:avLst>
                <a:gd name="adj1" fmla="val 100081"/>
              </a:avLst>
            </a:prstGeom>
            <a:ln w="3810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3BCDDA6E-D84A-4095-BA60-E9DE4090AA5C}"/>
                </a:ext>
              </a:extLst>
            </p:cNvPr>
            <p:cNvCxnSpPr/>
            <p:nvPr/>
          </p:nvCxnSpPr>
          <p:spPr>
            <a:xfrm flipV="1">
              <a:off x="4592502" y="4999038"/>
              <a:ext cx="2334827" cy="389709"/>
            </a:xfrm>
            <a:prstGeom prst="bentConnector3">
              <a:avLst>
                <a:gd name="adj1" fmla="val 100190"/>
              </a:avLst>
            </a:prstGeom>
            <a:ln w="3810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: Folded Corner 34">
            <a:extLst>
              <a:ext uri="{FF2B5EF4-FFF2-40B4-BE49-F238E27FC236}">
                <a16:creationId xmlns:a16="http://schemas.microsoft.com/office/drawing/2014/main" id="{2F4DACB4-424E-1245-D49A-AF89584DF114}"/>
              </a:ext>
            </a:extLst>
          </p:cNvPr>
          <p:cNvSpPr/>
          <p:nvPr/>
        </p:nvSpPr>
        <p:spPr>
          <a:xfrm>
            <a:off x="8777579" y="417671"/>
            <a:ext cx="1544320" cy="190531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 B</a:t>
            </a:r>
          </a:p>
          <a:p>
            <a:pPr algn="ctr"/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Mali</a:t>
            </a:r>
            <a:r>
              <a:rPr lang="en-GB" i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CH" i="1" dirty="0">
                <a:solidFill>
                  <a:schemeClr val="accent1">
                    <a:lumMod val="50000"/>
                  </a:schemeClr>
                </a:solidFill>
              </a:rPr>
              <a:t>ious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0CECD-0FC9-0E11-38C6-5A370468EF9A}"/>
              </a:ext>
            </a:extLst>
          </p:cNvPr>
          <p:cNvSpPr txBox="1"/>
          <p:nvPr/>
        </p:nvSpPr>
        <p:spPr>
          <a:xfrm>
            <a:off x="4402115" y="5651393"/>
            <a:ext cx="147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solidFill>
                  <a:schemeClr val="accent1"/>
                </a:solidFill>
              </a:rPr>
              <a:t>R-W conflict!</a:t>
            </a:r>
          </a:p>
        </p:txBody>
      </p:sp>
    </p:spTree>
    <p:extLst>
      <p:ext uri="{BB962C8B-B14F-4D97-AF65-F5344CB8AC3E}">
        <p14:creationId xmlns:p14="http://schemas.microsoft.com/office/powerpoint/2010/main" val="76237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1481E-6 L 0.00404 0.43959 " pathEditMode="relative" rAng="0" ptsTypes="AA">
                                      <p:cBhvr>
                                        <p:cTn id="6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219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00326 0.44838 " pathEditMode="relative" rAng="0" ptsTypes="AA">
                                      <p:cBhvr>
                                        <p:cTn id="8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2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06867-F295-A8D8-5522-C18EF8603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Reentrancy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1E665-AB85-22BB-B354-B4E57BB6F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</a:t>
            </a:r>
            <a:r>
              <a:rPr lang="en-CH" dirty="0"/>
              <a:t>occurrence</a:t>
            </a:r>
            <a:r>
              <a:rPr lang="en-GB" dirty="0"/>
              <a:t>: June 17, 2016</a:t>
            </a:r>
          </a:p>
          <a:p>
            <a:pPr lvl="1"/>
            <a:r>
              <a:rPr lang="en-GB" dirty="0"/>
              <a:t>Infamous ETH DAO hack</a:t>
            </a:r>
          </a:p>
          <a:p>
            <a:pPr lvl="1"/>
            <a:r>
              <a:rPr lang="en-GB" dirty="0"/>
              <a:t>Only retroactive hard-fork in Ethereum history</a:t>
            </a:r>
          </a:p>
          <a:p>
            <a:r>
              <a:rPr lang="en-GB" dirty="0"/>
              <a:t>Well-known vulnerability class</a:t>
            </a:r>
          </a:p>
          <a:p>
            <a:r>
              <a:rPr lang="en-GB" dirty="0"/>
              <a:t>Easily classifiable / detectable</a:t>
            </a:r>
          </a:p>
          <a:p>
            <a:r>
              <a:rPr lang="en-GB" dirty="0"/>
              <a:t>Easily preventable in most cases</a:t>
            </a:r>
          </a:p>
          <a:p>
            <a:r>
              <a:rPr lang="en-GB" dirty="0"/>
              <a:t>Still represents &gt;10% of exploits </a:t>
            </a:r>
            <a:r>
              <a:rPr lang="en-CH" dirty="0"/>
              <a:t>since </a:t>
            </a:r>
            <a:r>
              <a:rPr lang="en-GB" dirty="0"/>
              <a:t>2020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i="1" dirty="0"/>
              <a:t>Why is this still an issue today?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6824A-7C1E-071C-05CA-02060249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BA62C-19B7-8937-19EF-4D9F0067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D5BBD-6DFB-841F-077B-5898705D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18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718351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3C8E-077C-E2F8-C049-AC37667C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Reentrancy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6C357-5BEA-7D20-2BB1-E40B73F25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contracts do not make use of reentrant calls</a:t>
            </a:r>
          </a:p>
          <a:p>
            <a:pPr lvl="1"/>
            <a:r>
              <a:rPr lang="en-CH" dirty="0"/>
              <a:t>There is no</a:t>
            </a:r>
            <a:r>
              <a:rPr lang="en-GB" dirty="0"/>
              <a:t> “safety by default”</a:t>
            </a:r>
          </a:p>
          <a:p>
            <a:endParaRPr lang="en-GB" dirty="0"/>
          </a:p>
          <a:p>
            <a:r>
              <a:rPr lang="en-CH" dirty="0"/>
              <a:t>But w</a:t>
            </a:r>
            <a:r>
              <a:rPr lang="en-GB" dirty="0"/>
              <a:t>hen they do…</a:t>
            </a:r>
          </a:p>
          <a:p>
            <a:pPr lvl="1"/>
            <a:r>
              <a:rPr lang="en-GB" i="1" dirty="0"/>
              <a:t>Current tools do not provide adequate protection mechanisms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7C4B-A08E-6011-DD7A-1097A0A9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FB42A-6934-1CBD-4D5C-B96D68BC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C139A-18C5-6218-3CBD-FA3CF932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19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07777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F22FEA3-3516-A205-D490-C89763F6A5B3}"/>
              </a:ext>
            </a:extLst>
          </p:cNvPr>
          <p:cNvGrpSpPr/>
          <p:nvPr/>
        </p:nvGrpSpPr>
        <p:grpSpPr>
          <a:xfrm>
            <a:off x="5062535" y="3093046"/>
            <a:ext cx="712100" cy="1582816"/>
            <a:chOff x="5019356" y="3209925"/>
            <a:chExt cx="608966" cy="1582816"/>
          </a:xfrm>
        </p:grpSpPr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A73EBBE9-EC26-D65E-81D6-CAFFCFE34961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A07A91E-3D11-174C-78FB-3B637C9ED6C2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2E18D4AF-22FF-2FD4-DAD4-476BF24F193B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D726F7-F3B8-2A51-7B9D-13B52ED3E7A7}"/>
              </a:ext>
            </a:extLst>
          </p:cNvPr>
          <p:cNvGrpSpPr/>
          <p:nvPr/>
        </p:nvGrpSpPr>
        <p:grpSpPr>
          <a:xfrm>
            <a:off x="6417362" y="3093086"/>
            <a:ext cx="712099" cy="1582816"/>
            <a:chOff x="5019356" y="3209925"/>
            <a:chExt cx="608966" cy="158281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E4DF98E3-54F9-C42F-378D-756A3C154F7F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8E1ABB7F-7AC7-F67B-CC79-1092A434D8A9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9F95EFEF-842A-9F2B-A0AE-ED66EE5912CD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998A98-868B-213B-9EEB-25A9B5EE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Reentrancy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F6247-A3F9-D450-E51C-FFB923D5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43200" cy="4351338"/>
          </a:xfrm>
        </p:spPr>
        <p:txBody>
          <a:bodyPr/>
          <a:lstStyle/>
          <a:p>
            <a:r>
              <a:rPr lang="en-GB" dirty="0"/>
              <a:t>3 entry points</a:t>
            </a:r>
          </a:p>
          <a:p>
            <a:r>
              <a:rPr lang="en-GB" dirty="0"/>
              <a:t>3 call sites</a:t>
            </a:r>
          </a:p>
          <a:p>
            <a:r>
              <a:rPr lang="en-GB" dirty="0"/>
              <a:t>One desired </a:t>
            </a:r>
            <a:r>
              <a:rPr lang="en-GB" dirty="0" err="1"/>
              <a:t>reentrant</a:t>
            </a:r>
            <a:r>
              <a:rPr lang="en-GB" dirty="0"/>
              <a:t> call</a:t>
            </a:r>
            <a:endParaRPr lang="en-CH" dirty="0"/>
          </a:p>
          <a:p>
            <a:endParaRPr lang="en-CH" dirty="0"/>
          </a:p>
          <a:p>
            <a:pPr marL="0" indent="0">
              <a:buNone/>
            </a:pPr>
            <a:r>
              <a:rPr lang="en-CH" sz="2400" i="1" dirty="0"/>
              <a:t>Protection must use runtime check!</a:t>
            </a:r>
            <a:endParaRPr lang="en-GB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315A-0B4B-F27B-1DFE-36DBDE54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8338-013B-A4C4-3264-1F577F2A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6CDA9-402E-19EB-55BF-134DFA90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20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149A3A17-57C0-2CD3-6A09-D76604FAFCB2}"/>
              </a:ext>
            </a:extLst>
          </p:cNvPr>
          <p:cNvSpPr/>
          <p:nvPr/>
        </p:nvSpPr>
        <p:spPr>
          <a:xfrm>
            <a:off x="5323840" y="3048636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Contract</a:t>
            </a:r>
            <a:endParaRPr lang="en-CH" dirty="0">
              <a:solidFill>
                <a:schemeClr val="bg1"/>
              </a:solidFill>
            </a:endParaRPr>
          </a:p>
        </p:txBody>
      </p: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D0688306-CF60-3792-311F-0A0D00FA7404}"/>
              </a:ext>
            </a:extLst>
          </p:cNvPr>
          <p:cNvSpPr/>
          <p:nvPr/>
        </p:nvSpPr>
        <p:spPr>
          <a:xfrm>
            <a:off x="8885581" y="4050990"/>
            <a:ext cx="712098" cy="878556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90000" bIns="90000" rtlCol="0" anchor="t" anchorCtr="0"/>
          <a:lstStyle/>
          <a:p>
            <a:pPr algn="ctr"/>
            <a:endParaRPr lang="en-CH" dirty="0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6075C8-49DC-67C9-0D99-5E1F18F0DD2F}"/>
              </a:ext>
            </a:extLst>
          </p:cNvPr>
          <p:cNvCxnSpPr>
            <a:stCxn id="11" idx="3"/>
            <a:endCxn id="26" idx="1"/>
          </p:cNvCxnSpPr>
          <p:nvPr/>
        </p:nvCxnSpPr>
        <p:spPr>
          <a:xfrm flipV="1">
            <a:off x="7129460" y="4490268"/>
            <a:ext cx="1756121" cy="307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52D953F7-6607-6B8D-6BD8-5C19443DBBC7}"/>
              </a:ext>
            </a:extLst>
          </p:cNvPr>
          <p:cNvCxnSpPr>
            <a:stCxn id="26" idx="2"/>
            <a:endCxn id="15" idx="1"/>
          </p:cNvCxnSpPr>
          <p:nvPr/>
        </p:nvCxnSpPr>
        <p:spPr>
          <a:xfrm rot="5400000" flipH="1">
            <a:off x="7025241" y="2713157"/>
            <a:ext cx="436246" cy="3996532"/>
          </a:xfrm>
          <a:prstGeom prst="curvedConnector4">
            <a:avLst>
              <a:gd name="adj1" fmla="val -199077"/>
              <a:gd name="adj2" fmla="val 129417"/>
            </a:avLst>
          </a:prstGeom>
          <a:ln w="38100"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84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22EF-42EE-FFC5-2561-7A4EE6BB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29A17BE9-980C-4992-DB08-050598E940BA}"/>
              </a:ext>
            </a:extLst>
          </p:cNvPr>
          <p:cNvGrpSpPr/>
          <p:nvPr/>
        </p:nvGrpSpPr>
        <p:grpSpPr>
          <a:xfrm>
            <a:off x="5062535" y="3093046"/>
            <a:ext cx="712100" cy="1582816"/>
            <a:chOff x="5019356" y="3209925"/>
            <a:chExt cx="608966" cy="1582816"/>
          </a:xfrm>
        </p:grpSpPr>
        <p:sp>
          <p:nvSpPr>
            <p:cNvPr id="55" name="Arrow: Chevron 54">
              <a:extLst>
                <a:ext uri="{FF2B5EF4-FFF2-40B4-BE49-F238E27FC236}">
                  <a16:creationId xmlns:a16="http://schemas.microsoft.com/office/drawing/2014/main" id="{7181C262-100E-E9F9-063A-07E5485E47EF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6" name="Arrow: Chevron 55">
              <a:extLst>
                <a:ext uri="{FF2B5EF4-FFF2-40B4-BE49-F238E27FC236}">
                  <a16:creationId xmlns:a16="http://schemas.microsoft.com/office/drawing/2014/main" id="{DAEA6353-0429-9F6E-5C99-6EC45305C1A4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7" name="Arrow: Chevron 56">
              <a:extLst>
                <a:ext uri="{FF2B5EF4-FFF2-40B4-BE49-F238E27FC236}">
                  <a16:creationId xmlns:a16="http://schemas.microsoft.com/office/drawing/2014/main" id="{5284E23A-C257-F3F5-173F-071D1C49236C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53" name="Content Placeholder 16">
            <a:extLst>
              <a:ext uri="{FF2B5EF4-FFF2-40B4-BE49-F238E27FC236}">
                <a16:creationId xmlns:a16="http://schemas.microsoft.com/office/drawing/2014/main" id="{E37B2A45-E80B-9E7A-B91D-FC55C79D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741"/>
            <a:ext cx="10515600" cy="473122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“State of the Art”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5DE94420-D1E6-6792-5509-10210CDD9ED7}"/>
              </a:ext>
            </a:extLst>
          </p:cNvPr>
          <p:cNvSpPr/>
          <p:nvPr/>
        </p:nvSpPr>
        <p:spPr>
          <a:xfrm>
            <a:off x="5062535" y="3701852"/>
            <a:ext cx="712099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9E517237-A8E9-9114-FF00-200D52A63693}"/>
              </a:ext>
            </a:extLst>
          </p:cNvPr>
          <p:cNvSpPr/>
          <p:nvPr/>
        </p:nvSpPr>
        <p:spPr>
          <a:xfrm>
            <a:off x="5062535" y="4310737"/>
            <a:ext cx="712099" cy="365125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A057BB1-4050-1903-F4D9-16C818AFB182}"/>
              </a:ext>
            </a:extLst>
          </p:cNvPr>
          <p:cNvSpPr/>
          <p:nvPr/>
        </p:nvSpPr>
        <p:spPr>
          <a:xfrm>
            <a:off x="5062536" y="3093046"/>
            <a:ext cx="712099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D70170-8972-F613-073F-03257ACC9CFD}"/>
              </a:ext>
            </a:extLst>
          </p:cNvPr>
          <p:cNvGrpSpPr/>
          <p:nvPr/>
        </p:nvGrpSpPr>
        <p:grpSpPr>
          <a:xfrm>
            <a:off x="6417362" y="3093086"/>
            <a:ext cx="712099" cy="1582816"/>
            <a:chOff x="5019356" y="3209925"/>
            <a:chExt cx="608966" cy="158281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0D8814AA-8A8E-E29A-715E-82342B47A1F7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24773C65-9678-8F82-F3F1-52AE6342000B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7694D426-BDC4-7E2F-0271-B5BA197E2BE6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BA5539-A877-A2D4-9527-B49ADC88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Entry-Point Annotation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DF8F2-7ACC-9F5B-20DA-5663A0CB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5CC6-B041-8B59-E168-3A1B05CE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E84F5-C031-6617-E53D-55783772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21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6CCE513A-84B4-80D4-7E6C-B92B0939070D}"/>
              </a:ext>
            </a:extLst>
          </p:cNvPr>
          <p:cNvSpPr/>
          <p:nvPr/>
        </p:nvSpPr>
        <p:spPr>
          <a:xfrm>
            <a:off x="5323840" y="3048636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Contract</a:t>
            </a:r>
            <a:endParaRPr lang="en-CH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E1D872-A3B1-B8D8-8C1D-C511F1A11349}"/>
              </a:ext>
            </a:extLst>
          </p:cNvPr>
          <p:cNvSpPr txBox="1"/>
          <p:nvPr/>
        </p:nvSpPr>
        <p:spPr>
          <a:xfrm>
            <a:off x="2472566" y="3092967"/>
            <a:ext cx="198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  <a:latin typeface="Lucida Console" panose="020B0609040504020204" pitchFamily="49" charset="0"/>
              </a:rPr>
              <a:t>@nonReentrant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9DCF89-2DB9-FC40-EFF0-2A80E58BD6DB}"/>
              </a:ext>
            </a:extLst>
          </p:cNvPr>
          <p:cNvSpPr txBox="1"/>
          <p:nvPr/>
        </p:nvSpPr>
        <p:spPr>
          <a:xfrm>
            <a:off x="2472565" y="3701852"/>
            <a:ext cx="198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  <a:latin typeface="Lucida Console" panose="020B0609040504020204" pitchFamily="49" charset="0"/>
              </a:rPr>
              <a:t>@nonReentrant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60ABB859-63FF-972F-A052-81761A80E7D6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H="1" flipV="1">
            <a:off x="5245098" y="4493300"/>
            <a:ext cx="1884362" cy="40"/>
          </a:xfrm>
          <a:prstGeom prst="curvedConnector5">
            <a:avLst>
              <a:gd name="adj1" fmla="val -9406"/>
              <a:gd name="adj2" fmla="val -2147483647"/>
              <a:gd name="adj3" fmla="val 1209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F6CDFC3C-F582-7A56-4A34-484B67D40668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 flipH="1">
            <a:off x="5245098" y="3884455"/>
            <a:ext cx="1884362" cy="608845"/>
          </a:xfrm>
          <a:prstGeom prst="curvedConnector5">
            <a:avLst>
              <a:gd name="adj1" fmla="val -27800"/>
              <a:gd name="adj2" fmla="val 295616"/>
              <a:gd name="adj3" fmla="val 1369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46107812-5CB6-45FD-7840-D736015C1862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H="1">
            <a:off x="5245098" y="3275649"/>
            <a:ext cx="1884363" cy="1217651"/>
          </a:xfrm>
          <a:prstGeom prst="curvedConnector5">
            <a:avLst>
              <a:gd name="adj1" fmla="val -45492"/>
              <a:gd name="adj2" fmla="val 222876"/>
              <a:gd name="adj3" fmla="val 15509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3748925-2359-B53F-070B-44E01DC30D58}"/>
              </a:ext>
            </a:extLst>
          </p:cNvPr>
          <p:cNvSpPr txBox="1"/>
          <p:nvPr/>
        </p:nvSpPr>
        <p:spPr>
          <a:xfrm>
            <a:off x="8222982" y="4445029"/>
            <a:ext cx="3740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Potential vulnerabilities!</a:t>
            </a:r>
          </a:p>
        </p:txBody>
      </p:sp>
      <p:pic>
        <p:nvPicPr>
          <p:cNvPr id="58" name="Graphic 57" descr="Shield Tick with solid fill">
            <a:extLst>
              <a:ext uri="{FF2B5EF4-FFF2-40B4-BE49-F238E27FC236}">
                <a16:creationId xmlns:a16="http://schemas.microsoft.com/office/drawing/2014/main" id="{2FFB1D0A-3BB1-C015-1BD7-089B2119B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0393" y="3013947"/>
            <a:ext cx="523404" cy="523404"/>
          </a:xfrm>
          <a:prstGeom prst="rect">
            <a:avLst/>
          </a:prstGeom>
        </p:spPr>
      </p:pic>
      <p:pic>
        <p:nvPicPr>
          <p:cNvPr id="60" name="Graphic 59" descr="Shield Tick with solid fill">
            <a:extLst>
              <a:ext uri="{FF2B5EF4-FFF2-40B4-BE49-F238E27FC236}">
                <a16:creationId xmlns:a16="http://schemas.microsoft.com/office/drawing/2014/main" id="{D97D1439-A1CC-E988-DF2F-1F557BACE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0393" y="3600023"/>
            <a:ext cx="523404" cy="52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3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9" grpId="0"/>
      <p:bldP spid="20" grpId="0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5A37-4206-8B87-3338-F100109C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7D13443-E111-32FA-4D08-CE43FBA50FC1}"/>
              </a:ext>
            </a:extLst>
          </p:cNvPr>
          <p:cNvGrpSpPr/>
          <p:nvPr/>
        </p:nvGrpSpPr>
        <p:grpSpPr>
          <a:xfrm>
            <a:off x="6417362" y="3093086"/>
            <a:ext cx="712099" cy="1582816"/>
            <a:chOff x="5019356" y="3209925"/>
            <a:chExt cx="608966" cy="1582816"/>
          </a:xfrm>
        </p:grpSpPr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03951020-25DC-762C-EB40-EC3B437017D1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9" name="Arrow: Chevron 38">
              <a:extLst>
                <a:ext uri="{FF2B5EF4-FFF2-40B4-BE49-F238E27FC236}">
                  <a16:creationId xmlns:a16="http://schemas.microsoft.com/office/drawing/2014/main" id="{3B718ADD-727C-5EB5-99B6-A8A06FE932B3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F27E2073-E8B8-96F3-67ED-AA4B3DB6E189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BEE0B7F-346D-0A42-B6DC-C1A77A2C4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Next natural approach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D6EB93-C4A3-26E3-41ED-A352D9DA8131}"/>
              </a:ext>
            </a:extLst>
          </p:cNvPr>
          <p:cNvGrpSpPr/>
          <p:nvPr/>
        </p:nvGrpSpPr>
        <p:grpSpPr>
          <a:xfrm>
            <a:off x="5062535" y="3093046"/>
            <a:ext cx="712100" cy="1582816"/>
            <a:chOff x="5019356" y="3209925"/>
            <a:chExt cx="608966" cy="1582816"/>
          </a:xfrm>
        </p:grpSpPr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1F522721-2883-E5E0-8399-63E74D8188D5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14B06BD-3088-2B26-15D9-44AB952EBBC1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F3ABE4DE-654D-3287-329A-DD6904668034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4C131F5-9F72-0362-1C09-2A3F9EF9FFDA}"/>
              </a:ext>
            </a:extLst>
          </p:cNvPr>
          <p:cNvSpPr/>
          <p:nvPr/>
        </p:nvSpPr>
        <p:spPr>
          <a:xfrm>
            <a:off x="6417362" y="3701892"/>
            <a:ext cx="712098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BCD2879-DB97-E293-07B5-672EDC04FC7F}"/>
              </a:ext>
            </a:extLst>
          </p:cNvPr>
          <p:cNvSpPr/>
          <p:nvPr/>
        </p:nvSpPr>
        <p:spPr>
          <a:xfrm>
            <a:off x="6417362" y="4310777"/>
            <a:ext cx="712098" cy="365125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26EA6E38-8BE1-D29E-7D3A-3E1F55B7288E}"/>
              </a:ext>
            </a:extLst>
          </p:cNvPr>
          <p:cNvSpPr/>
          <p:nvPr/>
        </p:nvSpPr>
        <p:spPr>
          <a:xfrm>
            <a:off x="6417363" y="3093086"/>
            <a:ext cx="712098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14E70-D385-DF5D-679A-AC4F319E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Call-Site Annotation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8F693-C2D2-6DF5-2277-30CD0F2D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9EBD7-6492-B745-18AB-7C64ED3AB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E1DE-3D1C-0356-43AA-AFBC5939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22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D54C776E-89DE-F756-7C69-D72A79C0CCFB}"/>
              </a:ext>
            </a:extLst>
          </p:cNvPr>
          <p:cNvSpPr/>
          <p:nvPr/>
        </p:nvSpPr>
        <p:spPr>
          <a:xfrm>
            <a:off x="5323840" y="3048636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pPr algn="ctr"/>
            <a:r>
              <a:rPr lang="en-CH" dirty="0">
                <a:solidFill>
                  <a:schemeClr val="bg1"/>
                </a:solidFill>
              </a:rPr>
              <a:t>Contract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5AACC9F-BC14-73B5-033C-BA3CF057575B}"/>
              </a:ext>
            </a:extLst>
          </p:cNvPr>
          <p:cNvCxnSpPr/>
          <p:nvPr/>
        </p:nvCxnSpPr>
        <p:spPr>
          <a:xfrm flipH="1" flipV="1">
            <a:off x="5245098" y="4493300"/>
            <a:ext cx="1884362" cy="40"/>
          </a:xfrm>
          <a:prstGeom prst="curvedConnector5">
            <a:avLst>
              <a:gd name="adj1" fmla="val -9406"/>
              <a:gd name="adj2" fmla="val -2147483647"/>
              <a:gd name="adj3" fmla="val 122867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1FA479-2DDD-D6F8-119F-2064C0DBC218}"/>
              </a:ext>
            </a:extLst>
          </p:cNvPr>
          <p:cNvSpPr txBox="1"/>
          <p:nvPr/>
        </p:nvSpPr>
        <p:spPr>
          <a:xfrm>
            <a:off x="7616686" y="3075738"/>
            <a:ext cx="198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  <a:latin typeface="Lucida Console" panose="020B0609040504020204" pitchFamily="49" charset="0"/>
              </a:rPr>
              <a:t>@nonReentrant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A967D0-B982-75F3-851D-4768DB3F4643}"/>
              </a:ext>
            </a:extLst>
          </p:cNvPr>
          <p:cNvSpPr txBox="1"/>
          <p:nvPr/>
        </p:nvSpPr>
        <p:spPr>
          <a:xfrm>
            <a:off x="7616685" y="3684623"/>
            <a:ext cx="198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  <a:latin typeface="Lucida Console" panose="020B0609040504020204" pitchFamily="49" charset="0"/>
              </a:rPr>
              <a:t>@nonReentrant</a:t>
            </a:r>
          </a:p>
        </p:txBody>
      </p:sp>
      <p:pic>
        <p:nvPicPr>
          <p:cNvPr id="23" name="Graphic 22" descr="Shield Tick with solid fill">
            <a:extLst>
              <a:ext uri="{FF2B5EF4-FFF2-40B4-BE49-F238E27FC236}">
                <a16:creationId xmlns:a16="http://schemas.microsoft.com/office/drawing/2014/main" id="{295B4F4D-6215-8EA5-1D20-55FC58C34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9460" y="3006249"/>
            <a:ext cx="523404" cy="523404"/>
          </a:xfrm>
          <a:prstGeom prst="rect">
            <a:avLst/>
          </a:prstGeom>
        </p:spPr>
      </p:pic>
      <p:pic>
        <p:nvPicPr>
          <p:cNvPr id="24" name="Graphic 23" descr="Shield Tick with solid fill">
            <a:extLst>
              <a:ext uri="{FF2B5EF4-FFF2-40B4-BE49-F238E27FC236}">
                <a16:creationId xmlns:a16="http://schemas.microsoft.com/office/drawing/2014/main" id="{006F46F1-E9F6-82D1-D798-D8D97E7DF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9460" y="3592325"/>
            <a:ext cx="523404" cy="523404"/>
          </a:xfrm>
          <a:prstGeom prst="rect">
            <a:avLst/>
          </a:prstGeom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21CD2E69-59A6-FBAA-DEDE-0549206ABFC9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H="1" flipV="1">
            <a:off x="5245098" y="3884415"/>
            <a:ext cx="1884362" cy="608925"/>
          </a:xfrm>
          <a:prstGeom prst="curvedConnector5">
            <a:avLst>
              <a:gd name="adj1" fmla="val -19344"/>
              <a:gd name="adj2" fmla="val -223952"/>
              <a:gd name="adj3" fmla="val 138361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645A902C-6EB9-60F3-107D-2E16026AE1FD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 flipH="1" flipV="1">
            <a:off x="5245099" y="3275609"/>
            <a:ext cx="1884361" cy="1217731"/>
          </a:xfrm>
          <a:prstGeom prst="curvedConnector5">
            <a:avLst>
              <a:gd name="adj1" fmla="val -39673"/>
              <a:gd name="adj2" fmla="val -135697"/>
              <a:gd name="adj3" fmla="val 158034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FFE0999-08EC-2D44-F4F3-EE24933A1999}"/>
              </a:ext>
            </a:extLst>
          </p:cNvPr>
          <p:cNvSpPr txBox="1"/>
          <p:nvPr/>
        </p:nvSpPr>
        <p:spPr>
          <a:xfrm>
            <a:off x="660647" y="4953952"/>
            <a:ext cx="3740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Potential vulnerabilities!</a:t>
            </a:r>
          </a:p>
        </p:txBody>
      </p:sp>
    </p:spTree>
    <p:extLst>
      <p:ext uri="{BB962C8B-B14F-4D97-AF65-F5344CB8AC3E}">
        <p14:creationId xmlns:p14="http://schemas.microsoft.com/office/powerpoint/2010/main" val="202234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 animBg="1"/>
      <p:bldP spid="19" grpId="0"/>
      <p:bldP spid="20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311D-9CDB-2CD2-ABD7-20CC4096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7B797-63ED-2365-0A32-B3E6F2734DFC}"/>
              </a:ext>
            </a:extLst>
          </p:cNvPr>
          <p:cNvGrpSpPr/>
          <p:nvPr/>
        </p:nvGrpSpPr>
        <p:grpSpPr>
          <a:xfrm>
            <a:off x="5062535" y="3093046"/>
            <a:ext cx="712100" cy="1582816"/>
            <a:chOff x="5019356" y="3209925"/>
            <a:chExt cx="608966" cy="1582816"/>
          </a:xfrm>
        </p:grpSpPr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F5C2BB0B-1527-3E11-F377-883467FBF068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12E59E8E-7128-4DCE-D88A-B8B8D7E8465F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EB1338B2-34AD-F5D6-D6DE-7749C28D9602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74729A-D0F7-48A7-32D3-4EC01F077E8A}"/>
              </a:ext>
            </a:extLst>
          </p:cNvPr>
          <p:cNvGrpSpPr/>
          <p:nvPr/>
        </p:nvGrpSpPr>
        <p:grpSpPr>
          <a:xfrm>
            <a:off x="6417362" y="3093086"/>
            <a:ext cx="712099" cy="1582816"/>
            <a:chOff x="5019356" y="3209925"/>
            <a:chExt cx="608966" cy="158281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3B0BFA96-0743-E0F5-2CDC-360CEF8C120D}"/>
                </a:ext>
              </a:extLst>
            </p:cNvPr>
            <p:cNvSpPr/>
            <p:nvPr/>
          </p:nvSpPr>
          <p:spPr>
            <a:xfrm>
              <a:off x="5019356" y="3818731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B79974FA-00A6-EF79-2F3F-DA922827349B}"/>
                </a:ext>
              </a:extLst>
            </p:cNvPr>
            <p:cNvSpPr/>
            <p:nvPr/>
          </p:nvSpPr>
          <p:spPr>
            <a:xfrm>
              <a:off x="5019356" y="4427616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E6FAE4B9-2421-04F5-D8CF-6CB546108002}"/>
                </a:ext>
              </a:extLst>
            </p:cNvPr>
            <p:cNvSpPr/>
            <p:nvPr/>
          </p:nvSpPr>
          <p:spPr>
            <a:xfrm>
              <a:off x="5019357" y="3209925"/>
              <a:ext cx="608965" cy="365125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B28EAA-6511-EA62-377B-01527F174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 Path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1835D-967C-E867-AE88-BFD51522F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65" y="1532238"/>
            <a:ext cx="9045146" cy="4644725"/>
          </a:xfrm>
        </p:spPr>
        <p:txBody>
          <a:bodyPr>
            <a:normAutofit/>
          </a:bodyPr>
          <a:lstStyle/>
          <a:p>
            <a:r>
              <a:rPr lang="en-GB" dirty="0"/>
              <a:t>Safety by default</a:t>
            </a:r>
          </a:p>
          <a:p>
            <a:r>
              <a:rPr lang="en-GB" dirty="0"/>
              <a:t>Call site annotation </a:t>
            </a:r>
            <a:r>
              <a:rPr lang="en-GB" sz="2400" i="1" kern="0" dirty="0"/>
              <a:t>specifying the entry point!</a:t>
            </a:r>
            <a:endParaRPr lang="en-GB" sz="2400" kern="0" dirty="0"/>
          </a:p>
          <a:p>
            <a:r>
              <a:rPr lang="en-GB" dirty="0"/>
              <a:t>“Unlock” entry</a:t>
            </a:r>
            <a:br>
              <a:rPr lang="en-GB" dirty="0"/>
            </a:br>
            <a:r>
              <a:rPr lang="en-GB" dirty="0"/>
              <a:t>point at runtime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Only the desired call</a:t>
            </a:r>
            <a:br>
              <a:rPr lang="en-GB" dirty="0"/>
            </a:br>
            <a:r>
              <a:rPr lang="en-GB" dirty="0"/>
              <a:t>path is possible!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F9FE0-1C1A-0293-4D64-059FB086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8A1A-391F-6EE0-DE5C-BD8DC11E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9C3CC-5F7A-DB28-835C-48A1831F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23</a:t>
            </a:fld>
            <a:r>
              <a:rPr lang="en-CH"/>
              <a:t> / XX</a:t>
            </a:r>
            <a:endParaRPr lang="en-CH" dirty="0"/>
          </a:p>
        </p:txBody>
      </p:sp>
      <p:pic>
        <p:nvPicPr>
          <p:cNvPr id="8" name="Graphic 7" descr="Shield Tick with solid fill">
            <a:extLst>
              <a:ext uri="{FF2B5EF4-FFF2-40B4-BE49-F238E27FC236}">
                <a16:creationId xmlns:a16="http://schemas.microsoft.com/office/drawing/2014/main" id="{68A8A645-8193-3BE0-AEFF-57048E6E2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9460" y="3006249"/>
            <a:ext cx="523404" cy="523404"/>
          </a:xfrm>
          <a:prstGeom prst="rect">
            <a:avLst/>
          </a:prstGeom>
        </p:spPr>
      </p:pic>
      <p:pic>
        <p:nvPicPr>
          <p:cNvPr id="17" name="Graphic 16" descr="Shield Tick with solid fill">
            <a:extLst>
              <a:ext uri="{FF2B5EF4-FFF2-40B4-BE49-F238E27FC236}">
                <a16:creationId xmlns:a16="http://schemas.microsoft.com/office/drawing/2014/main" id="{6A430F5F-3353-D54C-F733-C139708B2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9460" y="3592325"/>
            <a:ext cx="523404" cy="5234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294946-E96C-7518-3566-AB78645A7524}"/>
              </a:ext>
            </a:extLst>
          </p:cNvPr>
          <p:cNvSpPr txBox="1"/>
          <p:nvPr/>
        </p:nvSpPr>
        <p:spPr>
          <a:xfrm>
            <a:off x="7510888" y="4306530"/>
            <a:ext cx="198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/>
                </a:solidFill>
                <a:latin typeface="Lucida Console" panose="020B0609040504020204" pitchFamily="49" charset="0"/>
              </a:rPr>
              <a:t>@reenter(</a:t>
            </a:r>
            <a:r>
              <a:rPr lang="en-GB" b="1" dirty="0">
                <a:solidFill>
                  <a:schemeClr val="accent5"/>
                </a:solidFill>
              </a:rPr>
              <a:t>C</a:t>
            </a:r>
            <a:r>
              <a:rPr lang="en-GB" dirty="0">
                <a:solidFill>
                  <a:schemeClr val="accent5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4DAB3A7D-94CC-47C4-EF89-1F461B6663AD}"/>
              </a:ext>
            </a:extLst>
          </p:cNvPr>
          <p:cNvSpPr/>
          <p:nvPr/>
        </p:nvSpPr>
        <p:spPr>
          <a:xfrm>
            <a:off x="7035113" y="5078849"/>
            <a:ext cx="712098" cy="878556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90000" bIns="90000" rtlCol="0" anchor="t" anchorCtr="0"/>
          <a:lstStyle/>
          <a:p>
            <a:pPr algn="ctr"/>
            <a:endParaRPr lang="en-CH" dirty="0">
              <a:solidFill>
                <a:schemeClr val="bg1"/>
              </a:solidFill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09E8DB8-BED1-D6BE-7420-19A67224BEF9}"/>
              </a:ext>
            </a:extLst>
          </p:cNvPr>
          <p:cNvCxnSpPr>
            <a:stCxn id="11" idx="3"/>
            <a:endCxn id="19" idx="0"/>
          </p:cNvCxnSpPr>
          <p:nvPr/>
        </p:nvCxnSpPr>
        <p:spPr>
          <a:xfrm>
            <a:off x="7129460" y="4493340"/>
            <a:ext cx="261702" cy="585509"/>
          </a:xfrm>
          <a:prstGeom prst="bentConnector2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9D281DC9-FBCA-4D1D-E170-2810666AA4C2}"/>
              </a:ext>
            </a:extLst>
          </p:cNvPr>
          <p:cNvCxnSpPr>
            <a:stCxn id="19" idx="1"/>
            <a:endCxn id="15" idx="1"/>
          </p:cNvCxnSpPr>
          <p:nvPr/>
        </p:nvCxnSpPr>
        <p:spPr>
          <a:xfrm rot="10800000">
            <a:off x="5245099" y="4493301"/>
            <a:ext cx="1790015" cy="1024827"/>
          </a:xfrm>
          <a:prstGeom prst="curvedConnector3">
            <a:avLst>
              <a:gd name="adj1" fmla="val 150583"/>
            </a:avLst>
          </a:prstGeom>
          <a:ln w="38100"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8" name="Graphic 27" descr="Shield Tick with solid fill">
            <a:extLst>
              <a:ext uri="{FF2B5EF4-FFF2-40B4-BE49-F238E27FC236}">
                <a16:creationId xmlns:a16="http://schemas.microsoft.com/office/drawing/2014/main" id="{EB306A0D-AC47-8BF6-59FF-9EA0284AB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8734" y="3006249"/>
            <a:ext cx="523404" cy="523404"/>
          </a:xfrm>
          <a:prstGeom prst="rect">
            <a:avLst/>
          </a:prstGeom>
        </p:spPr>
      </p:pic>
      <p:pic>
        <p:nvPicPr>
          <p:cNvPr id="30" name="Graphic 29" descr="Shield Tick with solid fill">
            <a:extLst>
              <a:ext uri="{FF2B5EF4-FFF2-40B4-BE49-F238E27FC236}">
                <a16:creationId xmlns:a16="http://schemas.microsoft.com/office/drawing/2014/main" id="{E3DE3299-F774-E517-2482-3E302D201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8734" y="3592325"/>
            <a:ext cx="523404" cy="523404"/>
          </a:xfrm>
          <a:prstGeom prst="rect">
            <a:avLst/>
          </a:prstGeom>
        </p:spPr>
      </p:pic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D93CC7F2-2101-79B8-A354-33829FF69040}"/>
              </a:ext>
            </a:extLst>
          </p:cNvPr>
          <p:cNvSpPr/>
          <p:nvPr/>
        </p:nvSpPr>
        <p:spPr>
          <a:xfrm>
            <a:off x="6417360" y="3701852"/>
            <a:ext cx="712098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BC8DB58F-D0C3-163C-D6CC-0876568A0063}"/>
              </a:ext>
            </a:extLst>
          </p:cNvPr>
          <p:cNvSpPr/>
          <p:nvPr/>
        </p:nvSpPr>
        <p:spPr>
          <a:xfrm>
            <a:off x="6417358" y="4310737"/>
            <a:ext cx="712098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93A45F29-F040-8F9C-2DFA-DE1C0C400CF2}"/>
              </a:ext>
            </a:extLst>
          </p:cNvPr>
          <p:cNvSpPr/>
          <p:nvPr/>
        </p:nvSpPr>
        <p:spPr>
          <a:xfrm>
            <a:off x="6417358" y="4310618"/>
            <a:ext cx="712098" cy="365125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97FFD1D5-3453-61CC-E712-EDA199EE6367}"/>
              </a:ext>
            </a:extLst>
          </p:cNvPr>
          <p:cNvSpPr/>
          <p:nvPr/>
        </p:nvSpPr>
        <p:spPr>
          <a:xfrm>
            <a:off x="6417361" y="3093046"/>
            <a:ext cx="712098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42E5F359-EC1B-520E-25A3-4C81A60E427F}"/>
              </a:ext>
            </a:extLst>
          </p:cNvPr>
          <p:cNvSpPr/>
          <p:nvPr/>
        </p:nvSpPr>
        <p:spPr>
          <a:xfrm>
            <a:off x="5062534" y="3701852"/>
            <a:ext cx="712099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97983524-5C6D-F560-1944-3EFD121819D4}"/>
              </a:ext>
            </a:extLst>
          </p:cNvPr>
          <p:cNvSpPr/>
          <p:nvPr/>
        </p:nvSpPr>
        <p:spPr>
          <a:xfrm>
            <a:off x="5062137" y="4310776"/>
            <a:ext cx="712099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A41786B4-B6BD-D2B5-F8CE-A6666359C500}"/>
              </a:ext>
            </a:extLst>
          </p:cNvPr>
          <p:cNvSpPr/>
          <p:nvPr/>
        </p:nvSpPr>
        <p:spPr>
          <a:xfrm>
            <a:off x="5062534" y="4310737"/>
            <a:ext cx="712099" cy="365125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C932F9BC-7EA6-2E5A-B1D5-3271B6CB4995}"/>
              </a:ext>
            </a:extLst>
          </p:cNvPr>
          <p:cNvSpPr/>
          <p:nvPr/>
        </p:nvSpPr>
        <p:spPr>
          <a:xfrm>
            <a:off x="5062535" y="3093046"/>
            <a:ext cx="712099" cy="365125"/>
          </a:xfrm>
          <a:prstGeom prst="chevr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08376A6-237A-972C-88C8-FC882B959E2F}"/>
              </a:ext>
            </a:extLst>
          </p:cNvPr>
          <p:cNvSpPr/>
          <p:nvPr/>
        </p:nvSpPr>
        <p:spPr>
          <a:xfrm>
            <a:off x="5323840" y="3048636"/>
            <a:ext cx="1544320" cy="1905316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0000" bIns="90000" rtlCol="0" anchor="t" anchorCtr="0"/>
          <a:lstStyle/>
          <a:p>
            <a:r>
              <a:rPr lang="en-GB" sz="2000" b="1" dirty="0">
                <a:solidFill>
                  <a:schemeClr val="bg1"/>
                </a:solidFill>
              </a:rPr>
              <a:t>A</a:t>
            </a:r>
          </a:p>
          <a:p>
            <a:endParaRPr lang="en-GB" sz="2000" b="1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B</a:t>
            </a:r>
          </a:p>
          <a:p>
            <a:endParaRPr lang="en-GB" sz="2000" b="1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C</a:t>
            </a:r>
            <a:endParaRPr lang="en-CH" sz="2000" b="1" dirty="0">
              <a:solidFill>
                <a:schemeClr val="bg1"/>
              </a:solidFill>
            </a:endParaRPr>
          </a:p>
        </p:txBody>
      </p:sp>
      <p:pic>
        <p:nvPicPr>
          <p:cNvPr id="39" name="Graphic 38" descr="Shield Tick with solid fill">
            <a:extLst>
              <a:ext uri="{FF2B5EF4-FFF2-40B4-BE49-F238E27FC236}">
                <a16:creationId xmlns:a16="http://schemas.microsoft.com/office/drawing/2014/main" id="{056E8BAA-961F-BD03-4CB9-C709C3FFF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9456" y="4225256"/>
            <a:ext cx="523404" cy="523404"/>
          </a:xfrm>
          <a:prstGeom prst="rect">
            <a:avLst/>
          </a:prstGeom>
        </p:spPr>
      </p:pic>
      <p:pic>
        <p:nvPicPr>
          <p:cNvPr id="40" name="Graphic 39" descr="Shield Tick with solid fill">
            <a:extLst>
              <a:ext uri="{FF2B5EF4-FFF2-40B4-BE49-F238E27FC236}">
                <a16:creationId xmlns:a16="http://schemas.microsoft.com/office/drawing/2014/main" id="{9080BD5E-8255-FA97-32AB-C83E8BD62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8734" y="4225256"/>
            <a:ext cx="523404" cy="523404"/>
          </a:xfrm>
          <a:prstGeom prst="rect">
            <a:avLst/>
          </a:prstGeom>
        </p:spPr>
      </p:pic>
      <p:pic>
        <p:nvPicPr>
          <p:cNvPr id="43" name="Graphic 42" descr="Unlock with solid fill">
            <a:extLst>
              <a:ext uri="{FF2B5EF4-FFF2-40B4-BE49-F238E27FC236}">
                <a16:creationId xmlns:a16="http://schemas.microsoft.com/office/drawing/2014/main" id="{12E3D412-AC2E-DA24-2348-28B1E8307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1503" y="425835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0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/>
      <p:bldP spid="19" grpId="0" animBg="1"/>
      <p:bldP spid="32" grpId="0" animBg="1"/>
      <p:bldP spid="38" grpId="0" animBg="1"/>
      <p:bldP spid="33" grpId="0" animBg="1"/>
      <p:bldP spid="34" grpId="0" animBg="1"/>
      <p:bldP spid="35" grpId="0" animBg="1"/>
      <p:bldP spid="41" grpId="0" animBg="1"/>
      <p:bldP spid="36" grpId="0" animBg="1"/>
      <p:bldP spid="3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3DA1-AE7A-6A65-0AC8-E2A706F3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Side Effects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9D85-E6C7-F46C-0946-99D275B65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Blockchain state is the only thing that persists</a:t>
            </a:r>
          </a:p>
          <a:p>
            <a:pPr lvl="1"/>
            <a:r>
              <a:rPr lang="en-CH" dirty="0"/>
              <a:t>execution only serves to determine state changes</a:t>
            </a:r>
          </a:p>
          <a:p>
            <a:r>
              <a:rPr lang="en-CH" dirty="0"/>
              <a:t>Ordering is important!</a:t>
            </a:r>
          </a:p>
          <a:p>
            <a:pPr lvl="1"/>
            <a:r>
              <a:rPr lang="en-CH" dirty="0"/>
              <a:t>Solidity and </a:t>
            </a:r>
            <a:r>
              <a:rPr lang="en-CH" dirty="0" err="1"/>
              <a:t>Vyper</a:t>
            </a:r>
            <a:r>
              <a:rPr lang="en-CH" dirty="0"/>
              <a:t> have ambiguous execution order</a:t>
            </a:r>
          </a:p>
          <a:p>
            <a:pPr lvl="2"/>
            <a:r>
              <a:rPr lang="en-CH" dirty="0"/>
              <a:t>e.g. </a:t>
            </a:r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f</a:t>
            </a:r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(</a:t>
            </a:r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g</a:t>
            </a:r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()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CH" dirty="0">
                <a:latin typeface="Lucida Console" panose="020B0609040504020204" pitchFamily="49" charset="0"/>
              </a:rPr>
              <a:t> </a:t>
            </a:r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h</a:t>
            </a:r>
            <a:r>
              <a:rPr lang="en-CH" dirty="0">
                <a:solidFill>
                  <a:schemeClr val="accent3"/>
                </a:solidFill>
                <a:latin typeface="Lucida Console" panose="020B0609040504020204" pitchFamily="49" charset="0"/>
              </a:rPr>
              <a:t>()</a:t>
            </a:r>
            <a:r>
              <a:rPr lang="en-CH" dirty="0">
                <a:solidFill>
                  <a:schemeClr val="accent1"/>
                </a:solidFill>
                <a:latin typeface="Lucida Console" panose="020B0609040504020204" pitchFamily="49" charset="0"/>
              </a:rPr>
              <a:t>) </a:t>
            </a:r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CH" dirty="0"/>
              <a:t>no warning!</a:t>
            </a:r>
          </a:p>
          <a:p>
            <a:pPr marL="0" indent="0">
              <a:buNone/>
            </a:pPr>
            <a:endParaRPr lang="en-CH" dirty="0"/>
          </a:p>
          <a:p>
            <a:r>
              <a:rPr lang="en-CH" dirty="0"/>
              <a:t>Auditor’s perspective:</a:t>
            </a:r>
          </a:p>
          <a:p>
            <a:pPr lvl="1"/>
            <a:r>
              <a:rPr lang="en-CH" dirty="0"/>
              <a:t>Which entry-points cause which side effects?</a:t>
            </a:r>
          </a:p>
          <a:p>
            <a:pPr lvl="1"/>
            <a:r>
              <a:rPr lang="en-CH" dirty="0"/>
              <a:t>Which effects may have unexpected interactions?</a:t>
            </a:r>
          </a:p>
          <a:p>
            <a:pPr lvl="1"/>
            <a:r>
              <a:rPr lang="en-CH" dirty="0"/>
              <a:t>Can side effects violate contract invariants?</a:t>
            </a:r>
          </a:p>
          <a:p>
            <a:endParaRPr lang="en-CH" dirty="0"/>
          </a:p>
          <a:p>
            <a:endParaRPr lang="en-CH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C3E02-69EB-3F11-AB27-F4DECABB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DAF33-12F0-7C10-0A41-5821AA64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81EEE-094C-6BDC-2A17-C5711190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24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45959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2A0E-AF0D-57FD-A52E-B67C83F6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Side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8CE39-FBCF-1731-012A-BAB1B188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How can we help developers / auditors manage side effects?</a:t>
            </a:r>
          </a:p>
          <a:p>
            <a:pPr lvl="1"/>
            <a:r>
              <a:rPr lang="en-CH" dirty="0"/>
              <a:t>Make them explicit (no “hidden” / implicit effects)</a:t>
            </a:r>
          </a:p>
          <a:p>
            <a:pPr lvl="1"/>
            <a:r>
              <a:rPr lang="en-CH" dirty="0"/>
              <a:t>Never allow ambiguous orderings</a:t>
            </a:r>
          </a:p>
          <a:p>
            <a:pPr lvl="1"/>
            <a:endParaRPr lang="en-CH" dirty="0"/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0FC6E-931F-9CB6-1CC2-0A601210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25618-9A56-E0D9-8725-A6CE2E4E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50307-901F-096A-27AF-165F6F1B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25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247205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0D235-5391-6041-27DD-645EB7A9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B33A-3BA8-F5F2-90AF-E9D267A53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Side Effects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551274E-5B88-B413-8C0A-EB3D995B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C8027EE-2D8D-4737-003E-417AA169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Eliminating Reentrancy through Language Design</a:t>
            </a:r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357E5AD-CFFD-A13B-184B-D33E6AE2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3ED95-016C-42D7-B550-5C99AA40E4D5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XX</a:t>
            </a:r>
            <a:endParaRPr kumimoji="0" lang="en-CH" sz="1200" b="0" i="0" u="none" strike="noStrike" kern="120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C35EB-1F14-1F58-3578-2E767AA9A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678680" cy="4351338"/>
          </a:xfrm>
        </p:spPr>
        <p:txBody>
          <a:bodyPr/>
          <a:lstStyle/>
          <a:p>
            <a:pPr marL="0" indent="0">
              <a:buNone/>
            </a:pPr>
            <a:endParaRPr lang="en-CH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FFB9B9-863F-D474-8ED9-85AA4AF2C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418" y="921488"/>
            <a:ext cx="4798381" cy="5277700"/>
          </a:xfrm>
        </p:spPr>
        <p:txBody>
          <a:bodyPr/>
          <a:lstStyle/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  </a:t>
            </a:r>
            <a:endParaRPr lang="en-CH" dirty="0">
              <a:solidFill>
                <a:schemeClr val="accent4"/>
              </a:solidFill>
            </a:endParaRPr>
          </a:p>
          <a:p>
            <a:r>
              <a:rPr lang="en-CH" dirty="0">
                <a:solidFill>
                  <a:schemeClr val="accent4"/>
                </a:solidFill>
              </a:rPr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5"/>
                </a:solidFill>
              </a:rPr>
              <a:t>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7F6979-58E7-7427-84E9-989BCA2CDE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0" y="921488"/>
            <a:ext cx="438016" cy="5277700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A47716-12F0-B4A9-52F2-6554B474D34C}"/>
              </a:ext>
            </a:extLst>
          </p:cNvPr>
          <p:cNvCxnSpPr>
            <a:cxnSpLocks/>
          </p:cNvCxnSpPr>
          <p:nvPr/>
        </p:nvCxnSpPr>
        <p:spPr>
          <a:xfrm>
            <a:off x="6562506" y="921488"/>
            <a:ext cx="0" cy="52777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727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C5F3-4B11-87AC-74AE-8337ED4B9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0A3C-0C77-BC72-9CCE-E138D82A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Side Effects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4B738AA-1444-5EFB-F19D-35970958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4B9508E-6E30-F9CF-70AD-036B6A97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Eliminating Reentrancy through Language Design</a:t>
            </a:r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72FA0B-F9D4-07B8-4072-8BF51645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3ED95-016C-42D7-B550-5C99AA40E4D5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XX</a:t>
            </a:r>
            <a:endParaRPr kumimoji="0" lang="en-CH" sz="1200" b="0" i="0" u="none" strike="noStrike" kern="120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A9375-C0F4-21E7-B7DA-4FB70E899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678680" cy="4351338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Issue 1:</a:t>
            </a:r>
          </a:p>
          <a:p>
            <a:pPr marL="0" indent="0">
              <a:buNone/>
            </a:pPr>
            <a:r>
              <a:rPr lang="en-CH" dirty="0"/>
              <a:t>Determine effects without reading </a:t>
            </a:r>
            <a:r>
              <a:rPr lang="en-CH" sz="2400" dirty="0">
                <a:solidFill>
                  <a:schemeClr val="accent1"/>
                </a:solidFill>
                <a:latin typeface="Lucida Console" panose="020B0609040504020204" pitchFamily="49" charset="0"/>
              </a:rPr>
              <a:t>fn</a:t>
            </a:r>
            <a:r>
              <a:rPr lang="en-CH" dirty="0"/>
              <a:t> body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Issue 2:</a:t>
            </a:r>
          </a:p>
          <a:p>
            <a:pPr marL="0" indent="0">
              <a:buNone/>
            </a:pPr>
            <a:r>
              <a:rPr lang="en-CH" dirty="0"/>
              <a:t>Hidden side effects in syntax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AE32DE-537D-2748-7F43-922BCB0D9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418" y="921488"/>
            <a:ext cx="4798381" cy="5277700"/>
          </a:xfrm>
        </p:spPr>
        <p:txBody>
          <a:bodyPr/>
          <a:lstStyle/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  </a:t>
            </a:r>
            <a:endParaRPr lang="en-CH" dirty="0">
              <a:solidFill>
                <a:schemeClr val="accent4"/>
              </a:solidFill>
            </a:endParaRPr>
          </a:p>
          <a:p>
            <a:r>
              <a:rPr lang="en-CH" dirty="0">
                <a:solidFill>
                  <a:schemeClr val="accent4"/>
                </a:solidFill>
              </a:rPr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5"/>
                </a:solidFill>
              </a:rPr>
              <a:t>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81996E3-ED27-7A5B-37B3-0394B5459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0" y="921488"/>
            <a:ext cx="438016" cy="5277700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26CA50-B653-FBF7-CB47-4A64A09ED0C3}"/>
              </a:ext>
            </a:extLst>
          </p:cNvPr>
          <p:cNvCxnSpPr>
            <a:cxnSpLocks/>
          </p:cNvCxnSpPr>
          <p:nvPr/>
        </p:nvCxnSpPr>
        <p:spPr>
          <a:xfrm>
            <a:off x="6562506" y="921488"/>
            <a:ext cx="0" cy="52777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3BA5A3F-D9D6-6F16-1316-33B7169A31C8}"/>
              </a:ext>
            </a:extLst>
          </p:cNvPr>
          <p:cNvGrpSpPr/>
          <p:nvPr/>
        </p:nvGrpSpPr>
        <p:grpSpPr>
          <a:xfrm>
            <a:off x="6115510" y="921488"/>
            <a:ext cx="5238289" cy="5272586"/>
            <a:chOff x="6124908" y="1516911"/>
            <a:chExt cx="5238289" cy="52725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A5BFF4-4F23-41AC-6467-FB3FFFEF8A5A}"/>
                </a:ext>
              </a:extLst>
            </p:cNvPr>
            <p:cNvSpPr/>
            <p:nvPr/>
          </p:nvSpPr>
          <p:spPr>
            <a:xfrm>
              <a:off x="6124909" y="1516911"/>
              <a:ext cx="5227000" cy="126881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662E06-C10A-D037-6E2B-7EFDCDF22A79}"/>
                </a:ext>
              </a:extLst>
            </p:cNvPr>
            <p:cNvSpPr/>
            <p:nvPr/>
          </p:nvSpPr>
          <p:spPr>
            <a:xfrm>
              <a:off x="6124908" y="5819552"/>
              <a:ext cx="5227000" cy="96994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9CB37D-B155-7943-1428-49995D499DC4}"/>
                </a:ext>
              </a:extLst>
            </p:cNvPr>
            <p:cNvSpPr/>
            <p:nvPr/>
          </p:nvSpPr>
          <p:spPr>
            <a:xfrm>
              <a:off x="6126797" y="4319459"/>
              <a:ext cx="5236400" cy="592783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60262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7C2F-6F7C-855C-DCBE-5626F0B1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8257-3154-956C-4D9E-0DE3ED3F0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Side Effects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8357DB4-787E-D9E2-F802-F6E7A306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DB7B7E-BA13-9916-CB8C-A96AD1DE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Eliminating Reentrancy through Language Design</a:t>
            </a:r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05B9856-F1F2-E225-646E-9EF2CB51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3ED95-016C-42D7-B550-5C99AA40E4D5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XX</a:t>
            </a:r>
            <a:endParaRPr kumimoji="0" lang="en-CH" sz="1200" b="0" i="0" u="none" strike="noStrike" kern="120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A39BB-8ECC-08DA-1115-31C48861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678680" cy="4351338"/>
          </a:xfrm>
        </p:spPr>
        <p:txBody>
          <a:bodyPr/>
          <a:lstStyle/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Solution 1:</a:t>
            </a:r>
          </a:p>
          <a:p>
            <a:pPr marL="0" indent="0">
              <a:buNone/>
            </a:pPr>
            <a:r>
              <a:rPr lang="en-CH" dirty="0"/>
              <a:t>Include effects in </a:t>
            </a:r>
            <a:r>
              <a:rPr lang="en-CH" sz="2400" dirty="0">
                <a:solidFill>
                  <a:schemeClr val="accent1"/>
                </a:solidFill>
                <a:latin typeface="Lucida Console" panose="020B0609040504020204" pitchFamily="49" charset="0"/>
              </a:rPr>
              <a:t>fn</a:t>
            </a:r>
            <a:r>
              <a:rPr lang="en-CH" dirty="0"/>
              <a:t> signature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Solution 2:</a:t>
            </a:r>
          </a:p>
          <a:p>
            <a:pPr marL="0" indent="0">
              <a:buNone/>
            </a:pPr>
            <a:r>
              <a:rPr lang="en-CH" dirty="0"/>
              <a:t>Annotate inline effects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EEBC02-D554-2E4C-E9D9-E7DB71D17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418" y="921488"/>
            <a:ext cx="4798381" cy="5277700"/>
          </a:xfrm>
        </p:spPr>
        <p:txBody>
          <a:bodyPr/>
          <a:lstStyle/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4"/>
                </a:solidFill>
              </a:rPr>
              <a:t>modify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 {</a:t>
            </a:r>
            <a:endParaRPr lang="en-CH" dirty="0"/>
          </a:p>
          <a:p>
            <a:r>
              <a:rPr lang="en-CH" dirty="0"/>
              <a:t>  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5"/>
                </a:solidFill>
              </a:rPr>
              <a:t>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257C67B-666C-DDC0-6A24-490BAC7C54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0" y="921488"/>
            <a:ext cx="438016" cy="5277700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endParaRPr lang="en-CH" dirty="0"/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689028BC-94A7-0262-24B1-1A1A7D7D6746}"/>
              </a:ext>
            </a:extLst>
          </p:cNvPr>
          <p:cNvSpPr txBox="1">
            <a:spLocks/>
          </p:cNvSpPr>
          <p:nvPr/>
        </p:nvSpPr>
        <p:spPr>
          <a:xfrm>
            <a:off x="6555600" y="921600"/>
            <a:ext cx="4798381" cy="5277700"/>
          </a:xfrm>
          <a:prstGeom prst="rect">
            <a:avLst/>
          </a:prstGeom>
          <a:solidFill>
            <a:schemeClr val="bg2"/>
          </a:solidFill>
        </p:spPr>
        <p:txBody>
          <a:bodyPr vert="horz" wrap="non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>
                <a:solidFill>
                  <a:schemeClr val="accent1"/>
                </a:solidFill>
              </a:rPr>
              <a:t>  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  </a:t>
            </a:r>
            <a:endParaRPr lang="en-CH" dirty="0">
              <a:solidFill>
                <a:schemeClr val="accent4"/>
              </a:solidFill>
            </a:endParaRPr>
          </a:p>
          <a:p>
            <a:r>
              <a:rPr lang="en-CH" dirty="0">
                <a:solidFill>
                  <a:schemeClr val="accent4"/>
                </a:solidFill>
              </a:rPr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5"/>
                </a:solidFill>
              </a:rPr>
              <a:t>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1F1D8720-6E8D-7319-1D01-81F189B14E6E}"/>
              </a:ext>
            </a:extLst>
          </p:cNvPr>
          <p:cNvSpPr txBox="1">
            <a:spLocks/>
          </p:cNvSpPr>
          <p:nvPr/>
        </p:nvSpPr>
        <p:spPr>
          <a:xfrm>
            <a:off x="6555418" y="921600"/>
            <a:ext cx="4798381" cy="5277700"/>
          </a:xfrm>
          <a:prstGeom prst="rect">
            <a:avLst/>
          </a:prstGeom>
          <a:solidFill>
            <a:schemeClr val="bg2"/>
          </a:solidFill>
        </p:spPr>
        <p:txBody>
          <a:bodyPr vert="horz" wrap="non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  </a:t>
            </a:r>
            <a:endParaRPr lang="en-CH" dirty="0">
              <a:solidFill>
                <a:schemeClr val="accent4"/>
              </a:solidFill>
            </a:endParaRPr>
          </a:p>
          <a:p>
            <a:r>
              <a:rPr lang="en-CH" dirty="0">
                <a:solidFill>
                  <a:schemeClr val="accent4"/>
                </a:solidFill>
              </a:rPr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>
                <a:solidFill>
                  <a:schemeClr val="accent6"/>
                </a:solidFill>
              </a:rPr>
              <a:t>increment</a:t>
            </a:r>
            <a:r>
              <a:rPr lang="en-CH" dirty="0">
                <a:solidFill>
                  <a:schemeClr val="accent1"/>
                </a:solidFill>
              </a:rPr>
              <a:t>()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5"/>
                </a:solidFill>
              </a:rPr>
              <a:t>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B1F2DC-2BF5-D480-9368-19A3A14FB111}"/>
              </a:ext>
            </a:extLst>
          </p:cNvPr>
          <p:cNvCxnSpPr>
            <a:cxnSpLocks/>
          </p:cNvCxnSpPr>
          <p:nvPr/>
        </p:nvCxnSpPr>
        <p:spPr>
          <a:xfrm>
            <a:off x="6562506" y="921488"/>
            <a:ext cx="0" cy="52777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ED68FB-A4D7-D741-DD32-7FB58DA7D508}"/>
              </a:ext>
            </a:extLst>
          </p:cNvPr>
          <p:cNvGrpSpPr/>
          <p:nvPr/>
        </p:nvGrpSpPr>
        <p:grpSpPr>
          <a:xfrm>
            <a:off x="6115510" y="921488"/>
            <a:ext cx="5238289" cy="5272586"/>
            <a:chOff x="6124908" y="1516911"/>
            <a:chExt cx="5238289" cy="52725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79DF3F1-9A00-6DC8-9398-451CE12DE4F9}"/>
                </a:ext>
              </a:extLst>
            </p:cNvPr>
            <p:cNvSpPr/>
            <p:nvPr/>
          </p:nvSpPr>
          <p:spPr>
            <a:xfrm>
              <a:off x="6124909" y="1516911"/>
              <a:ext cx="5227000" cy="126881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8651F3-969C-2808-6859-96D26728C03C}"/>
                </a:ext>
              </a:extLst>
            </p:cNvPr>
            <p:cNvSpPr/>
            <p:nvPr/>
          </p:nvSpPr>
          <p:spPr>
            <a:xfrm>
              <a:off x="6124908" y="5819552"/>
              <a:ext cx="5227000" cy="96994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AD7648E-6E9F-B697-BEAD-0E7124073C0D}"/>
                </a:ext>
              </a:extLst>
            </p:cNvPr>
            <p:cNvSpPr/>
            <p:nvPr/>
          </p:nvSpPr>
          <p:spPr>
            <a:xfrm>
              <a:off x="6126797" y="4319459"/>
              <a:ext cx="5236400" cy="592783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0759E8-8FA7-DD84-0DA0-766F6C770124}"/>
              </a:ext>
            </a:extLst>
          </p:cNvPr>
          <p:cNvGrpSpPr/>
          <p:nvPr/>
        </p:nvGrpSpPr>
        <p:grpSpPr>
          <a:xfrm>
            <a:off x="7194698" y="2930396"/>
            <a:ext cx="4189223" cy="646331"/>
            <a:chOff x="7194698" y="2930396"/>
            <a:chExt cx="4189223" cy="646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5C762E6-3612-330C-9CCC-E6AE09FF8647}"/>
                </a:ext>
              </a:extLst>
            </p:cNvPr>
            <p:cNvSpPr txBox="1"/>
            <p:nvPr/>
          </p:nvSpPr>
          <p:spPr>
            <a:xfrm>
              <a:off x="9115642" y="2930396"/>
              <a:ext cx="22682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>
                  <a:solidFill>
                    <a:schemeClr val="accent5"/>
                  </a:solidFill>
                </a:rPr>
                <a:t>No annotation here – effect is visible!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DEF2DD-D4AE-3479-1054-0931F653A126}"/>
                </a:ext>
              </a:extLst>
            </p:cNvPr>
            <p:cNvSpPr/>
            <p:nvPr/>
          </p:nvSpPr>
          <p:spPr>
            <a:xfrm>
              <a:off x="7194698" y="3012558"/>
              <a:ext cx="1920944" cy="482009"/>
            </a:xfrm>
            <a:prstGeom prst="rect">
              <a:avLst/>
            </a:prstGeom>
            <a:solidFill>
              <a:srgbClr val="FFF2CC">
                <a:alpha val="19000"/>
              </a:srgb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419718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9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7BE3-1BB2-916D-8952-2FA0E44B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87EA-51A7-D638-C8BE-2AB1CCCB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Effects in Calls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ED1BAAB-31D8-1966-8F89-FC4A9F327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00826C5-C031-5C1C-076C-77BFD544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Eliminating Reentrancy through Language Design</a:t>
            </a:r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7FBE47B-9A63-B8C4-5CE0-8BA4944F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3ED95-016C-42D7-B550-5C99AA40E4D5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XX</a:t>
            </a:r>
            <a:endParaRPr kumimoji="0" lang="en-CH" sz="1200" b="0" i="0" u="none" strike="noStrike" kern="120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EAF3B-65F9-DB65-7130-5CD12917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678680" cy="4351338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Issue:</a:t>
            </a:r>
          </a:p>
          <a:p>
            <a:r>
              <a:rPr lang="en-CH" dirty="0"/>
              <a:t>Unknown side effects in external call</a:t>
            </a:r>
          </a:p>
          <a:p>
            <a:r>
              <a:rPr lang="en-CH" dirty="0"/>
              <a:t>Internal state may change due to reentrant calls</a:t>
            </a:r>
          </a:p>
          <a:p>
            <a:endParaRPr lang="en-CH" dirty="0"/>
          </a:p>
          <a:p>
            <a:pPr marL="0" indent="0">
              <a:buNone/>
            </a:pPr>
            <a:r>
              <a:rPr lang="en-CH" dirty="0">
                <a:latin typeface="Calibri" panose="020F0502020204030204" pitchFamily="34" charset="0"/>
                <a:cs typeface="Calibri" panose="020F0502020204030204" pitchFamily="34" charset="0"/>
              </a:rPr>
              <a:t>→ We can leverage our reentrancy protection!</a:t>
            </a:r>
            <a:endParaRPr lang="en-CH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B3A2B27-05B9-A72B-C7E6-60B6DA39A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418" y="365125"/>
            <a:ext cx="4798381" cy="5834063"/>
          </a:xfrm>
        </p:spPr>
        <p:txBody>
          <a:bodyPr/>
          <a:lstStyle/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 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br>
              <a:rPr lang="en-CH" dirty="0">
                <a:solidFill>
                  <a:schemeClr val="accent1"/>
                </a:solidFill>
              </a:rPr>
            </a:br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accent5"/>
              </a:solidFill>
            </a:endParaRPr>
          </a:p>
          <a:p>
            <a:r>
              <a:rPr lang="en-CH" dirty="0">
                <a:solidFill>
                  <a:schemeClr val="accent5"/>
                </a:solidFill>
              </a:rPr>
              <a:t>    </a:t>
            </a:r>
            <a:r>
              <a:rPr lang="en-CH" dirty="0">
                <a:solidFill>
                  <a:schemeClr val="accent2"/>
                </a:solidFill>
              </a:rPr>
              <a:t>EVM</a:t>
            </a:r>
            <a:r>
              <a:rPr lang="en-CH" dirty="0">
                <a:solidFill>
                  <a:schemeClr val="accent1"/>
                </a:solidFill>
                <a:latin typeface="+mn-lt"/>
              </a:rPr>
              <a:t>::</a:t>
            </a:r>
            <a:r>
              <a:rPr lang="en-CH" dirty="0">
                <a:solidFill>
                  <a:schemeClr val="accent6"/>
                </a:solidFill>
              </a:rPr>
              <a:t>call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address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  <a:r>
              <a:rPr lang="en-CH" dirty="0"/>
              <a:t> data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accent5"/>
              </a:solidFill>
            </a:endParaRPr>
          </a:p>
          <a:p>
            <a:r>
              <a:rPr lang="en-CH" dirty="0">
                <a:solidFill>
                  <a:schemeClr val="accent5"/>
                </a:solidFill>
              </a:rPr>
              <a:t>    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8C9DC8-BE7F-1EC9-791F-76D58FF3BA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0" y="365125"/>
            <a:ext cx="438016" cy="5834063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r>
              <a:rPr lang="en-CH" dirty="0"/>
              <a:t>18</a:t>
            </a:r>
          </a:p>
          <a:p>
            <a:r>
              <a:rPr lang="en-CH" dirty="0"/>
              <a:t>19</a:t>
            </a:r>
          </a:p>
          <a:p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F4DC1E-B81A-E43D-555F-41382143C174}"/>
              </a:ext>
            </a:extLst>
          </p:cNvPr>
          <p:cNvCxnSpPr>
            <a:cxnSpLocks/>
          </p:cNvCxnSpPr>
          <p:nvPr/>
        </p:nvCxnSpPr>
        <p:spPr>
          <a:xfrm>
            <a:off x="6562506" y="365125"/>
            <a:ext cx="0" cy="58340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810BB6E-0B88-0026-B419-A5C4DEE90C95}"/>
              </a:ext>
            </a:extLst>
          </p:cNvPr>
          <p:cNvGrpSpPr/>
          <p:nvPr/>
        </p:nvGrpSpPr>
        <p:grpSpPr>
          <a:xfrm>
            <a:off x="6115509" y="363600"/>
            <a:ext cx="5238290" cy="5834063"/>
            <a:chOff x="6115509" y="365125"/>
            <a:chExt cx="5238290" cy="583253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AB620E-3005-EDC0-DB88-641E6DA155C6}"/>
                </a:ext>
              </a:extLst>
            </p:cNvPr>
            <p:cNvSpPr/>
            <p:nvPr/>
          </p:nvSpPr>
          <p:spPr>
            <a:xfrm>
              <a:off x="6115509" y="5309191"/>
              <a:ext cx="5236400" cy="88847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92196B-1E7E-391B-A76E-6E58FD8635CE}"/>
                </a:ext>
              </a:extLst>
            </p:cNvPr>
            <p:cNvSpPr/>
            <p:nvPr/>
          </p:nvSpPr>
          <p:spPr>
            <a:xfrm>
              <a:off x="6117399" y="365125"/>
              <a:ext cx="5236400" cy="4001311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46607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E1850-B514-10C8-AB32-AA7C4A16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6515-9047-46E3-1E02-E5276E1A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Effects in Calls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D479B5-CF5E-7F26-1B9D-876529F3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2D73AA9-7AE4-C5D4-8142-5FCBF945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Eliminating Reentrancy through Language Design</a:t>
            </a:r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B69F128-EB9B-5D93-E0B1-2B37FFDE0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3ED95-016C-42D7-B550-5C99AA40E4D5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XX</a:t>
            </a:r>
            <a:endParaRPr kumimoji="0" lang="en-CH" sz="1200" b="0" i="0" u="none" strike="noStrike" kern="120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0409C-F1F9-AF4A-92E7-22C20366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678680" cy="4351338"/>
          </a:xfrm>
        </p:spPr>
        <p:txBody>
          <a:bodyPr/>
          <a:lstStyle/>
          <a:p>
            <a:r>
              <a:rPr lang="en-CH" dirty="0"/>
              <a:t>Call can only reenter </a:t>
            </a:r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inc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CH" dirty="0"/>
              <a:t>Treat it like any other function call!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3D6FE0-53DF-B80A-48C3-4264A160D4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418" y="365125"/>
            <a:ext cx="4798381" cy="5834063"/>
          </a:xfrm>
        </p:spPr>
        <p:txBody>
          <a:bodyPr/>
          <a:lstStyle/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 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br>
              <a:rPr lang="en-CH" dirty="0">
                <a:solidFill>
                  <a:schemeClr val="accent1"/>
                </a:solidFill>
              </a:rPr>
            </a:br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accent5"/>
              </a:solidFill>
            </a:endParaRPr>
          </a:p>
          <a:p>
            <a:r>
              <a:rPr lang="en-CH" dirty="0">
                <a:solidFill>
                  <a:schemeClr val="accent5"/>
                </a:solidFill>
              </a:rPr>
              <a:t>    </a:t>
            </a:r>
            <a:r>
              <a:rPr lang="en-CH" dirty="0">
                <a:solidFill>
                  <a:schemeClr val="accent2"/>
                </a:solidFill>
              </a:rPr>
              <a:t>EVM</a:t>
            </a:r>
            <a:r>
              <a:rPr lang="en-CH" dirty="0">
                <a:solidFill>
                  <a:schemeClr val="accent1"/>
                </a:solidFill>
                <a:latin typeface="+mn-lt"/>
              </a:rPr>
              <a:t>::</a:t>
            </a:r>
            <a:r>
              <a:rPr lang="en-CH" dirty="0">
                <a:solidFill>
                  <a:schemeClr val="accent6"/>
                </a:solidFill>
              </a:rPr>
              <a:t>call_reenter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…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  <a:r>
              <a:rPr lang="en-CH" dirty="0"/>
              <a:t> inc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endParaRPr lang="en-CH" dirty="0">
              <a:solidFill>
                <a:schemeClr val="accent5"/>
              </a:solidFill>
            </a:endParaRPr>
          </a:p>
          <a:p>
            <a:r>
              <a:rPr lang="en-CH" dirty="0">
                <a:solidFill>
                  <a:schemeClr val="accent5"/>
                </a:solidFill>
              </a:rPr>
              <a:t>    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C3B10A4-76C8-D4B0-F91D-7992F0A12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0" y="365125"/>
            <a:ext cx="438016" cy="5834063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r>
              <a:rPr lang="en-CH" dirty="0"/>
              <a:t>18</a:t>
            </a:r>
          </a:p>
          <a:p>
            <a:r>
              <a:rPr lang="en-CH" dirty="0"/>
              <a:t>19</a:t>
            </a:r>
          </a:p>
          <a:p>
            <a:endParaRPr lang="en-CH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2C319D6-252F-33DA-0B04-68B894A1EC3A}"/>
              </a:ext>
            </a:extLst>
          </p:cNvPr>
          <p:cNvSpPr txBox="1">
            <a:spLocks/>
          </p:cNvSpPr>
          <p:nvPr/>
        </p:nvSpPr>
        <p:spPr>
          <a:xfrm>
            <a:off x="6555600" y="363600"/>
            <a:ext cx="4798381" cy="5834063"/>
          </a:xfrm>
          <a:prstGeom prst="rect">
            <a:avLst/>
          </a:prstGeom>
          <a:solidFill>
            <a:schemeClr val="bg2"/>
          </a:solidFill>
        </p:spPr>
        <p:txBody>
          <a:bodyPr vert="horz" wrap="non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 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br>
              <a:rPr lang="en-CH" dirty="0">
                <a:solidFill>
                  <a:schemeClr val="accent1"/>
                </a:solidFill>
              </a:rPr>
            </a:br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>
                <a:solidFill>
                  <a:schemeClr val="accent5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modify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 {</a:t>
            </a:r>
          </a:p>
          <a:p>
            <a:r>
              <a:rPr lang="en-CH" dirty="0">
                <a:solidFill>
                  <a:schemeClr val="accent5"/>
                </a:solidFill>
              </a:rPr>
              <a:t>      </a:t>
            </a:r>
            <a:r>
              <a:rPr lang="en-CH" dirty="0">
                <a:solidFill>
                  <a:schemeClr val="accent2"/>
                </a:solidFill>
              </a:rPr>
              <a:t>EVM</a:t>
            </a:r>
            <a:r>
              <a:rPr lang="en-CH" dirty="0">
                <a:solidFill>
                  <a:schemeClr val="accent1"/>
                </a:solidFill>
                <a:latin typeface="+mn-lt"/>
              </a:rPr>
              <a:t>::</a:t>
            </a:r>
            <a:r>
              <a:rPr lang="en-CH" dirty="0">
                <a:solidFill>
                  <a:schemeClr val="accent6"/>
                </a:solidFill>
              </a:rPr>
              <a:t>call_reenter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…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  <a:r>
              <a:rPr lang="en-CH" dirty="0"/>
              <a:t> inc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>
                <a:solidFill>
                  <a:schemeClr val="accent5"/>
                </a:solidFill>
              </a:rPr>
              <a:t>  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5"/>
                </a:solidFill>
              </a:rPr>
              <a:t>    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2B8E48-21D0-7B03-D830-B5CBA196E98A}"/>
              </a:ext>
            </a:extLst>
          </p:cNvPr>
          <p:cNvCxnSpPr>
            <a:cxnSpLocks/>
          </p:cNvCxnSpPr>
          <p:nvPr/>
        </p:nvCxnSpPr>
        <p:spPr>
          <a:xfrm>
            <a:off x="6562506" y="365125"/>
            <a:ext cx="0" cy="58340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5E260A20-2509-4C31-E6C6-4EF5EB7FC546}"/>
              </a:ext>
            </a:extLst>
          </p:cNvPr>
          <p:cNvGrpSpPr/>
          <p:nvPr/>
        </p:nvGrpSpPr>
        <p:grpSpPr>
          <a:xfrm>
            <a:off x="6115509" y="363600"/>
            <a:ext cx="5238290" cy="5834063"/>
            <a:chOff x="6115509" y="365125"/>
            <a:chExt cx="5238290" cy="583253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7F53EF-4587-2CBB-B14B-38D89208019A}"/>
                </a:ext>
              </a:extLst>
            </p:cNvPr>
            <p:cNvSpPr/>
            <p:nvPr/>
          </p:nvSpPr>
          <p:spPr>
            <a:xfrm>
              <a:off x="6115509" y="5309191"/>
              <a:ext cx="5236399" cy="88847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4A8F25-BE6B-04EF-2CEB-2B57FEEAAE83}"/>
                </a:ext>
              </a:extLst>
            </p:cNvPr>
            <p:cNvSpPr/>
            <p:nvPr/>
          </p:nvSpPr>
          <p:spPr>
            <a:xfrm>
              <a:off x="6117399" y="365125"/>
              <a:ext cx="5236400" cy="4001311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19255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4E84-A344-14A5-5ABA-16FD2F8F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BDBA-E8FE-4B86-0F4C-4CAE53EC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Effects in Calls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CA1DA95-5DE3-EC17-00BA-4A80B605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904765-8631-1024-B517-79EAB9B4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Eliminating Reentrancy through Language Design</a:t>
            </a:r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26937F-FAF4-29C3-CBB0-DA9FD27A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3ED95-016C-42D7-B550-5C99AA40E4D5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r>
              <a:rPr kumimoji="0" lang="en-CH" sz="1200" b="0" i="0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XX</a:t>
            </a:r>
            <a:endParaRPr kumimoji="0" lang="en-CH" sz="1200" b="0" i="0" u="none" strike="noStrike" kern="120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7F413-942B-FB7C-C0E4-9F32FDBF9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4782879" cy="4351338"/>
          </a:xfrm>
        </p:spPr>
        <p:txBody>
          <a:bodyPr/>
          <a:lstStyle/>
          <a:p>
            <a:r>
              <a:rPr lang="en-CH" dirty="0"/>
              <a:t>Call can only reenter </a:t>
            </a:r>
            <a:r>
              <a:rPr lang="en-CH" dirty="0">
                <a:solidFill>
                  <a:schemeClr val="accent6"/>
                </a:solidFill>
                <a:latin typeface="Lucida Console" panose="020B0609040504020204" pitchFamily="49" charset="0"/>
              </a:rPr>
              <a:t>inc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CH" dirty="0"/>
              <a:t>Treat it like any other</a:t>
            </a:r>
            <a:br>
              <a:rPr lang="en-CH" dirty="0"/>
            </a:br>
            <a:r>
              <a:rPr lang="en-CH" dirty="0"/>
              <a:t>function call!</a:t>
            </a:r>
          </a:p>
          <a:p>
            <a:pPr>
              <a:buFont typeface="Aptos" panose="020B0004020202020204" pitchFamily="34" charset="0"/>
              <a:buChar char="→"/>
            </a:pPr>
            <a:endParaRPr lang="en-CH" dirty="0"/>
          </a:p>
          <a:p>
            <a:r>
              <a:rPr lang="en-CH" dirty="0"/>
              <a:t>Add reentrancy to </a:t>
            </a:r>
            <a:r>
              <a:rPr lang="en-CH" sz="2400" dirty="0">
                <a:solidFill>
                  <a:schemeClr val="accent1"/>
                </a:solidFill>
                <a:latin typeface="Lucida Console" panose="020B0609040504020204" pitchFamily="49" charset="0"/>
              </a:rPr>
              <a:t>fn</a:t>
            </a:r>
            <a:r>
              <a:rPr lang="en-CH" dirty="0"/>
              <a:t> signature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09A5B3-5568-604B-BD6B-ADF2EB3866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418" y="365125"/>
            <a:ext cx="4798381" cy="5834063"/>
          </a:xfrm>
        </p:spPr>
        <p:txBody>
          <a:bodyPr/>
          <a:lstStyle/>
          <a:p>
            <a:r>
              <a:rPr lang="en-CH" dirty="0">
                <a:solidFill>
                  <a:schemeClr val="accent1"/>
                </a:solidFill>
              </a:rPr>
              <a:t>contract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n</a:t>
            </a:r>
            <a:r>
              <a:rPr lang="en-CH" dirty="0">
                <a:solidFill>
                  <a:schemeClr val="accent1"/>
                </a:solidFill>
              </a:rPr>
              <a:t>: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u256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impl</a:t>
            </a:r>
            <a:r>
              <a:rPr lang="en-CH" dirty="0"/>
              <a:t> </a:t>
            </a:r>
            <a:r>
              <a:rPr lang="en-CH" dirty="0">
                <a:solidFill>
                  <a:schemeClr val="accent2"/>
                </a:solidFill>
              </a:rPr>
              <a:t>Counter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{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 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inc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br>
              <a:rPr lang="en-CH" dirty="0">
                <a:solidFill>
                  <a:schemeClr val="accent1"/>
                </a:solidFill>
              </a:rPr>
            </a:br>
            <a:r>
              <a:rPr lang="en-CH" dirty="0">
                <a:solidFill>
                  <a:schemeClr val="accent1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modifies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 </a:t>
            </a:r>
            <a:r>
              <a:rPr lang="en-CH" dirty="0">
                <a:solidFill>
                  <a:schemeClr val="accent1"/>
                </a:solidFill>
              </a:rPr>
              <a:t>+=</a:t>
            </a:r>
            <a:r>
              <a:rPr lang="en-CH" dirty="0"/>
              <a:t> </a:t>
            </a:r>
            <a:r>
              <a:rPr lang="en-CH" dirty="0">
                <a:solidFill>
                  <a:schemeClr val="accent4"/>
                </a:solidFill>
              </a:rPr>
              <a:t>1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  <a:endParaRPr lang="en-CH" dirty="0"/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pub</a:t>
            </a:r>
            <a:r>
              <a:rPr lang="en-CH" dirty="0"/>
              <a:t> </a:t>
            </a:r>
            <a:r>
              <a:rPr lang="en-CH" dirty="0">
                <a:solidFill>
                  <a:schemeClr val="accent1"/>
                </a:solidFill>
              </a:rPr>
              <a:t>fn</a:t>
            </a:r>
            <a:r>
              <a:rPr lang="en-CH" dirty="0"/>
              <a:t> </a:t>
            </a:r>
            <a:r>
              <a:rPr lang="en-CH" dirty="0">
                <a:solidFill>
                  <a:schemeClr val="accent6"/>
                </a:solidFill>
              </a:rPr>
              <a:t>foo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 </a:t>
            </a:r>
            <a:r>
              <a:rPr lang="en-CH" sz="1800" dirty="0">
                <a:solidFill>
                  <a:schemeClr val="accent4"/>
                </a:solidFill>
              </a:rPr>
              <a:t>modifies</a:t>
            </a:r>
            <a:r>
              <a:rPr lang="en-CH" sz="1800" dirty="0">
                <a:solidFill>
                  <a:schemeClr val="accent1"/>
                </a:solidFill>
              </a:rPr>
              <a:t>(</a:t>
            </a:r>
            <a:r>
              <a:rPr lang="en-CH" sz="1800" dirty="0">
                <a:solidFill>
                  <a:schemeClr val="accent3"/>
                </a:solidFill>
              </a:rPr>
              <a:t>self</a:t>
            </a:r>
            <a:r>
              <a:rPr lang="en-CH" sz="1800" dirty="0">
                <a:solidFill>
                  <a:schemeClr val="accent1"/>
                </a:solidFill>
              </a:rPr>
              <a:t>.</a:t>
            </a:r>
            <a:r>
              <a:rPr lang="en-CH" sz="1800" dirty="0"/>
              <a:t>n</a:t>
            </a:r>
            <a:r>
              <a:rPr lang="en-CH" sz="1800" dirty="0">
                <a:solidFill>
                  <a:schemeClr val="accent1"/>
                </a:solidFill>
              </a:rPr>
              <a:t>) </a:t>
            </a:r>
            <a:r>
              <a:rPr lang="en-CH" sz="1800" dirty="0">
                <a:solidFill>
                  <a:schemeClr val="accent4"/>
                </a:solidFill>
              </a:rPr>
              <a:t>reenters</a:t>
            </a:r>
            <a:r>
              <a:rPr lang="en-CH" sz="1800" dirty="0">
                <a:solidFill>
                  <a:schemeClr val="accent1"/>
                </a:solidFill>
              </a:rPr>
              <a:t>(</a:t>
            </a:r>
            <a:r>
              <a:rPr lang="en-CH" sz="1800" dirty="0"/>
              <a:t>inc</a:t>
            </a:r>
            <a:r>
              <a:rPr lang="en-CH" sz="1800" dirty="0">
                <a:solidFill>
                  <a:schemeClr val="accent1"/>
                </a:solidFill>
              </a:rPr>
              <a:t>)</a:t>
            </a:r>
          </a:p>
          <a:p>
            <a:r>
              <a:rPr lang="en-CH" dirty="0">
                <a:solidFill>
                  <a:schemeClr val="accent1"/>
                </a:solidFill>
              </a:rPr>
              <a:t>  {</a:t>
            </a:r>
          </a:p>
          <a:p>
            <a:r>
              <a:rPr lang="en-CH" dirty="0"/>
              <a:t>    </a:t>
            </a:r>
            <a:r>
              <a:rPr lang="en-CH" dirty="0">
                <a:solidFill>
                  <a:schemeClr val="accent1"/>
                </a:solidFill>
              </a:rPr>
              <a:t>let</a:t>
            </a:r>
            <a:r>
              <a:rPr lang="en-CH" dirty="0"/>
              <a:t> x </a:t>
            </a:r>
            <a:r>
              <a:rPr lang="en-CH" dirty="0">
                <a:solidFill>
                  <a:schemeClr val="accent1"/>
                </a:solidFill>
              </a:rPr>
              <a:t>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>
                <a:solidFill>
                  <a:schemeClr val="accent5"/>
                </a:solidFill>
              </a:rPr>
              <a:t>    </a:t>
            </a:r>
            <a:r>
              <a:rPr lang="en-CH" dirty="0">
                <a:solidFill>
                  <a:schemeClr val="accent4"/>
                </a:solidFill>
              </a:rPr>
              <a:t>modify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 {</a:t>
            </a:r>
          </a:p>
          <a:p>
            <a:r>
              <a:rPr lang="en-CH" dirty="0">
                <a:solidFill>
                  <a:schemeClr val="accent5"/>
                </a:solidFill>
              </a:rPr>
              <a:t>      </a:t>
            </a:r>
            <a:r>
              <a:rPr lang="en-CH" dirty="0">
                <a:solidFill>
                  <a:schemeClr val="accent2"/>
                </a:solidFill>
              </a:rPr>
              <a:t>EVM</a:t>
            </a:r>
            <a:r>
              <a:rPr lang="en-CH" dirty="0">
                <a:solidFill>
                  <a:schemeClr val="accent1"/>
                </a:solidFill>
                <a:latin typeface="+mn-lt"/>
              </a:rPr>
              <a:t>::</a:t>
            </a:r>
            <a:r>
              <a:rPr lang="en-CH" dirty="0">
                <a:solidFill>
                  <a:schemeClr val="accent6"/>
                </a:solidFill>
              </a:rPr>
              <a:t>call_reenter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…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</a:t>
            </a:r>
            <a:r>
              <a:rPr lang="en-CH" dirty="0"/>
              <a:t> inc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>
                <a:solidFill>
                  <a:schemeClr val="accent5"/>
                </a:solidFill>
              </a:rPr>
              <a:t>  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5"/>
                </a:solidFill>
              </a:rPr>
              <a:t>    assert</a:t>
            </a:r>
            <a:r>
              <a:rPr lang="en-CH" dirty="0">
                <a:solidFill>
                  <a:schemeClr val="accent1"/>
                </a:solidFill>
              </a:rPr>
              <a:t>(</a:t>
            </a:r>
            <a:r>
              <a:rPr lang="en-CH" dirty="0"/>
              <a:t>x </a:t>
            </a:r>
            <a:r>
              <a:rPr lang="en-CH" dirty="0">
                <a:solidFill>
                  <a:schemeClr val="accent1"/>
                </a:solidFill>
              </a:rPr>
              <a:t>==</a:t>
            </a:r>
            <a:r>
              <a:rPr lang="en-CH" dirty="0"/>
              <a:t> </a:t>
            </a:r>
            <a:r>
              <a:rPr lang="en-CH" dirty="0">
                <a:solidFill>
                  <a:schemeClr val="accent3"/>
                </a:solidFill>
              </a:rPr>
              <a:t>self</a:t>
            </a:r>
            <a:r>
              <a:rPr lang="en-CH" dirty="0">
                <a:solidFill>
                  <a:schemeClr val="accent1"/>
                </a:solidFill>
              </a:rPr>
              <a:t>.</a:t>
            </a:r>
            <a:r>
              <a:rPr lang="en-CH" dirty="0"/>
              <a:t>n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r>
              <a:rPr lang="en-CH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r>
              <a:rPr lang="en-CH" dirty="0"/>
              <a:t>  </a:t>
            </a:r>
            <a:r>
              <a:rPr lang="en-CH" dirty="0">
                <a:solidFill>
                  <a:schemeClr val="accent1"/>
                </a:solidFill>
              </a:rPr>
              <a:t>}</a:t>
            </a:r>
          </a:p>
          <a:p>
            <a:r>
              <a:rPr lang="en-CH" dirty="0"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BDD6F2-900F-098C-146C-AFDDC61AB5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0" y="365125"/>
            <a:ext cx="438016" cy="5834063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r>
              <a:rPr lang="en-CH" dirty="0"/>
              <a:t>18</a:t>
            </a:r>
          </a:p>
          <a:p>
            <a:r>
              <a:rPr lang="en-CH" dirty="0"/>
              <a:t>19</a:t>
            </a:r>
          </a:p>
          <a:p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249FA5A-6D35-9AB1-2767-4B5BFC25DC01}"/>
              </a:ext>
            </a:extLst>
          </p:cNvPr>
          <p:cNvCxnSpPr>
            <a:cxnSpLocks/>
          </p:cNvCxnSpPr>
          <p:nvPr/>
        </p:nvCxnSpPr>
        <p:spPr>
          <a:xfrm>
            <a:off x="6562506" y="365125"/>
            <a:ext cx="0" cy="58340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B1B5CD-6796-254C-959F-3F1119339B01}"/>
              </a:ext>
            </a:extLst>
          </p:cNvPr>
          <p:cNvGrpSpPr/>
          <p:nvPr/>
        </p:nvGrpSpPr>
        <p:grpSpPr>
          <a:xfrm>
            <a:off x="6115509" y="363601"/>
            <a:ext cx="5238290" cy="5835586"/>
            <a:chOff x="6115509" y="365126"/>
            <a:chExt cx="5238290" cy="58340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361C96-1704-C35D-386A-6AF244254D5F}"/>
                </a:ext>
              </a:extLst>
            </p:cNvPr>
            <p:cNvSpPr/>
            <p:nvPr/>
          </p:nvSpPr>
          <p:spPr>
            <a:xfrm>
              <a:off x="6115509" y="3771648"/>
              <a:ext cx="5236399" cy="242753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B695A7-8E22-A810-D33F-12BAB5091B45}"/>
                </a:ext>
              </a:extLst>
            </p:cNvPr>
            <p:cNvSpPr/>
            <p:nvPr/>
          </p:nvSpPr>
          <p:spPr>
            <a:xfrm>
              <a:off x="6117399" y="365126"/>
              <a:ext cx="5236400" cy="3091261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2163167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87A4-CB18-E221-C674-DF4E29E1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Algebraic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30FA-DAEA-DD69-905A-88711DF92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Nothing new here</a:t>
            </a:r>
          </a:p>
          <a:p>
            <a:r>
              <a:rPr lang="en-CH" dirty="0"/>
              <a:t>Existing compilers for EVM do not support ADTs</a:t>
            </a:r>
          </a:p>
          <a:p>
            <a:r>
              <a:rPr lang="en-CH" dirty="0"/>
              <a:t>Contracts often model state machines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CH" dirty="0"/>
              <a:t>Perfect application for ADTs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5400E-83BE-450A-7A6E-E6E2291F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55415-73DD-8FC9-8CF8-148611EB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9BB03-FB2C-D500-1417-95BF4524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32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36947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48EB-A572-442A-F27A-AF098540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F22FD-7612-5B49-D7E1-312D7C689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Initial goal: Functional language</a:t>
            </a:r>
          </a:p>
          <a:p>
            <a:pPr lvl="1"/>
            <a:r>
              <a:rPr lang="en-CH" dirty="0"/>
              <a:t>Not widely used, difficult to learn</a:t>
            </a:r>
          </a:p>
          <a:p>
            <a:r>
              <a:rPr lang="en-CH" dirty="0"/>
              <a:t>Language syntax closely based on </a:t>
            </a:r>
            <a:r>
              <a:rPr lang="en-CH" dirty="0">
                <a:solidFill>
                  <a:schemeClr val="accent3"/>
                </a:solidFill>
              </a:rPr>
              <a:t>Rust</a:t>
            </a:r>
          </a:p>
          <a:p>
            <a:pPr lvl="1"/>
            <a:r>
              <a:rPr lang="en-CH" dirty="0"/>
              <a:t>Popular → Easier to adopt</a:t>
            </a:r>
          </a:p>
          <a:p>
            <a:pPr lvl="1"/>
            <a:r>
              <a:rPr lang="en-CH" dirty="0"/>
              <a:t>Safety by default</a:t>
            </a:r>
          </a:p>
          <a:p>
            <a:pPr lvl="1"/>
            <a:r>
              <a:rPr lang="en-CH" dirty="0"/>
              <a:t>ADTs, pattern matching</a:t>
            </a:r>
          </a:p>
          <a:p>
            <a:pPr lvl="1"/>
            <a:r>
              <a:rPr lang="en-CH" dirty="0"/>
              <a:t>“Low-level”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7E6B-B5EB-954C-2955-F613EC66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62AF6-C738-B4D2-E63C-564078CB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98BFE-A4C2-D161-D034-0B143A11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33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20640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6FC9-D41A-BD55-E4C8-A195F778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Feature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BC07-CFC9-0CEE-1E37-BF9696F8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H" dirty="0"/>
              <a:t>User-defined types as in Rust (</a:t>
            </a:r>
            <a:r>
              <a:rPr lang="en-CH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struct</a:t>
            </a:r>
            <a:r>
              <a:rPr lang="en-CH" dirty="0"/>
              <a:t>, </a:t>
            </a:r>
            <a:r>
              <a:rPr lang="en-CH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trait</a:t>
            </a:r>
            <a:r>
              <a:rPr lang="en-CH" dirty="0"/>
              <a:t>, etc.)</a:t>
            </a:r>
          </a:p>
          <a:p>
            <a:pPr lvl="1"/>
            <a:r>
              <a:rPr lang="en-CH" dirty="0"/>
              <a:t>Rust “</a:t>
            </a:r>
            <a:r>
              <a:rPr lang="en-CH" sz="20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enum</a:t>
            </a:r>
            <a:r>
              <a:rPr lang="en-CH" dirty="0"/>
              <a:t>” is actually ADT</a:t>
            </a:r>
          </a:p>
          <a:p>
            <a:pPr lvl="1"/>
            <a:r>
              <a:rPr lang="en-CH" dirty="0"/>
              <a:t>Extended with:</a:t>
            </a:r>
          </a:p>
          <a:p>
            <a:pPr lvl="2"/>
            <a:r>
              <a:rPr lang="en-CH" sz="1800" dirty="0">
                <a:latin typeface="Lucida Console" panose="020B0609040504020204" pitchFamily="49" charset="0"/>
              </a:rPr>
              <a:t> </a:t>
            </a:r>
            <a:r>
              <a:rPr lang="en-CH" sz="1800" dirty="0">
                <a:solidFill>
                  <a:schemeClr val="accent2"/>
                </a:solidFill>
                <a:latin typeface="Lucida Console" panose="020B0609040504020204" pitchFamily="49" charset="0"/>
              </a:rPr>
              <a:t>contract</a:t>
            </a:r>
            <a:r>
              <a:rPr lang="en-CH" dirty="0"/>
              <a:t>  ~  </a:t>
            </a:r>
            <a:r>
              <a:rPr lang="en-CH" sz="1800" dirty="0">
                <a:solidFill>
                  <a:schemeClr val="accent2"/>
                </a:solidFill>
                <a:latin typeface="Lucida Console" panose="020B0609040504020204" pitchFamily="49" charset="0"/>
              </a:rPr>
              <a:t>struct</a:t>
            </a:r>
            <a:endParaRPr lang="en-CH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2"/>
            <a:r>
              <a:rPr lang="en-CH" sz="1800" dirty="0">
                <a:latin typeface="Lucida Console" panose="020B0609040504020204" pitchFamily="49" charset="0"/>
              </a:rPr>
              <a:t> </a:t>
            </a:r>
            <a:r>
              <a:rPr lang="en-CH" sz="18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abi</a:t>
            </a:r>
            <a:r>
              <a:rPr lang="en-CH" dirty="0"/>
              <a:t>  ~  </a:t>
            </a:r>
            <a:r>
              <a:rPr lang="en-CH" sz="1800" dirty="0">
                <a:solidFill>
                  <a:schemeClr val="accent2"/>
                </a:solidFill>
                <a:latin typeface="Lucida Console" panose="020B0609040504020204" pitchFamily="49" charset="0"/>
              </a:rPr>
              <a:t>trait</a:t>
            </a:r>
            <a:endParaRPr lang="en-CH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r>
              <a:rPr lang="en-CH" dirty="0"/>
              <a:t>Generics and trait bounds</a:t>
            </a:r>
          </a:p>
          <a:p>
            <a:pPr lvl="1"/>
            <a:r>
              <a:rPr lang="en-CH" dirty="0"/>
              <a:t>mostly intended for Result types, still experimental</a:t>
            </a:r>
          </a:p>
          <a:p>
            <a:pPr lvl="1"/>
            <a:r>
              <a:rPr lang="en-CH" dirty="0"/>
              <a:t>Contracts and </a:t>
            </a:r>
            <a:r>
              <a:rPr lang="en-CH" dirty="0" err="1"/>
              <a:t>ABIs</a:t>
            </a:r>
            <a:r>
              <a:rPr lang="en-CH" dirty="0"/>
              <a:t> are monomorphic</a:t>
            </a:r>
          </a:p>
          <a:p>
            <a:r>
              <a:rPr lang="en-CH" dirty="0"/>
              <a:t>Type inference (Hindley-Milner)</a:t>
            </a:r>
          </a:p>
          <a:p>
            <a:r>
              <a:rPr lang="en-CH" dirty="0"/>
              <a:t>Side effect checks:</a:t>
            </a:r>
          </a:p>
          <a:p>
            <a:pPr lvl="1"/>
            <a:r>
              <a:rPr lang="en-CH" dirty="0"/>
              <a:t>Default: Function signatures only</a:t>
            </a:r>
          </a:p>
          <a:p>
            <a:pPr lvl="1"/>
            <a:r>
              <a:rPr lang="en-CH" sz="2200" dirty="0">
                <a:latin typeface="Lucida Console" panose="020B0609040504020204" pitchFamily="49" charset="0"/>
              </a:rPr>
              <a:t>--strict</a:t>
            </a:r>
            <a:r>
              <a:rPr lang="en-CH" dirty="0"/>
              <a:t>: Require inline effect annotations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A1AB0-A82D-0E72-36FD-899895E4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8FA1-D025-3154-1213-E80FBCD3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98429-F015-90EA-5E13-B00BF656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34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22703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B8CB-2377-1A0D-E4B1-8D7C6825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7248-1AA5-4A82-38A4-38D3E0027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First: Type inference, side effect checks, monomorphization</a:t>
            </a:r>
          </a:p>
          <a:p>
            <a:r>
              <a:rPr lang="en-CH" dirty="0"/>
              <a:t>Generates </a:t>
            </a:r>
            <a:r>
              <a:rPr lang="en-CH" dirty="0">
                <a:solidFill>
                  <a:schemeClr val="accent2"/>
                </a:solidFill>
              </a:rPr>
              <a:t>Solidity</a:t>
            </a:r>
            <a:r>
              <a:rPr lang="en-CH" dirty="0"/>
              <a:t> code</a:t>
            </a:r>
          </a:p>
          <a:p>
            <a:pPr lvl="1"/>
            <a:r>
              <a:rPr lang="en-CH" dirty="0"/>
              <a:t>Granular control over memory</a:t>
            </a:r>
          </a:p>
          <a:p>
            <a:pPr lvl="1"/>
            <a:r>
              <a:rPr lang="en-CH" dirty="0"/>
              <a:t>Produces optimized bytecode</a:t>
            </a:r>
          </a:p>
          <a:p>
            <a:pPr lvl="1"/>
            <a:r>
              <a:rPr lang="en-CH" dirty="0"/>
              <a:t>“Inline assembly” for specific optimizations</a:t>
            </a:r>
          </a:p>
          <a:p>
            <a:pPr lvl="1"/>
            <a:r>
              <a:rPr lang="en-CH" dirty="0"/>
              <a:t>Guaranteed compatibility with existing contracts</a:t>
            </a:r>
          </a:p>
          <a:p>
            <a:pPr lvl="1"/>
            <a:r>
              <a:rPr lang="en-CH" dirty="0"/>
              <a:t>Can use existing testing / deployment tools</a:t>
            </a:r>
          </a:p>
          <a:p>
            <a:pPr lvl="1"/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B20A-B1C5-2F73-91AB-F78A0EB1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CA4FA-19F6-DBA9-F9E0-2CD48352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62688-47C4-61C2-485F-BC34E504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35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89830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4303-9C4B-60B6-D791-4093181D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892A-D240-3D04-0134-14BF1AB6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CH" dirty="0"/>
              <a:t>ADTs:</a:t>
            </a:r>
          </a:p>
          <a:p>
            <a:pPr lvl="1"/>
            <a:r>
              <a:rPr lang="en-CH" dirty="0"/>
              <a:t>Reduces code complexity</a:t>
            </a:r>
          </a:p>
          <a:p>
            <a:pPr lvl="1"/>
            <a:r>
              <a:rPr lang="en-CH" dirty="0"/>
              <a:t>Less error-prone</a:t>
            </a:r>
          </a:p>
          <a:p>
            <a:pPr lvl="1"/>
            <a:r>
              <a:rPr lang="en-CH" dirty="0"/>
              <a:t>High memory usage (for now)</a:t>
            </a:r>
          </a:p>
          <a:p>
            <a:pPr marL="0" indent="0">
              <a:buNone/>
            </a:pPr>
            <a:endParaRPr lang="en-CH" sz="1800" dirty="0"/>
          </a:p>
          <a:p>
            <a:r>
              <a:rPr lang="en-CH" dirty="0"/>
              <a:t>Reentrancy Protection:</a:t>
            </a:r>
          </a:p>
          <a:p>
            <a:pPr lvl="1"/>
            <a:r>
              <a:rPr lang="en-CH" dirty="0"/>
              <a:t>Disabling reentrancy by default does most of the work</a:t>
            </a:r>
          </a:p>
          <a:p>
            <a:pPr lvl="1"/>
            <a:r>
              <a:rPr lang="en-CH" dirty="0"/>
              <a:t>When does it not suffice?</a:t>
            </a:r>
          </a:p>
          <a:p>
            <a:pPr lvl="2"/>
            <a:r>
              <a:rPr lang="en-CH" dirty="0"/>
              <a:t>Mandated callbacks in token standards</a:t>
            </a:r>
          </a:p>
          <a:p>
            <a:pPr lvl="2"/>
            <a:r>
              <a:rPr lang="en-CH" dirty="0"/>
              <a:t>Cross-contract </a:t>
            </a:r>
            <a:r>
              <a:rPr lang="en-CH" dirty="0" err="1"/>
              <a:t>reentrancies</a:t>
            </a:r>
            <a:endParaRPr lang="en-CH" dirty="0"/>
          </a:p>
          <a:p>
            <a:pPr lvl="2"/>
            <a:r>
              <a:rPr lang="en-CH" dirty="0"/>
              <a:t>Specific use cases (e.g. flash loans)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B9E4D-228B-1EBF-08D5-75664586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6F595-200A-59FE-CC12-BAD8DBE4D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C10FA-B9F5-DD7F-06F4-54341547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36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EE0F8C-0387-1F1A-1134-F624ED621D8C}"/>
              </a:ext>
            </a:extLst>
          </p:cNvPr>
          <p:cNvSpPr txBox="1">
            <a:spLocks/>
          </p:cNvSpPr>
          <p:nvPr/>
        </p:nvSpPr>
        <p:spPr>
          <a:xfrm>
            <a:off x="5288280" y="1825625"/>
            <a:ext cx="66370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dirty="0"/>
              <a:t>Side Effect Annotations:</a:t>
            </a:r>
          </a:p>
          <a:p>
            <a:pPr lvl="1"/>
            <a:r>
              <a:rPr lang="en-CH" dirty="0"/>
              <a:t>Primary goal: enhance auditability</a:t>
            </a:r>
          </a:p>
          <a:p>
            <a:pPr lvl="1"/>
            <a:r>
              <a:rPr lang="en-CH" dirty="0"/>
              <a:t>Difficult to quantify</a:t>
            </a:r>
          </a:p>
          <a:p>
            <a:pPr lvl="1"/>
            <a:r>
              <a:rPr lang="en-CH" dirty="0"/>
              <a:t>Helps flag unexpected / missing side effects</a:t>
            </a:r>
          </a:p>
          <a:p>
            <a:pPr lvl="1"/>
            <a:r>
              <a:rPr lang="en-CH" dirty="0"/>
              <a:t>Can be propagated across reentrant calls</a:t>
            </a:r>
          </a:p>
        </p:txBody>
      </p:sp>
    </p:spTree>
    <p:extLst>
      <p:ext uri="{BB962C8B-B14F-4D97-AF65-F5344CB8AC3E}">
        <p14:creationId xmlns:p14="http://schemas.microsoft.com/office/powerpoint/2010/main" val="2206728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D12ED-B89B-47F9-274E-31ACAA12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Reentrancies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C1ED4-F0C5-E839-0E0F-99DF3B8D1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Breakdown of 54 reentrancy exploits 2021-2024: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29F6C-7D5E-46FB-93AC-F42F14DA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F80E4-61B4-B319-B434-3E89BF70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8EE6D-E6F0-DF0D-5D9D-679BCC2E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37</a:t>
            </a:fld>
            <a:r>
              <a:rPr lang="en-CH"/>
              <a:t> / XX</a:t>
            </a:r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DB1B0D-3F5B-02E8-2AFC-3CC805FB2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59649"/>
              </p:ext>
            </p:extLst>
          </p:nvPr>
        </p:nvGraphicFramePr>
        <p:xfrm>
          <a:off x="838198" y="2431574"/>
          <a:ext cx="8603974" cy="3561080"/>
        </p:xfrm>
        <a:graphic>
          <a:graphicData uri="http://schemas.openxmlformats.org/drawingml/2006/table">
            <a:tbl>
              <a:tblPr firstRow="1" lastRow="1">
                <a:tableStyleId>{073A0DAA-6AF3-43AB-8588-CEC1D06C72B9}</a:tableStyleId>
              </a:tblPr>
              <a:tblGrid>
                <a:gridCol w="1802435">
                  <a:extLst>
                    <a:ext uri="{9D8B030D-6E8A-4147-A177-3AD203B41FA5}">
                      <a16:colId xmlns:a16="http://schemas.microsoft.com/office/drawing/2014/main" val="894599600"/>
                    </a:ext>
                  </a:extLst>
                </a:gridCol>
                <a:gridCol w="847720">
                  <a:extLst>
                    <a:ext uri="{9D8B030D-6E8A-4147-A177-3AD203B41FA5}">
                      <a16:colId xmlns:a16="http://schemas.microsoft.com/office/drawing/2014/main" val="203540333"/>
                    </a:ext>
                  </a:extLst>
                </a:gridCol>
                <a:gridCol w="1514375">
                  <a:extLst>
                    <a:ext uri="{9D8B030D-6E8A-4147-A177-3AD203B41FA5}">
                      <a16:colId xmlns:a16="http://schemas.microsoft.com/office/drawing/2014/main" val="1149094040"/>
                    </a:ext>
                  </a:extLst>
                </a:gridCol>
                <a:gridCol w="2300862">
                  <a:extLst>
                    <a:ext uri="{9D8B030D-6E8A-4147-A177-3AD203B41FA5}">
                      <a16:colId xmlns:a16="http://schemas.microsoft.com/office/drawing/2014/main" val="733630150"/>
                    </a:ext>
                  </a:extLst>
                </a:gridCol>
                <a:gridCol w="2138582">
                  <a:extLst>
                    <a:ext uri="{9D8B030D-6E8A-4147-A177-3AD203B41FA5}">
                      <a16:colId xmlns:a16="http://schemas.microsoft.com/office/drawing/2014/main" val="2522803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sz="2000" dirty="0"/>
                        <a:t>Category</a:t>
                      </a: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2000" dirty="0"/>
                        <a:t>Count</a:t>
                      </a: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2000" dirty="0"/>
                        <a:t>Funds Lost</a:t>
                      </a: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2000" dirty="0"/>
                        <a:t>No Reentrancies</a:t>
                      </a: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2000" dirty="0"/>
                        <a:t>Path-Specific</a:t>
                      </a: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821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Missing Guard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37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$141 million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Yes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0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Cross-Protocol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6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$9.6 million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If upstream protocol uses this compiler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48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Callback Token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6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$57.6 million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Yes</a:t>
                      </a:r>
                    </a:p>
                    <a:p>
                      <a:pPr algn="ctr"/>
                      <a:r>
                        <a:rPr lang="en-CH" b="1" dirty="0"/>
                        <a:t>(incompatible with the token standard)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Yes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55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Cross-Function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2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$27.7 million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No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Yes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37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Flash Loan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2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$5.7 million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No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Yes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3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Compiler Bug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b="1" dirty="0"/>
                        <a:t>1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$41 million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H" b="1" dirty="0"/>
                        <a:t>Unclear</a:t>
                      </a:r>
                    </a:p>
                  </a:txBody>
                  <a:tcPr marL="54000" marR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65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CH" sz="2000" dirty="0"/>
                        <a:t>Total</a:t>
                      </a:r>
                    </a:p>
                  </a:txBody>
                  <a:tcPr marL="54000" marR="5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2000" dirty="0"/>
                        <a:t>54</a:t>
                      </a:r>
                    </a:p>
                  </a:txBody>
                  <a:tcPr marL="54000" marR="5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2000" dirty="0"/>
                        <a:t>$187 million</a:t>
                      </a:r>
                    </a:p>
                  </a:txBody>
                  <a:tcPr marL="54000" marR="5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2000" dirty="0"/>
                        <a:t>49/54</a:t>
                      </a:r>
                    </a:p>
                  </a:txBody>
                  <a:tcPr marL="54000" marR="5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2000" dirty="0"/>
                        <a:t>53/54</a:t>
                      </a:r>
                    </a:p>
                  </a:txBody>
                  <a:tcPr marL="54000" marR="5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68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732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D1DC-16BA-AC15-FD23-2C9971E3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Overhead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073C-A903-CA8B-A8CD-3A95B9BAF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Performance:</a:t>
            </a:r>
          </a:p>
          <a:p>
            <a:r>
              <a:rPr lang="en-CH" dirty="0"/>
              <a:t>Main performance difference: Reentrancy guards </a:t>
            </a:r>
            <a:r>
              <a:rPr lang="en-CH" sz="2400" dirty="0">
                <a:solidFill>
                  <a:schemeClr val="tx2"/>
                </a:solidFill>
              </a:rPr>
              <a:t>(see next slide)</a:t>
            </a:r>
            <a:endParaRPr lang="en-CH" dirty="0">
              <a:solidFill>
                <a:schemeClr val="tx2"/>
              </a:solidFill>
            </a:endParaRPr>
          </a:p>
          <a:p>
            <a:r>
              <a:rPr lang="en-CH" dirty="0"/>
              <a:t>Significant potential savings in ADT-heavy code</a:t>
            </a:r>
          </a:p>
          <a:p>
            <a:pPr marL="0" indent="0">
              <a:buNone/>
            </a:pPr>
            <a:endParaRPr lang="en-CH" sz="2400" dirty="0"/>
          </a:p>
          <a:p>
            <a:pPr marL="0" indent="0">
              <a:buNone/>
            </a:pPr>
            <a:r>
              <a:rPr lang="en-CH" b="1" dirty="0"/>
              <a:t>Coding: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24778-0D67-4519-B242-81A385C3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D67A7-B7A6-9CA1-0C7B-73B8BB9B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F68E6-9AA3-3821-A5A9-671C7998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38</a:t>
            </a:fld>
            <a:r>
              <a:rPr lang="en-CH"/>
              <a:t> / XX</a:t>
            </a:r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2B1DDB-C8AC-1FC3-F363-6730D34CB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29787"/>
              </p:ext>
            </p:extLst>
          </p:nvPr>
        </p:nvGraphicFramePr>
        <p:xfrm>
          <a:off x="5614622" y="3682683"/>
          <a:ext cx="5739178" cy="249428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755551792"/>
                    </a:ext>
                  </a:extLst>
                </a:gridCol>
                <a:gridCol w="770213">
                  <a:extLst>
                    <a:ext uri="{9D8B030D-6E8A-4147-A177-3AD203B41FA5}">
                      <a16:colId xmlns:a16="http://schemas.microsoft.com/office/drawing/2014/main" val="1949588284"/>
                    </a:ext>
                  </a:extLst>
                </a:gridCol>
                <a:gridCol w="847659">
                  <a:extLst>
                    <a:ext uri="{9D8B030D-6E8A-4147-A177-3AD203B41FA5}">
                      <a16:colId xmlns:a16="http://schemas.microsoft.com/office/drawing/2014/main" val="2857384281"/>
                    </a:ext>
                  </a:extLst>
                </a:gridCol>
                <a:gridCol w="1317461">
                  <a:extLst>
                    <a:ext uri="{9D8B030D-6E8A-4147-A177-3AD203B41FA5}">
                      <a16:colId xmlns:a16="http://schemas.microsoft.com/office/drawing/2014/main" val="2320543094"/>
                    </a:ext>
                  </a:extLst>
                </a:gridCol>
                <a:gridCol w="1003845">
                  <a:extLst>
                    <a:ext uri="{9D8B030D-6E8A-4147-A177-3AD203B41FA5}">
                      <a16:colId xmlns:a16="http://schemas.microsoft.com/office/drawing/2014/main" val="2674435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Contract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State vars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LoC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Function signatures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Inline effects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88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ERC20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~50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6 (12)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 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177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Simple DEX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~100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7 (24)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 (8)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718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Curve </a:t>
                      </a:r>
                      <a:r>
                        <a:rPr lang="en-CH" dirty="0" err="1"/>
                        <a:t>Tricrypto</a:t>
                      </a:r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~1500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33 (98)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24 (73)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6182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/>
                        <a:t>todo</a:t>
                      </a:r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2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 err="1"/>
                        <a:t>todo</a:t>
                      </a:r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281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314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C65E-961F-E1C5-8CA8-B90B4CEA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747ABE-40D2-58EC-973A-5D15951453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825625"/>
            <a:ext cx="438016" cy="2853380"/>
          </a:xfrm>
        </p:spPr>
        <p:txBody>
          <a:bodyPr>
            <a:noAutofit/>
          </a:bodyPr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C96A26A-0CBE-11B4-E2B4-D0F22514D3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215" y="1825625"/>
            <a:ext cx="10163497" cy="2853380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# _transfer_in updates self.balances here:</a:t>
            </a:r>
          </a:p>
          <a:p>
            <a:r>
              <a:rPr lang="en-US" dirty="0"/>
              <a:t>dx_received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uint256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self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_transfer_in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i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CH" dirty="0"/>
              <a:t> </a:t>
            </a:r>
            <a:r>
              <a:rPr lang="en-US" dirty="0"/>
              <a:t>dx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CH" dirty="0"/>
              <a:t> </a:t>
            </a:r>
            <a:r>
              <a:rPr lang="en-US" dirty="0">
                <a:solidFill>
                  <a:schemeClr val="accent3"/>
                </a:solidFill>
              </a:rPr>
              <a:t>msg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>
                <a:solidFill>
                  <a:schemeClr val="accent3"/>
                </a:solidFill>
              </a:rPr>
              <a:t>sender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CH" dirty="0"/>
              <a:t> </a:t>
            </a:r>
            <a:r>
              <a:rPr lang="en-US" dirty="0"/>
              <a:t>False</a:t>
            </a:r>
            <a:r>
              <a:rPr lang="en-CH" dirty="0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# No ERC20 token transfers occur here:</a:t>
            </a:r>
          </a:p>
          <a:p>
            <a:r>
              <a:rPr lang="en-US" dirty="0"/>
              <a:t>out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uint256</a:t>
            </a:r>
            <a:r>
              <a:rPr lang="en-US" dirty="0">
                <a:solidFill>
                  <a:schemeClr val="accent1"/>
                </a:solidFill>
              </a:rPr>
              <a:t>[</a:t>
            </a:r>
            <a:r>
              <a:rPr lang="en-US" dirty="0">
                <a:solidFill>
                  <a:schemeClr val="accent4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]</a:t>
            </a:r>
            <a:r>
              <a:rPr lang="en-US" dirty="0"/>
              <a:t> = </a:t>
            </a:r>
            <a:r>
              <a:rPr lang="en-US" dirty="0">
                <a:solidFill>
                  <a:schemeClr val="accent3"/>
                </a:solidFill>
              </a:rPr>
              <a:t>self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_exchange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i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CH" dirty="0"/>
              <a:t> </a:t>
            </a:r>
            <a:r>
              <a:rPr lang="en-US" dirty="0"/>
              <a:t>j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US" dirty="0"/>
              <a:t> dx_received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CH" dirty="0"/>
              <a:t> </a:t>
            </a:r>
            <a:r>
              <a:rPr lang="en-US" dirty="0"/>
              <a:t>min_dy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# _transfer_out updates self.balances here.</a:t>
            </a:r>
            <a:endParaRPr lang="en-CH" dirty="0">
              <a:solidFill>
                <a:schemeClr val="accent5"/>
              </a:solidFill>
            </a:endParaRPr>
          </a:p>
          <a:p>
            <a:r>
              <a:rPr lang="en-CH" dirty="0">
                <a:solidFill>
                  <a:schemeClr val="accent5"/>
                </a:solidFill>
              </a:rPr>
              <a:t># </a:t>
            </a:r>
            <a:r>
              <a:rPr lang="en-US" dirty="0">
                <a:solidFill>
                  <a:schemeClr val="accent5"/>
                </a:solidFill>
              </a:rPr>
              <a:t>Update to state occurs before</a:t>
            </a:r>
            <a:r>
              <a:rPr lang="en-CH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chemeClr val="accent5"/>
                </a:solidFill>
              </a:rPr>
              <a:t>external calls:</a:t>
            </a:r>
          </a:p>
          <a:p>
            <a:r>
              <a:rPr lang="en-US" dirty="0">
                <a:solidFill>
                  <a:schemeClr val="accent3"/>
                </a:solidFill>
              </a:rPr>
              <a:t>self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_transfer_out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j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US" dirty="0"/>
              <a:t> out</a:t>
            </a:r>
            <a:r>
              <a:rPr lang="en-US" dirty="0">
                <a:solidFill>
                  <a:schemeClr val="accent1"/>
                </a:solidFill>
              </a:rPr>
              <a:t>[</a:t>
            </a:r>
            <a:r>
              <a:rPr lang="en-US" dirty="0">
                <a:solidFill>
                  <a:schemeClr val="accent4"/>
                </a:solidFill>
              </a:rPr>
              <a:t>0</a:t>
            </a:r>
            <a:r>
              <a:rPr lang="en-US" dirty="0">
                <a:solidFill>
                  <a:schemeClr val="accent1"/>
                </a:solidFill>
              </a:rPr>
              <a:t>]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US" dirty="0"/>
              <a:t> receiver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B42681B-3CE0-F574-738C-546374AE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Curve comment example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586A7D10-51D3-D54C-27C8-DCE4693B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AA7C436B-D603-5A04-924B-263F10E2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214C7FE-3A4B-3187-7F33-445DC2F6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39</a:t>
            </a:fld>
            <a:r>
              <a:rPr lang="en-CH"/>
              <a:t> / XX</a:t>
            </a:r>
            <a:endParaRPr lang="en-CH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EAE103-83D2-5EAF-C6C3-AF918081C579}"/>
              </a:ext>
            </a:extLst>
          </p:cNvPr>
          <p:cNvCxnSpPr>
            <a:cxnSpLocks/>
          </p:cNvCxnSpPr>
          <p:nvPr/>
        </p:nvCxnSpPr>
        <p:spPr>
          <a:xfrm>
            <a:off x="1276350" y="1825625"/>
            <a:ext cx="0" cy="28533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159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59EB-6C55-B8E4-3060-59896726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Cost of Reentrancy Guards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46448-4ADB-24B4-577F-C88398AB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23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dirty="0"/>
              <a:t>Reading / Writing Storage is expensive!</a:t>
            </a:r>
          </a:p>
          <a:p>
            <a:pPr marL="0" indent="0">
              <a:buNone/>
            </a:pPr>
            <a:r>
              <a:rPr lang="en-CH" dirty="0"/>
              <a:t>Reference Costs:</a:t>
            </a:r>
          </a:p>
          <a:p>
            <a:r>
              <a:rPr lang="en-CH" sz="2400" dirty="0"/>
              <a:t>Base transaction cost: 21’000 gas</a:t>
            </a:r>
          </a:p>
          <a:p>
            <a:r>
              <a:rPr lang="en-CH" sz="2400" dirty="0"/>
              <a:t>External call (cold): 2600 gas</a:t>
            </a:r>
          </a:p>
          <a:p>
            <a:r>
              <a:rPr lang="en-CH" sz="2400" dirty="0"/>
              <a:t>ERC20 Transfer: ~40k-65k gas</a:t>
            </a:r>
          </a:p>
          <a:p>
            <a:r>
              <a:rPr lang="en-CH" sz="2400" dirty="0"/>
              <a:t>DEX trade: ~200-400k gas</a:t>
            </a:r>
          </a:p>
          <a:p>
            <a:pPr marL="0" indent="0">
              <a:buNone/>
            </a:pPr>
            <a:endParaRPr lang="en-CH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EC1AB-6370-9FD4-956B-ABDD2865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060E1-89C3-BA1F-21B5-346F6C5D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/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10FC-33E4-FF06-BB8C-E3F3FCB5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40</a:t>
            </a:fld>
            <a:r>
              <a:rPr lang="en-CH"/>
              <a:t> / XX</a:t>
            </a:r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182278-90D1-7429-B210-681FF7FE5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30772"/>
              </p:ext>
            </p:extLst>
          </p:nvPr>
        </p:nvGraphicFramePr>
        <p:xfrm>
          <a:off x="5715000" y="2376690"/>
          <a:ext cx="5951200" cy="369824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91336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3195771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105794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8099519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63912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sz="2000" dirty="0"/>
                        <a:t>Cache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dirty="0"/>
                        <a:t>Scenario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dirty="0"/>
                        <a:t>OZ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dirty="0"/>
                        <a:t>Ours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dirty="0"/>
                        <a:t>Delta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76064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Warm Slot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Default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300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300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8183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No external calls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300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-200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0012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Read-only function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55579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/>
                          </a:solidFill>
                        </a:rPr>
                        <a:t>Cold Slot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Default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2300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2300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203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No external calls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2300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2100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-200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961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Read-only function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2100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2100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39574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834BCC0-FC79-35C3-E45D-6B3CC6627B99}"/>
              </a:ext>
            </a:extLst>
          </p:cNvPr>
          <p:cNvGrpSpPr/>
          <p:nvPr/>
        </p:nvGrpSpPr>
        <p:grpSpPr>
          <a:xfrm>
            <a:off x="7315200" y="3759200"/>
            <a:ext cx="4351000" cy="2290330"/>
            <a:chOff x="7315200" y="3759200"/>
            <a:chExt cx="4351000" cy="22903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3E2AC4-568B-BE0B-A171-F2E1183C4515}"/>
                </a:ext>
              </a:extLst>
            </p:cNvPr>
            <p:cNvSpPr/>
            <p:nvPr/>
          </p:nvSpPr>
          <p:spPr>
            <a:xfrm>
              <a:off x="7315200" y="3759200"/>
              <a:ext cx="4351000" cy="64008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0B25E2E-EB14-A43F-E1E4-595689CC3D01}"/>
                </a:ext>
              </a:extLst>
            </p:cNvPr>
            <p:cNvSpPr/>
            <p:nvPr/>
          </p:nvSpPr>
          <p:spPr>
            <a:xfrm>
              <a:off x="7315200" y="5409450"/>
              <a:ext cx="4351000" cy="64008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5BAD55D-A92F-7796-AD9A-C55FA5760706}"/>
              </a:ext>
            </a:extLst>
          </p:cNvPr>
          <p:cNvSpPr txBox="1"/>
          <p:nvPr/>
        </p:nvSpPr>
        <p:spPr>
          <a:xfrm>
            <a:off x="1148080" y="5090160"/>
            <a:ext cx="3972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800" dirty="0">
                <a:solidFill>
                  <a:schemeClr val="accent1">
                    <a:lumMod val="75000"/>
                  </a:schemeClr>
                </a:solidFill>
              </a:rPr>
              <a:t>Potential Vulnerabilities!</a:t>
            </a:r>
            <a:br>
              <a:rPr lang="en-CH" sz="2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H" sz="2800" dirty="0">
                <a:solidFill>
                  <a:schemeClr val="accent1">
                    <a:lumMod val="75000"/>
                  </a:schemeClr>
                </a:solidFill>
              </a:rPr>
              <a:t>(cross-protocol)</a:t>
            </a:r>
          </a:p>
        </p:txBody>
      </p:sp>
    </p:spTree>
    <p:extLst>
      <p:ext uri="{BB962C8B-B14F-4D97-AF65-F5344CB8AC3E}">
        <p14:creationId xmlns:p14="http://schemas.microsoft.com/office/powerpoint/2010/main" val="75890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47EC-EB1C-BC69-7E50-52FFCCB1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7C26E-7BAD-5716-276D-F04B6667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Language design effectively prevents reentrancy bugs</a:t>
            </a:r>
          </a:p>
          <a:p>
            <a:pPr lvl="1"/>
            <a:r>
              <a:rPr lang="en-CH" dirty="0"/>
              <a:t>Facilitates (static) analysis across reentrant call paths</a:t>
            </a:r>
          </a:p>
          <a:p>
            <a:r>
              <a:rPr lang="en-CH" dirty="0"/>
              <a:t>Effect annotations result in significant coding overhead</a:t>
            </a:r>
          </a:p>
          <a:p>
            <a:pPr lvl="1"/>
            <a:r>
              <a:rPr lang="en-CH" dirty="0"/>
              <a:t>But improve auditability</a:t>
            </a:r>
          </a:p>
          <a:p>
            <a:pPr lvl="1"/>
            <a:r>
              <a:rPr lang="en-CH" dirty="0"/>
              <a:t>Flag unexpected or missing side effects</a:t>
            </a:r>
          </a:p>
          <a:p>
            <a:r>
              <a:rPr lang="en-CH" dirty="0"/>
              <a:t>ADTs enable type-safe modelling of state machines</a:t>
            </a:r>
          </a:p>
          <a:p>
            <a:pPr lvl="1"/>
            <a:r>
              <a:rPr lang="en-CH" dirty="0"/>
              <a:t>Code becomes less error-prone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12BED-04BB-8575-8B88-E8EA465D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42E54-657E-E7FD-76E9-46F0F688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/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4E785-551C-D29A-65C4-AB6B27FE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41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38107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3ECD-B222-140F-0CF6-39096498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F952-40A4-519A-DE97-003D3E3CF1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H" dirty="0"/>
              <a:t>Features:</a:t>
            </a:r>
          </a:p>
          <a:p>
            <a:pPr lvl="1"/>
            <a:r>
              <a:rPr lang="en-CH" dirty="0"/>
              <a:t>Automatically split large contracts</a:t>
            </a:r>
          </a:p>
          <a:p>
            <a:pPr lvl="1"/>
            <a:r>
              <a:rPr lang="en-CH" dirty="0"/>
              <a:t>Error handling (with result types)</a:t>
            </a:r>
          </a:p>
          <a:p>
            <a:pPr lvl="1"/>
            <a:r>
              <a:rPr lang="en-CH" dirty="0"/>
              <a:t>More effect types</a:t>
            </a:r>
          </a:p>
          <a:p>
            <a:pPr lvl="1"/>
            <a:r>
              <a:rPr lang="en-CH" dirty="0"/>
              <a:t>Access Control mechanisms</a:t>
            </a:r>
          </a:p>
          <a:p>
            <a:endParaRPr lang="en-CH" dirty="0"/>
          </a:p>
          <a:p>
            <a:r>
              <a:rPr lang="en-CH" dirty="0"/>
              <a:t>Codegen: Rely less on Solidity</a:t>
            </a:r>
          </a:p>
          <a:p>
            <a:pPr lvl="1"/>
            <a:r>
              <a:rPr lang="en-CH" dirty="0"/>
              <a:t>Optimize memory allocations</a:t>
            </a:r>
          </a:p>
          <a:p>
            <a:pPr lvl="1"/>
            <a:r>
              <a:rPr lang="en-CH" dirty="0"/>
              <a:t>Generate Yul IR directly</a:t>
            </a:r>
          </a:p>
          <a:p>
            <a:endParaRPr lang="en-CH" dirty="0"/>
          </a:p>
          <a:p>
            <a:r>
              <a:rPr lang="en-CH" dirty="0"/>
              <a:t>User Studies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C5272F-270B-8F01-1127-F98F45E44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39740" cy="4351338"/>
          </a:xfrm>
        </p:spPr>
        <p:txBody>
          <a:bodyPr>
            <a:normAutofit fontScale="92500" lnSpcReduction="10000"/>
          </a:bodyPr>
          <a:lstStyle/>
          <a:p>
            <a:r>
              <a:rPr lang="en-CH" dirty="0"/>
              <a:t>Adoption Road-Blocks:</a:t>
            </a:r>
          </a:p>
          <a:p>
            <a:pPr lvl="1"/>
            <a:r>
              <a:rPr lang="en-CH" dirty="0"/>
              <a:t>EVM features:</a:t>
            </a:r>
          </a:p>
          <a:p>
            <a:pPr lvl="2"/>
            <a:r>
              <a:rPr lang="en-CH" dirty="0"/>
              <a:t>events</a:t>
            </a:r>
          </a:p>
          <a:p>
            <a:pPr lvl="2"/>
            <a:r>
              <a:rPr lang="en-CH" dirty="0"/>
              <a:t>special call types</a:t>
            </a:r>
          </a:p>
          <a:p>
            <a:pPr lvl="2"/>
            <a:r>
              <a:rPr lang="en-CH" dirty="0"/>
              <a:t>programmatic contract creation</a:t>
            </a:r>
          </a:p>
          <a:p>
            <a:pPr lvl="1"/>
            <a:r>
              <a:rPr lang="en-CH" dirty="0"/>
              <a:t>Improve effect syntax</a:t>
            </a:r>
          </a:p>
          <a:p>
            <a:pPr lvl="2"/>
            <a:r>
              <a:rPr lang="en-CH" dirty="0"/>
              <a:t>rigorous handling of variable mutability</a:t>
            </a:r>
          </a:p>
          <a:p>
            <a:pPr lvl="1"/>
            <a:r>
              <a:rPr lang="en-CH" dirty="0"/>
              <a:t>Auto-generate effect annotations</a:t>
            </a:r>
          </a:p>
          <a:p>
            <a:pPr lvl="2"/>
            <a:r>
              <a:rPr lang="en-CH" dirty="0"/>
              <a:t>to reduce overhead</a:t>
            </a:r>
          </a:p>
          <a:p>
            <a:pPr lvl="1"/>
            <a:r>
              <a:rPr lang="en-CH" dirty="0"/>
              <a:t>Memory-efficient ADTs</a:t>
            </a:r>
          </a:p>
          <a:p>
            <a:pPr lvl="1"/>
            <a:r>
              <a:rPr lang="en-CH" dirty="0"/>
              <a:t>Modularity </a:t>
            </a:r>
            <a:r>
              <a:rPr lang="en-CH" sz="1900" dirty="0"/>
              <a:t>(libraries, contract composition)</a:t>
            </a:r>
            <a:endParaRPr lang="en-CH" dirty="0"/>
          </a:p>
          <a:p>
            <a:pPr lvl="1"/>
            <a:r>
              <a:rPr lang="en-CH" dirty="0"/>
              <a:t>Documentation</a:t>
            </a:r>
          </a:p>
          <a:p>
            <a:pPr lvl="1"/>
            <a:r>
              <a:rPr lang="en-CH" dirty="0"/>
              <a:t>Tooling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6AD-3315-1E5B-6CD1-9E23E8A1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11F5F-A0C9-1FDB-1685-2E450D9A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370B4-B3A9-2302-C6D8-6448BE28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42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89462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7A24B2-0BCB-536E-3C94-3974987D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BC9C-2DBC-4906-EEF7-0EAE2FD8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64DF2-C902-80E3-AA11-7B92E60D3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A clean slide thanking the audience and opening the floor for questions.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FDCC38E-1A4D-CEFF-E68B-F5C34D78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39B10B4-FBCE-956E-8150-5A75B99D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FFFC763-946A-9599-2042-7EA94017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43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071451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2AB2-2ADC-F734-0542-7602AB1E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1AF25-A2E8-B876-B465-B0D8781F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CF91-966D-8DA4-7E89-E8394917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062E1-FC84-D62B-00E2-D6660204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H"/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4F9FC-F5DA-F0F7-3A75-E922447E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44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083579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F7CCA2-A039-D8C4-6724-FB1AB063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2F53-5C2F-8775-44AC-81CE5350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909F-EAFC-05F3-E693-77B21BCD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Perhaps add some examples of more difficult to explain vulnerabilities in case of questions? Or further reentrancy / event ordering / side effect bugs.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3DD231D-5709-5D64-EEBE-74CEB28D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1D1E63D-2977-4C9F-3BCB-3DFDD853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1625911-82A6-595D-2C8C-8BA27E25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45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24025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4A9B-35EC-779C-7650-9ABA7E22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164E-219C-24EE-606B-B716273E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Common Vulnerabilities (Count)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9D83CE-53CA-71AB-E631-5E1719CB7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103347"/>
              </p:ext>
            </p:extLst>
          </p:nvPr>
        </p:nvGraphicFramePr>
        <p:xfrm>
          <a:off x="838200" y="1385888"/>
          <a:ext cx="10515602" cy="451402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894114">
                  <a:extLst>
                    <a:ext uri="{9D8B030D-6E8A-4147-A177-3AD203B41FA5}">
                      <a16:colId xmlns:a16="http://schemas.microsoft.com/office/drawing/2014/main" val="2890287269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652843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44506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856676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631979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4327112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15891655"/>
                    </a:ext>
                  </a:extLst>
                </a:gridCol>
              </a:tblGrid>
              <a:tr h="324514">
                <a:tc>
                  <a:txBody>
                    <a:bodyPr/>
                    <a:lstStyle/>
                    <a:p>
                      <a:r>
                        <a:rPr lang="en-CH" dirty="0"/>
                        <a:t>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791428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Business Logic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27.5%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719852116"/>
                  </a:ext>
                </a:extLst>
              </a:tr>
              <a:tr h="5432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Price Manipulation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19.7%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755323156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Access Control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13.8%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495396341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Reentrancy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9.84%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69322149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Input Validation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6.92%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1962660056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7.29%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1772808413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Arbitrary Call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4.74%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3441782785"/>
                  </a:ext>
                </a:extLst>
              </a:tr>
              <a:tr h="560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Token Design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3932290842"/>
                  </a:ext>
                </a:extLst>
              </a:tr>
              <a:tr h="5432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Slippage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2.37%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317046057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Other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2.73%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3099475387"/>
                  </a:ext>
                </a:extLst>
              </a:tr>
            </a:tbl>
          </a:graphicData>
        </a:graphic>
      </p:graphicFrame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45B2709-65EB-8F4F-6D1F-C51F05B1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9EF16B0-EF7F-C7EA-6239-45BD6796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DFC27C2-599F-21C2-9A23-9A561AB2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46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694988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AE7C-F699-93CC-8B40-D2CAE4E3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F207-A58A-3A2C-7F32-C722272C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Common Vulnerabilities (Funds Lost, in $M)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8081DF-AE4A-C3E8-B5EE-829C98A36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2307690"/>
              </p:ext>
            </p:extLst>
          </p:nvPr>
        </p:nvGraphicFramePr>
        <p:xfrm>
          <a:off x="838200" y="1385888"/>
          <a:ext cx="10515602" cy="451402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894114">
                  <a:extLst>
                    <a:ext uri="{9D8B030D-6E8A-4147-A177-3AD203B41FA5}">
                      <a16:colId xmlns:a16="http://schemas.microsoft.com/office/drawing/2014/main" val="2890287269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652843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44506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856676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631979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4327112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15891655"/>
                    </a:ext>
                  </a:extLst>
                </a:gridCol>
              </a:tblGrid>
              <a:tr h="324514">
                <a:tc>
                  <a:txBody>
                    <a:bodyPr/>
                    <a:lstStyle/>
                    <a:p>
                      <a:r>
                        <a:rPr lang="en-CH" dirty="0"/>
                        <a:t>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791428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Business Logic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31.355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719852116"/>
                  </a:ext>
                </a:extLst>
              </a:tr>
              <a:tr h="5432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Price Manipulation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25.25154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755323156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Access Control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60.5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3.620186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495396341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Reentrancy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16.99393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69322149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Input Validation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10.6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141.5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8.467046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1962660056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3.7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151.7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9.077391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1772808413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Arbitrary Call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15.7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0.939453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3441782785"/>
                  </a:ext>
                </a:extLst>
              </a:tr>
              <a:tr h="560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Token Design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0.076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0.355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5.631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0.336947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3932290842"/>
                  </a:ext>
                </a:extLst>
              </a:tr>
              <a:tr h="5432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Slippage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0.663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0.091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11.754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0.703333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2317046057"/>
                  </a:ext>
                </a:extLst>
              </a:tr>
              <a:tr h="324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Other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54.4</a:t>
                      </a:r>
                    </a:p>
                  </a:txBody>
                  <a:tcPr marL="72000" marR="72000" marT="36000" marB="3600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H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3.255175</a:t>
                      </a:r>
                    </a:p>
                  </a:txBody>
                  <a:tcPr marL="72000" marR="72000" marT="36000" marB="36000" anchor="b"/>
                </a:tc>
                <a:extLst>
                  <a:ext uri="{0D108BD9-81ED-4DB2-BD59-A6C34878D82A}">
                    <a16:rowId xmlns:a16="http://schemas.microsoft.com/office/drawing/2014/main" val="3099475387"/>
                  </a:ext>
                </a:extLst>
              </a:tr>
            </a:tbl>
          </a:graphicData>
        </a:graphic>
      </p:graphicFrame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2885CBF-F704-A3FE-3C82-E9DB07FD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AAC4EB0-26C0-C7E6-C47E-0A485135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7D8438-7FB5-13E9-5731-C418FBEA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47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39273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7BB2-96EE-F2BA-AC71-83B98DB9E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8F72-9DA0-546B-2CAC-2DE1CDDAF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summarize other similar projects / papers / theses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CD38-BBD7-4119-DF16-D3F1ED5895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70519-779E-1AED-0210-47F44598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7875-6032-1360-C8D9-66599761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13ED95-016C-42D7-B550-5C99AA40E4D5}" type="slidenum">
              <a:rPr lang="en-CH" smtClean="0"/>
              <a:pPr/>
              <a:t>48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357833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2BA41-457C-144F-2B8D-A631E4F531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433638"/>
            <a:ext cx="438016" cy="3743325"/>
          </a:xfrm>
        </p:spPr>
        <p:txBody>
          <a:bodyPr>
            <a:noAutofit/>
          </a:bodyPr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CE8F401-762D-755D-D69E-EC3696C3A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215" y="2433638"/>
            <a:ext cx="6921633" cy="3743325"/>
          </a:xfrm>
        </p:spPr>
        <p:txBody>
          <a:bodyPr/>
          <a:lstStyle/>
          <a:p>
            <a:r>
              <a:rPr lang="en-CH" dirty="0"/>
              <a:t>  </a:t>
            </a:r>
            <a:r>
              <a:rPr lang="en-US" dirty="0">
                <a:solidFill>
                  <a:schemeClr val="accent1"/>
                </a:solidFill>
              </a:rPr>
              <a:t>fn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transfer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to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US" dirty="0"/>
              <a:t> amount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  </a:t>
            </a:r>
            <a:r>
              <a:rPr lang="en-US" dirty="0">
                <a:solidFill>
                  <a:schemeClr val="accent4"/>
                </a:solidFill>
              </a:rPr>
              <a:t>modifies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3"/>
                </a:solidFill>
              </a:rPr>
              <a:t>self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balances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</a:t>
            </a:r>
            <a:r>
              <a:rPr lang="en-US" dirty="0">
                <a:solidFill>
                  <a:schemeClr val="accent1"/>
                </a:solidFill>
              </a:rPr>
              <a:t>{</a:t>
            </a:r>
            <a:r>
              <a:rPr lang="en-CH" dirty="0"/>
              <a:t> </a:t>
            </a:r>
            <a:r>
              <a:rPr lang="en-CH" dirty="0">
                <a:solidFill>
                  <a:schemeClr val="tx2"/>
                </a:solidFill>
              </a:rPr>
              <a:t>…</a:t>
            </a:r>
            <a:r>
              <a:rPr lang="en-CH" dirty="0"/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>
                <a:solidFill>
                  <a:schemeClr val="tx2"/>
                </a:solidFill>
              </a:rPr>
              <a:t>//</a:t>
            </a:r>
            <a:r>
              <a:rPr lang="en-CH" dirty="0">
                <a:solidFill>
                  <a:schemeClr val="accent6"/>
                </a:solidFill>
              </a:rPr>
              <a:t> but NOT </a:t>
            </a:r>
            <a:r>
              <a:rPr lang="en-CH" dirty="0">
                <a:solidFill>
                  <a:schemeClr val="accent2"/>
                </a:solidFill>
              </a:rPr>
              <a:t>modifies(</a:t>
            </a:r>
            <a:r>
              <a:rPr lang="en-CH" dirty="0" err="1">
                <a:solidFill>
                  <a:schemeClr val="accent2"/>
                </a:solidFill>
              </a:rPr>
              <a:t>self.fee_growth</a:t>
            </a:r>
            <a:r>
              <a:rPr lang="en-CH" dirty="0">
                <a:solidFill>
                  <a:schemeClr val="accent2"/>
                </a:solidFill>
              </a:rPr>
              <a:t>)</a:t>
            </a:r>
          </a:p>
          <a:p>
            <a:r>
              <a:rPr lang="en-CH" dirty="0">
                <a:solidFill>
                  <a:schemeClr val="tx2"/>
                </a:solidFill>
              </a:rPr>
              <a:t>// </a:t>
            </a:r>
            <a:r>
              <a:rPr lang="en-CH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CH" dirty="0">
                <a:solidFill>
                  <a:schemeClr val="accent6"/>
                </a:solidFill>
              </a:rPr>
              <a:t> red flag for developer / auditor</a:t>
            </a:r>
            <a:endParaRPr lang="en-CH" dirty="0">
              <a:solidFill>
                <a:schemeClr val="accent1"/>
              </a:solidFill>
            </a:endParaRPr>
          </a:p>
          <a:p>
            <a:endParaRPr lang="en-CH" dirty="0"/>
          </a:p>
          <a:p>
            <a:r>
              <a:rPr lang="en-CH" dirty="0"/>
              <a:t>  </a:t>
            </a:r>
            <a:r>
              <a:rPr lang="en-US" dirty="0">
                <a:solidFill>
                  <a:schemeClr val="accent1"/>
                </a:solidFill>
              </a:rPr>
              <a:t>fn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transfer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to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US" dirty="0"/>
              <a:t> amount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  </a:t>
            </a:r>
            <a:r>
              <a:rPr lang="en-US" dirty="0">
                <a:solidFill>
                  <a:schemeClr val="accent4"/>
                </a:solidFill>
              </a:rPr>
              <a:t>modifies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3"/>
                </a:solidFill>
              </a:rPr>
              <a:t>self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balances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  </a:t>
            </a:r>
            <a:r>
              <a:rPr lang="en-US" dirty="0">
                <a:solidFill>
                  <a:schemeClr val="accent4"/>
                </a:solidFill>
              </a:rPr>
              <a:t>modifies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3"/>
                </a:solidFill>
              </a:rPr>
              <a:t>self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CH" dirty="0" err="1"/>
              <a:t>fee_growth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/>
              <a:t>  </a:t>
            </a:r>
            <a:r>
              <a:rPr lang="en-US" dirty="0">
                <a:solidFill>
                  <a:schemeClr val="accent1"/>
                </a:solidFill>
              </a:rPr>
              <a:t>{</a:t>
            </a:r>
            <a:r>
              <a:rPr lang="en-CH" dirty="0"/>
              <a:t> </a:t>
            </a:r>
            <a:r>
              <a:rPr lang="en-CH" dirty="0">
                <a:solidFill>
                  <a:schemeClr val="tx2"/>
                </a:solidFill>
              </a:rPr>
              <a:t>…</a:t>
            </a:r>
            <a:r>
              <a:rPr lang="en-CH" dirty="0"/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  <a:endParaRPr lang="en-CH" dirty="0">
              <a:solidFill>
                <a:schemeClr val="accent1"/>
              </a:solidFill>
            </a:endParaRPr>
          </a:p>
          <a:p>
            <a:r>
              <a:rPr lang="en-CH" dirty="0">
                <a:solidFill>
                  <a:schemeClr val="tx2"/>
                </a:solidFill>
              </a:rPr>
              <a:t>//</a:t>
            </a:r>
            <a:r>
              <a:rPr lang="en-CH" dirty="0">
                <a:solidFill>
                  <a:schemeClr val="accent6"/>
                </a:solidFill>
              </a:rPr>
              <a:t> </a:t>
            </a:r>
            <a:r>
              <a:rPr lang="en-CH" dirty="0">
                <a:solidFill>
                  <a:schemeClr val="accent2"/>
                </a:solidFill>
              </a:rPr>
              <a:t>^^^</a:t>
            </a:r>
            <a:r>
              <a:rPr lang="en-CH" dirty="0">
                <a:solidFill>
                  <a:schemeClr val="accent6"/>
                </a:solidFill>
              </a:rPr>
              <a:t> does not actually modify </a:t>
            </a:r>
            <a:r>
              <a:rPr lang="en-CH" dirty="0" err="1">
                <a:solidFill>
                  <a:schemeClr val="accent2"/>
                </a:solidFill>
              </a:rPr>
              <a:t>fee_growth</a:t>
            </a:r>
            <a:endParaRPr lang="en-CH" dirty="0">
              <a:solidFill>
                <a:schemeClr val="accent2"/>
              </a:solidFill>
            </a:endParaRPr>
          </a:p>
          <a:p>
            <a:r>
              <a:rPr lang="en-CH" dirty="0">
                <a:solidFill>
                  <a:schemeClr val="tx2"/>
                </a:solidFill>
              </a:rPr>
              <a:t>//</a:t>
            </a:r>
            <a:r>
              <a:rPr lang="en-CH" dirty="0">
                <a:solidFill>
                  <a:schemeClr val="accent6"/>
                </a:solidFill>
              </a:rPr>
              <a:t> </a:t>
            </a:r>
            <a:r>
              <a:rPr lang="en-CH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CH" dirty="0">
                <a:solidFill>
                  <a:schemeClr val="accent6"/>
                </a:solidFill>
              </a:rPr>
              <a:t> compiler should emit warning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68CB506-7E0F-8EEE-AA27-A6377D005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Popsicle Finance</a:t>
            </a:r>
            <a:r>
              <a:rPr lang="en-CH" dirty="0"/>
              <a:t>   </a:t>
            </a:r>
            <a:r>
              <a:rPr lang="en-CH" sz="2800" dirty="0">
                <a:solidFill>
                  <a:schemeClr val="tx2"/>
                </a:solidFill>
              </a:rPr>
              <a:t>2021-08, $20 million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FDAB16F-6A9B-B245-B411-56AFA1B31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08760"/>
            <a:ext cx="10690862" cy="9248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H" dirty="0"/>
              <a:t>Issue: transferring funds did not transfer reward debt</a:t>
            </a:r>
          </a:p>
          <a:p>
            <a:pPr>
              <a:buFont typeface="Aptos" panose="020B0004020202020204" pitchFamily="34" charset="0"/>
              <a:buChar char="→"/>
            </a:pPr>
            <a:r>
              <a:rPr lang="en-CH" dirty="0"/>
              <a:t> Calculating earned rewards gave too large value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529FE5D4-896E-D496-31D2-8545C93D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488D3D0B-5802-F6A4-EF42-C6BE948F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CD21E2E-B66B-0518-74B1-1CE9CAD5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49</a:t>
            </a:fld>
            <a:r>
              <a:rPr lang="en-CH"/>
              <a:t> / XX</a:t>
            </a:r>
            <a:endParaRPr lang="en-CH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8E2340-6A77-0F3F-E35A-EE5221F36FF5}"/>
              </a:ext>
            </a:extLst>
          </p:cNvPr>
          <p:cNvCxnSpPr>
            <a:cxnSpLocks/>
          </p:cNvCxnSpPr>
          <p:nvPr/>
        </p:nvCxnSpPr>
        <p:spPr>
          <a:xfrm>
            <a:off x="1276216" y="2433638"/>
            <a:ext cx="0" cy="37433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412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B261-6134-D3FB-682A-794D8253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DD0220C-BD82-35A6-D4B4-F540E57C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Super Sushi Samurai   </a:t>
            </a:r>
            <a:r>
              <a:rPr lang="en-CH" sz="2800" dirty="0">
                <a:solidFill>
                  <a:schemeClr val="tx2"/>
                </a:solidFill>
              </a:rPr>
              <a:t>2024-03, $4.8 million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2E6FC09-D335-302F-612E-9147E72A61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1381" y="1515260"/>
            <a:ext cx="374648" cy="2232026"/>
          </a:xfrm>
        </p:spPr>
        <p:txBody>
          <a:bodyPr/>
          <a:lstStyle/>
          <a:p>
            <a:r>
              <a:rPr lang="en-CH" sz="1600" dirty="0"/>
              <a:t> 1</a:t>
            </a:r>
          </a:p>
          <a:p>
            <a:r>
              <a:rPr lang="en-CH" sz="1600" dirty="0"/>
              <a:t> 2</a:t>
            </a:r>
          </a:p>
          <a:p>
            <a:r>
              <a:rPr lang="en-CH" sz="1600" dirty="0"/>
              <a:t> 3</a:t>
            </a:r>
          </a:p>
          <a:p>
            <a:r>
              <a:rPr lang="en-CH" sz="1600" dirty="0"/>
              <a:t> 4</a:t>
            </a:r>
          </a:p>
          <a:p>
            <a:r>
              <a:rPr lang="en-CH" sz="1600" dirty="0"/>
              <a:t> 5</a:t>
            </a:r>
          </a:p>
          <a:p>
            <a:r>
              <a:rPr lang="en-CH" sz="1600" dirty="0"/>
              <a:t> 6</a:t>
            </a:r>
          </a:p>
          <a:p>
            <a:r>
              <a:rPr lang="en-CH" sz="1600" dirty="0"/>
              <a:t> 7</a:t>
            </a:r>
          </a:p>
          <a:p>
            <a:r>
              <a:rPr lang="en-CH" sz="1600" dirty="0"/>
              <a:t> 8</a:t>
            </a:r>
          </a:p>
          <a:p>
            <a:r>
              <a:rPr lang="en-CH" sz="1600" dirty="0"/>
              <a:t> 9</a:t>
            </a:r>
          </a:p>
          <a:p>
            <a:r>
              <a:rPr lang="en-CH" sz="1600" dirty="0"/>
              <a:t>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5CCCE8-8A0D-C909-A4C5-6472F88594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2848" y="1515260"/>
            <a:ext cx="7706673" cy="2232026"/>
          </a:xfrm>
        </p:spPr>
        <p:txBody>
          <a:bodyPr/>
          <a:lstStyle/>
          <a:p>
            <a:r>
              <a:rPr lang="en-US" sz="1600" dirty="0">
                <a:solidFill>
                  <a:schemeClr val="accent2"/>
                </a:solidFill>
              </a:rPr>
              <a:t>function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6"/>
                </a:solidFill>
              </a:rPr>
              <a:t>_transfer</a:t>
            </a:r>
            <a:r>
              <a:rPr lang="en-US" sz="1600" dirty="0">
                <a:solidFill>
                  <a:schemeClr val="accent1"/>
                </a:solidFill>
              </a:rPr>
              <a:t>(</a:t>
            </a:r>
            <a:r>
              <a:rPr lang="en-US" sz="1600" dirty="0">
                <a:solidFill>
                  <a:schemeClr val="accent2"/>
                </a:solidFill>
              </a:rPr>
              <a:t>address</a:t>
            </a:r>
            <a:r>
              <a:rPr lang="en-US" sz="1600" dirty="0"/>
              <a:t> from</a:t>
            </a:r>
            <a:r>
              <a:rPr lang="en-US" sz="1600" dirty="0">
                <a:solidFill>
                  <a:schemeClr val="tx2"/>
                </a:solidFill>
              </a:rPr>
              <a:t>,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/>
                </a:solidFill>
              </a:rPr>
              <a:t>address</a:t>
            </a:r>
            <a:r>
              <a:rPr lang="en-US" sz="1600" dirty="0"/>
              <a:t> to</a:t>
            </a:r>
            <a:r>
              <a:rPr lang="en-US" sz="1600" dirty="0">
                <a:solidFill>
                  <a:schemeClr val="tx2"/>
                </a:solidFill>
              </a:rPr>
              <a:t>,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/>
                </a:solidFill>
              </a:rPr>
              <a:t>uint256</a:t>
            </a:r>
            <a:r>
              <a:rPr lang="en-US" sz="1600" dirty="0"/>
              <a:t> amount</a:t>
            </a:r>
            <a:r>
              <a:rPr lang="en-US" sz="1600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600" dirty="0"/>
              <a:t>  </a:t>
            </a:r>
            <a:r>
              <a:rPr lang="en-US" sz="1600" dirty="0">
                <a:solidFill>
                  <a:schemeClr val="accent2"/>
                </a:solidFill>
              </a:rPr>
              <a:t>uint256</a:t>
            </a:r>
            <a:r>
              <a:rPr lang="en-US" sz="1600" dirty="0"/>
              <a:t> fromBalance </a:t>
            </a:r>
            <a:r>
              <a:rPr lang="en-US" sz="1600" dirty="0">
                <a:solidFill>
                  <a:schemeClr val="accent1"/>
                </a:solidFill>
              </a:rPr>
              <a:t>=</a:t>
            </a:r>
            <a:r>
              <a:rPr lang="en-US" sz="1600" dirty="0"/>
              <a:t> _balances</a:t>
            </a:r>
            <a:r>
              <a:rPr lang="en-US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from</a:t>
            </a:r>
            <a:r>
              <a:rPr lang="en-US" sz="1600" dirty="0">
                <a:solidFill>
                  <a:schemeClr val="accent1"/>
                </a:solidFill>
              </a:rPr>
              <a:t>]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</a:p>
          <a:p>
            <a:r>
              <a:rPr lang="en-US" sz="1600" dirty="0"/>
              <a:t>  </a:t>
            </a:r>
            <a:r>
              <a:rPr lang="en-US" sz="1600" dirty="0">
                <a:solidFill>
                  <a:schemeClr val="accent2"/>
                </a:solidFill>
              </a:rPr>
              <a:t>uint256</a:t>
            </a:r>
            <a:r>
              <a:rPr lang="en-US" sz="1600" dirty="0"/>
              <a:t> toBalance </a:t>
            </a:r>
            <a:r>
              <a:rPr lang="en-CH" sz="1600" dirty="0"/>
              <a:t>  </a:t>
            </a:r>
            <a:r>
              <a:rPr lang="en-US" sz="1600" dirty="0">
                <a:solidFill>
                  <a:schemeClr val="accent1"/>
                </a:solidFill>
              </a:rPr>
              <a:t>=</a:t>
            </a:r>
            <a:r>
              <a:rPr lang="en-US" sz="1600" dirty="0"/>
              <a:t> _balances</a:t>
            </a:r>
            <a:r>
              <a:rPr lang="en-US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to</a:t>
            </a:r>
            <a:r>
              <a:rPr lang="en-US" sz="1600" dirty="0">
                <a:solidFill>
                  <a:schemeClr val="accent1"/>
                </a:solidFill>
              </a:rPr>
              <a:t>]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+</a:t>
            </a:r>
            <a:r>
              <a:rPr lang="en-US" sz="1600" dirty="0"/>
              <a:t> amount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</a:p>
          <a:p>
            <a:endParaRPr lang="en-CH" sz="1600" dirty="0"/>
          </a:p>
          <a:p>
            <a:r>
              <a:rPr lang="en-CH" sz="1600" dirty="0"/>
              <a:t>  </a:t>
            </a:r>
            <a:r>
              <a:rPr lang="en-CH" sz="1600" dirty="0">
                <a:solidFill>
                  <a:schemeClr val="tx2"/>
                </a:solidFill>
              </a:rPr>
              <a:t>/* Some safety checks */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/>
              <a:t>  _balances</a:t>
            </a:r>
            <a:r>
              <a:rPr lang="en-US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from</a:t>
            </a:r>
            <a:r>
              <a:rPr lang="en-US" sz="1600" dirty="0">
                <a:solidFill>
                  <a:schemeClr val="accent1"/>
                </a:solidFill>
              </a:rPr>
              <a:t>]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=</a:t>
            </a:r>
            <a:r>
              <a:rPr lang="en-US" sz="1600" dirty="0"/>
              <a:t> fromBalance </a:t>
            </a:r>
            <a:r>
              <a:rPr lang="en-US" sz="1600" dirty="0">
                <a:solidFill>
                  <a:schemeClr val="accent1"/>
                </a:solidFill>
              </a:rPr>
              <a:t>-</a:t>
            </a:r>
            <a:r>
              <a:rPr lang="en-US" sz="1600" dirty="0"/>
              <a:t> amount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</a:p>
          <a:p>
            <a:r>
              <a:rPr lang="en-US" sz="1600" dirty="0"/>
              <a:t>  _balances</a:t>
            </a:r>
            <a:r>
              <a:rPr lang="en-US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to</a:t>
            </a:r>
            <a:r>
              <a:rPr lang="en-US" sz="1600" dirty="0">
                <a:solidFill>
                  <a:schemeClr val="accent1"/>
                </a:solidFill>
              </a:rPr>
              <a:t>]</a:t>
            </a:r>
            <a:r>
              <a:rPr lang="en-US" sz="1600" dirty="0"/>
              <a:t> </a:t>
            </a:r>
            <a:r>
              <a:rPr lang="en-CH" sz="1600" dirty="0"/>
              <a:t>  </a:t>
            </a:r>
            <a:r>
              <a:rPr lang="en-US" sz="1600" dirty="0">
                <a:solidFill>
                  <a:schemeClr val="accent1"/>
                </a:solidFill>
              </a:rPr>
              <a:t>=</a:t>
            </a:r>
            <a:r>
              <a:rPr lang="en-US" sz="1600" dirty="0"/>
              <a:t> toBalance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  <a:endParaRPr lang="en-CH" sz="1600" dirty="0">
              <a:solidFill>
                <a:schemeClr val="accent1"/>
              </a:solidFill>
            </a:endParaRPr>
          </a:p>
          <a:p>
            <a:r>
              <a:rPr lang="en-US" sz="1600" dirty="0">
                <a:solidFill>
                  <a:schemeClr val="accent1"/>
                </a:solidFill>
              </a:rPr>
              <a:t>}</a:t>
            </a:r>
            <a:endParaRPr lang="en-CH" dirty="0">
              <a:solidFill>
                <a:schemeClr val="accent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B4811B6-5734-4E2E-1E0D-CE92504195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872965"/>
            <a:ext cx="374648" cy="2483385"/>
          </a:xfrm>
        </p:spPr>
        <p:txBody>
          <a:bodyPr/>
          <a:lstStyle/>
          <a:p>
            <a:r>
              <a:rPr lang="en-CH" sz="1600" dirty="0"/>
              <a:t> 1</a:t>
            </a:r>
          </a:p>
          <a:p>
            <a:r>
              <a:rPr lang="en-CH" sz="1600" dirty="0"/>
              <a:t> 2</a:t>
            </a:r>
          </a:p>
          <a:p>
            <a:r>
              <a:rPr lang="en-CH" sz="1600" dirty="0"/>
              <a:t> 3</a:t>
            </a:r>
          </a:p>
          <a:p>
            <a:r>
              <a:rPr lang="en-CH" sz="1600" dirty="0"/>
              <a:t> 4</a:t>
            </a:r>
          </a:p>
          <a:p>
            <a:r>
              <a:rPr lang="en-CH" sz="1600" dirty="0"/>
              <a:t> 5</a:t>
            </a:r>
          </a:p>
          <a:p>
            <a:r>
              <a:rPr lang="en-CH" sz="1600" dirty="0"/>
              <a:t> 6</a:t>
            </a:r>
          </a:p>
          <a:p>
            <a:r>
              <a:rPr lang="en-CH" sz="1600" dirty="0"/>
              <a:t> 7</a:t>
            </a:r>
          </a:p>
          <a:p>
            <a:r>
              <a:rPr lang="en-CH" sz="1600" dirty="0"/>
              <a:t> 8</a:t>
            </a:r>
          </a:p>
          <a:p>
            <a:r>
              <a:rPr lang="en-CH" sz="1600" dirty="0"/>
              <a:t> 9</a:t>
            </a:r>
          </a:p>
          <a:p>
            <a:r>
              <a:rPr lang="en-CH" sz="1600" dirty="0"/>
              <a:t>10</a:t>
            </a:r>
          </a:p>
          <a:p>
            <a:endParaRPr lang="en-CH" sz="16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75DAD6D-7D37-1335-7E1A-C54FA1471A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12848" y="3872968"/>
            <a:ext cx="7706673" cy="2483382"/>
          </a:xfrm>
        </p:spPr>
        <p:txBody>
          <a:bodyPr/>
          <a:lstStyle/>
          <a:p>
            <a:r>
              <a:rPr lang="en-US" sz="1600" dirty="0">
                <a:solidFill>
                  <a:schemeClr val="accent1"/>
                </a:solidFill>
              </a:rPr>
              <a:t>fn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6"/>
                </a:solidFill>
              </a:rPr>
              <a:t>transfer</a:t>
            </a:r>
            <a:r>
              <a:rPr lang="en-US" sz="1600" dirty="0">
                <a:solidFill>
                  <a:schemeClr val="accent1"/>
                </a:solidFill>
              </a:rPr>
              <a:t>(</a:t>
            </a:r>
            <a:r>
              <a:rPr lang="en-US" sz="1600" dirty="0">
                <a:solidFill>
                  <a:schemeClr val="accent3"/>
                </a:solidFill>
              </a:rPr>
              <a:t>self</a:t>
            </a:r>
            <a:r>
              <a:rPr lang="en-US" sz="1600" dirty="0">
                <a:solidFill>
                  <a:schemeClr val="tx2"/>
                </a:solidFill>
              </a:rPr>
              <a:t>,</a:t>
            </a:r>
            <a:r>
              <a:rPr lang="en-US" sz="1600" dirty="0"/>
              <a:t> from</a:t>
            </a:r>
            <a:r>
              <a:rPr lang="en-US" sz="1600" dirty="0">
                <a:solidFill>
                  <a:schemeClr val="accent1"/>
                </a:solidFill>
              </a:rPr>
              <a:t>: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/>
                </a:solidFill>
              </a:rPr>
              <a:t>Address</a:t>
            </a:r>
            <a:r>
              <a:rPr lang="en-US" sz="1600" dirty="0">
                <a:solidFill>
                  <a:schemeClr val="tx2"/>
                </a:solidFill>
              </a:rPr>
              <a:t>,</a:t>
            </a:r>
            <a:r>
              <a:rPr lang="en-US" sz="1600" dirty="0"/>
              <a:t> to</a:t>
            </a:r>
            <a:r>
              <a:rPr lang="en-US" sz="1600" dirty="0">
                <a:solidFill>
                  <a:schemeClr val="accent1"/>
                </a:solidFill>
              </a:rPr>
              <a:t>: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/>
                </a:solidFill>
              </a:rPr>
              <a:t>Address</a:t>
            </a:r>
            <a:r>
              <a:rPr lang="en-US" sz="1600" dirty="0">
                <a:solidFill>
                  <a:schemeClr val="tx2"/>
                </a:solidFill>
              </a:rPr>
              <a:t>,</a:t>
            </a:r>
            <a:r>
              <a:rPr lang="en-US" sz="1600" dirty="0"/>
              <a:t> amount</a:t>
            </a:r>
            <a:r>
              <a:rPr lang="en-US" sz="1600" dirty="0">
                <a:solidFill>
                  <a:schemeClr val="accent1"/>
                </a:solidFill>
              </a:rPr>
              <a:t>: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/>
                </a:solidFill>
              </a:rPr>
              <a:t>u256</a:t>
            </a:r>
            <a:r>
              <a:rPr lang="en-US" sz="1600" dirty="0">
                <a:solidFill>
                  <a:schemeClr val="accent1"/>
                </a:solidFill>
              </a:rPr>
              <a:t>)</a:t>
            </a:r>
            <a:endParaRPr lang="en-CH" sz="1600" dirty="0">
              <a:solidFill>
                <a:schemeClr val="accent1"/>
              </a:solidFill>
            </a:endParaRPr>
          </a:p>
          <a:p>
            <a:r>
              <a:rPr lang="en-CH" sz="1600" dirty="0"/>
              <a:t> 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4"/>
                </a:solidFill>
              </a:rPr>
              <a:t>modifies</a:t>
            </a:r>
            <a:r>
              <a:rPr lang="en-US" sz="1600" dirty="0">
                <a:solidFill>
                  <a:schemeClr val="accent1"/>
                </a:solidFill>
              </a:rPr>
              <a:t>(</a:t>
            </a:r>
            <a:r>
              <a:rPr lang="en-US" sz="1600" dirty="0">
                <a:solidFill>
                  <a:schemeClr val="accent3"/>
                </a:solidFill>
              </a:rPr>
              <a:t>self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r>
              <a:rPr lang="en-US" sz="1600" dirty="0"/>
              <a:t>balances</a:t>
            </a:r>
            <a:r>
              <a:rPr lang="en-CH" sz="1600" dirty="0">
                <a:solidFill>
                  <a:schemeClr val="accent1"/>
                </a:solidFill>
              </a:rPr>
              <a:t>[</a:t>
            </a:r>
            <a:r>
              <a:rPr lang="en-CH" sz="1600" dirty="0"/>
              <a:t>from</a:t>
            </a:r>
            <a:r>
              <a:rPr lang="en-CH" sz="1600" dirty="0">
                <a:solidFill>
                  <a:schemeClr val="accent1"/>
                </a:solidFill>
              </a:rPr>
              <a:t>]</a:t>
            </a:r>
            <a:r>
              <a:rPr lang="en-US" sz="1600" dirty="0">
                <a:solidFill>
                  <a:schemeClr val="accent1"/>
                </a:solidFill>
              </a:rPr>
              <a:t>)</a:t>
            </a:r>
            <a:endParaRPr lang="en-CH" sz="1600" dirty="0">
              <a:solidFill>
                <a:schemeClr val="accent1"/>
              </a:solidFill>
            </a:endParaRPr>
          </a:p>
          <a:p>
            <a:r>
              <a:rPr lang="en-CH" sz="1600" dirty="0"/>
              <a:t>  </a:t>
            </a:r>
            <a:r>
              <a:rPr lang="en-CH" sz="1600" dirty="0">
                <a:solidFill>
                  <a:schemeClr val="accent4"/>
                </a:solidFill>
              </a:rPr>
              <a:t>modifies</a:t>
            </a:r>
            <a:r>
              <a:rPr lang="en-CH" sz="1600" dirty="0">
                <a:solidFill>
                  <a:schemeClr val="accent1"/>
                </a:solidFill>
              </a:rPr>
              <a:t>(</a:t>
            </a:r>
            <a:r>
              <a:rPr lang="en-CH" sz="1600" dirty="0">
                <a:solidFill>
                  <a:schemeClr val="accent3"/>
                </a:solidFill>
              </a:rPr>
              <a:t>self</a:t>
            </a:r>
            <a:r>
              <a:rPr lang="en-CH" sz="1600" dirty="0">
                <a:solidFill>
                  <a:schemeClr val="accent1"/>
                </a:solidFill>
              </a:rPr>
              <a:t>.</a:t>
            </a:r>
            <a:r>
              <a:rPr lang="en-CH" sz="1600" dirty="0"/>
              <a:t>balances</a:t>
            </a:r>
            <a:r>
              <a:rPr lang="en-CH" sz="1600" dirty="0">
                <a:solidFill>
                  <a:schemeClr val="accent1"/>
                </a:solidFill>
              </a:rPr>
              <a:t>[</a:t>
            </a:r>
            <a:r>
              <a:rPr lang="en-CH" sz="1600" dirty="0"/>
              <a:t>to</a:t>
            </a:r>
            <a:r>
              <a:rPr lang="en-CH" sz="1600" dirty="0">
                <a:solidFill>
                  <a:schemeClr val="accent1"/>
                </a:solidFill>
              </a:rPr>
              <a:t>])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{</a:t>
            </a:r>
          </a:p>
          <a:p>
            <a:r>
              <a:rPr lang="en-US" sz="1600" dirty="0"/>
              <a:t>  </a:t>
            </a:r>
            <a:r>
              <a:rPr lang="en-US" sz="1600" dirty="0">
                <a:solidFill>
                  <a:schemeClr val="accent1"/>
                </a:solidFill>
              </a:rPr>
              <a:t>let</a:t>
            </a:r>
            <a:r>
              <a:rPr lang="en-US" sz="1600" dirty="0"/>
              <a:t> from_balance </a:t>
            </a:r>
            <a:r>
              <a:rPr lang="en-US" sz="1600" dirty="0">
                <a:solidFill>
                  <a:schemeClr val="accent1"/>
                </a:solidFill>
              </a:rPr>
              <a:t>=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3"/>
                </a:solidFill>
              </a:rPr>
              <a:t>self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r>
              <a:rPr lang="en-US" sz="1600" dirty="0"/>
              <a:t>balances</a:t>
            </a:r>
            <a:r>
              <a:rPr lang="en-US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from</a:t>
            </a:r>
            <a:r>
              <a:rPr lang="en-US" sz="1600" dirty="0">
                <a:solidFill>
                  <a:schemeClr val="accent1"/>
                </a:solidFill>
              </a:rPr>
              <a:t>]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  <a:endParaRPr lang="en-CH" sz="1600" dirty="0">
              <a:solidFill>
                <a:schemeClr val="tx2"/>
              </a:solidFill>
            </a:endParaRPr>
          </a:p>
          <a:p>
            <a:r>
              <a:rPr lang="en-CH" sz="1600" dirty="0"/>
              <a:t> 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let</a:t>
            </a:r>
            <a:r>
              <a:rPr lang="en-US" sz="1600" dirty="0"/>
              <a:t> to_balance </a:t>
            </a:r>
            <a:r>
              <a:rPr lang="en-CH" sz="1600" dirty="0"/>
              <a:t>  </a:t>
            </a:r>
            <a:r>
              <a:rPr lang="en-US" sz="1600" dirty="0">
                <a:solidFill>
                  <a:schemeClr val="accent1"/>
                </a:solidFill>
              </a:rPr>
              <a:t>=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3"/>
                </a:solidFill>
              </a:rPr>
              <a:t>self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r>
              <a:rPr lang="en-US" sz="1600" dirty="0"/>
              <a:t>balances</a:t>
            </a:r>
            <a:r>
              <a:rPr lang="en-US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to</a:t>
            </a:r>
            <a:r>
              <a:rPr lang="en-US" sz="1600" dirty="0">
                <a:solidFill>
                  <a:schemeClr val="accent1"/>
                </a:solidFill>
              </a:rPr>
              <a:t>]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  <a:endParaRPr lang="en-CH" sz="1600" dirty="0">
              <a:solidFill>
                <a:schemeClr val="tx2"/>
              </a:solidFill>
            </a:endParaRPr>
          </a:p>
          <a:p>
            <a:r>
              <a:rPr lang="en-CH" sz="1600" dirty="0">
                <a:solidFill>
                  <a:schemeClr val="accent3"/>
                </a:solidFill>
              </a:rPr>
              <a:t>  </a:t>
            </a:r>
          </a:p>
          <a:p>
            <a:r>
              <a:rPr lang="en-CH" sz="1600" dirty="0">
                <a:solidFill>
                  <a:schemeClr val="accent3"/>
                </a:solidFill>
              </a:rPr>
              <a:t>  </a:t>
            </a:r>
            <a:r>
              <a:rPr lang="en-US" sz="1600" dirty="0">
                <a:solidFill>
                  <a:schemeClr val="accent3"/>
                </a:solidFill>
              </a:rPr>
              <a:t>self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r>
              <a:rPr lang="en-US" sz="1600" dirty="0"/>
              <a:t>balances</a:t>
            </a:r>
            <a:r>
              <a:rPr lang="en-CH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from</a:t>
            </a:r>
            <a:r>
              <a:rPr lang="en-CH" sz="1600" dirty="0">
                <a:solidFill>
                  <a:schemeClr val="accent1"/>
                </a:solidFill>
              </a:rPr>
              <a:t>] =</a:t>
            </a:r>
            <a:r>
              <a:rPr lang="en-US" sz="1600" dirty="0"/>
              <a:t> from_balance </a:t>
            </a:r>
            <a:r>
              <a:rPr lang="en-US" sz="1600" dirty="0">
                <a:solidFill>
                  <a:schemeClr val="accent1"/>
                </a:solidFill>
              </a:rPr>
              <a:t>-</a:t>
            </a:r>
            <a:r>
              <a:rPr lang="en-US" sz="1600" dirty="0"/>
              <a:t> amount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  <a:endParaRPr lang="en-CH" sz="1600" dirty="0">
              <a:solidFill>
                <a:schemeClr val="tx2"/>
              </a:solidFill>
            </a:endParaRPr>
          </a:p>
          <a:p>
            <a:r>
              <a:rPr lang="en-CH" sz="1600" dirty="0">
                <a:solidFill>
                  <a:schemeClr val="accent3"/>
                </a:solidFill>
              </a:rPr>
              <a:t>  </a:t>
            </a:r>
            <a:r>
              <a:rPr lang="en-US" sz="1600" dirty="0">
                <a:solidFill>
                  <a:schemeClr val="accent3"/>
                </a:solidFill>
              </a:rPr>
              <a:t>self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r>
              <a:rPr lang="en-US" sz="1600" dirty="0"/>
              <a:t>balances</a:t>
            </a:r>
            <a:r>
              <a:rPr lang="en-CH" sz="1600" dirty="0">
                <a:solidFill>
                  <a:schemeClr val="accent1"/>
                </a:solidFill>
              </a:rPr>
              <a:t>[</a:t>
            </a:r>
            <a:r>
              <a:rPr lang="en-US" sz="1600" dirty="0"/>
              <a:t>to</a:t>
            </a:r>
            <a:r>
              <a:rPr lang="en-CH" sz="1600" dirty="0">
                <a:solidFill>
                  <a:schemeClr val="accent1"/>
                </a:solidFill>
              </a:rPr>
              <a:t>]   =</a:t>
            </a:r>
            <a:r>
              <a:rPr lang="en-US" sz="1600" dirty="0"/>
              <a:t> to_balance </a:t>
            </a:r>
            <a:r>
              <a:rPr lang="en-US" sz="1600" dirty="0">
                <a:solidFill>
                  <a:schemeClr val="accent1"/>
                </a:solidFill>
              </a:rPr>
              <a:t>+</a:t>
            </a:r>
            <a:r>
              <a:rPr lang="en-US" sz="1600" dirty="0"/>
              <a:t> amount</a:t>
            </a:r>
            <a:r>
              <a:rPr lang="en-US" sz="1600" dirty="0">
                <a:solidFill>
                  <a:schemeClr val="tx2"/>
                </a:solidFill>
              </a:rPr>
              <a:t>;</a:t>
            </a:r>
            <a:endParaRPr lang="en-CH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accent1"/>
                </a:solidFill>
              </a:rPr>
              <a:t>}</a:t>
            </a:r>
            <a:endParaRPr lang="en-CH" sz="1600" dirty="0">
              <a:solidFill>
                <a:schemeClr val="accent1"/>
              </a:solidFill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EF33627-EF6F-F33F-01AB-4FD7DB6A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28E4A4C-9388-3AA4-7A64-E5DF13A8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4DE3F38-3FE7-472F-2DF5-6F582DA4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50</a:t>
            </a:fld>
            <a:r>
              <a:rPr lang="en-CH"/>
              <a:t> / XX</a:t>
            </a:r>
            <a:endParaRPr lang="en-CH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8BFDE1-3340-0959-981B-CB9B09E2D0EC}"/>
              </a:ext>
            </a:extLst>
          </p:cNvPr>
          <p:cNvCxnSpPr>
            <a:cxnSpLocks/>
          </p:cNvCxnSpPr>
          <p:nvPr/>
        </p:nvCxnSpPr>
        <p:spPr>
          <a:xfrm>
            <a:off x="1214438" y="1515260"/>
            <a:ext cx="1591" cy="223202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024968-62CC-7D2A-7D5E-5C75F5A516C6}"/>
              </a:ext>
            </a:extLst>
          </p:cNvPr>
          <p:cNvCxnSpPr>
            <a:cxnSpLocks/>
          </p:cNvCxnSpPr>
          <p:nvPr/>
        </p:nvCxnSpPr>
        <p:spPr>
          <a:xfrm>
            <a:off x="1209667" y="3872965"/>
            <a:ext cx="0" cy="24833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37B062-74A0-A7D9-78EB-23249118CDCA}"/>
              </a:ext>
            </a:extLst>
          </p:cNvPr>
          <p:cNvGrpSpPr/>
          <p:nvPr/>
        </p:nvGrpSpPr>
        <p:grpSpPr>
          <a:xfrm>
            <a:off x="1425596" y="2946289"/>
            <a:ext cx="7521385" cy="646331"/>
            <a:chOff x="1425596" y="2946289"/>
            <a:chExt cx="7521385" cy="64633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7B8BCF-BF21-7013-F1FD-4B112C182992}"/>
                </a:ext>
              </a:extLst>
            </p:cNvPr>
            <p:cNvSpPr/>
            <p:nvPr/>
          </p:nvSpPr>
          <p:spPr>
            <a:xfrm>
              <a:off x="1425596" y="3000374"/>
              <a:ext cx="4987904" cy="538163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2B67BD-F734-8E08-36C2-E292803A5F37}"/>
                </a:ext>
              </a:extLst>
            </p:cNvPr>
            <p:cNvSpPr txBox="1"/>
            <p:nvPr/>
          </p:nvSpPr>
          <p:spPr>
            <a:xfrm>
              <a:off x="6495881" y="2946289"/>
              <a:ext cx="2451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>
                  <a:solidFill>
                    <a:schemeClr val="accent5"/>
                  </a:solidFill>
                </a:rPr>
                <a:t>Incorrect state update when  </a:t>
              </a:r>
              <a:r>
                <a:rPr lang="en-CH" sz="1600" dirty="0">
                  <a:solidFill>
                    <a:schemeClr val="accent1"/>
                  </a:solidFill>
                  <a:latin typeface="Lucida Console" panose="020B0609040504020204" pitchFamily="49" charset="0"/>
                </a:rPr>
                <a:t>from == to</a:t>
              </a:r>
              <a:endParaRPr lang="en-CH" dirty="0">
                <a:solidFill>
                  <a:schemeClr val="accent1"/>
                </a:solidFill>
                <a:latin typeface="Lucida Console" panose="020B0609040504020204" pitchFamily="49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C4A81C5-C985-D15E-7A10-D9B8BF5896C2}"/>
              </a:ext>
            </a:extLst>
          </p:cNvPr>
          <p:cNvGrpSpPr/>
          <p:nvPr/>
        </p:nvGrpSpPr>
        <p:grpSpPr>
          <a:xfrm>
            <a:off x="1524000" y="5429671"/>
            <a:ext cx="7480131" cy="646331"/>
            <a:chOff x="1524000" y="5429671"/>
            <a:chExt cx="7480131" cy="64633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10D8EB-8D64-B524-C78B-04AB90AAC487}"/>
                </a:ext>
              </a:extLst>
            </p:cNvPr>
            <p:cNvSpPr/>
            <p:nvPr/>
          </p:nvSpPr>
          <p:spPr>
            <a:xfrm>
              <a:off x="1524000" y="5626100"/>
              <a:ext cx="5448300" cy="260350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7444F2-6834-DF4F-BE66-C92755CA100A}"/>
                </a:ext>
              </a:extLst>
            </p:cNvPr>
            <p:cNvSpPr txBox="1"/>
            <p:nvPr/>
          </p:nvSpPr>
          <p:spPr>
            <a:xfrm>
              <a:off x="7035631" y="5429671"/>
              <a:ext cx="1968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>
                  <a:solidFill>
                    <a:schemeClr val="accent5"/>
                  </a:solidFill>
                </a:rPr>
                <a:t>Value overwritten when</a:t>
              </a:r>
              <a:r>
                <a:rPr lang="en-CH" dirty="0"/>
                <a:t>  </a:t>
              </a:r>
              <a:r>
                <a:rPr lang="en-CH" sz="1600" dirty="0">
                  <a:solidFill>
                    <a:schemeClr val="accent1"/>
                  </a:solidFill>
                </a:rPr>
                <a:t>from == to</a:t>
              </a:r>
              <a:endParaRPr lang="en-CH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189D546-E94F-175E-9F40-62411F496A46}"/>
              </a:ext>
            </a:extLst>
          </p:cNvPr>
          <p:cNvSpPr/>
          <p:nvPr/>
        </p:nvSpPr>
        <p:spPr>
          <a:xfrm>
            <a:off x="1524000" y="4174070"/>
            <a:ext cx="3587750" cy="49318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2015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206B-7346-72AF-4514-E2F5B0E0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Future Work: Tooling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406FC-A085-DB12-6D86-EB47A82932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H" dirty="0"/>
              <a:t>Interpreter:</a:t>
            </a:r>
          </a:p>
          <a:p>
            <a:pPr lvl="1"/>
            <a:r>
              <a:rPr lang="en-CH" dirty="0"/>
              <a:t>Testing tools deploy mock blockchain, simulate full VM execution</a:t>
            </a:r>
          </a:p>
          <a:p>
            <a:pPr lvl="2">
              <a:buFont typeface="Aptos" panose="020B0004020202020204" pitchFamily="34" charset="0"/>
              <a:buChar char="→"/>
            </a:pPr>
            <a:r>
              <a:rPr lang="en-CH" dirty="0"/>
              <a:t>huge overhead, bad performance</a:t>
            </a:r>
          </a:p>
          <a:p>
            <a:pPr lvl="2">
              <a:buFont typeface="Aptos" panose="020B0004020202020204" pitchFamily="34" charset="0"/>
              <a:buChar char="→"/>
            </a:pPr>
            <a:r>
              <a:rPr lang="en-CH" dirty="0"/>
              <a:t>debugging tools are not great</a:t>
            </a:r>
          </a:p>
          <a:p>
            <a:pPr lvl="1"/>
            <a:r>
              <a:rPr lang="en-CH" dirty="0"/>
              <a:t>Performance greatly impacts fuzz testing</a:t>
            </a:r>
          </a:p>
          <a:p>
            <a:pPr lvl="1"/>
            <a:r>
              <a:rPr lang="en-CH" dirty="0"/>
              <a:t>Unit tests, step-by-step debugging for internal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841C8-1090-73BD-8612-E494B8001B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C5EDA-4793-93D4-A820-F643F2D6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60437-8E73-31B9-4ABA-36AA6E6E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Eliminating Reentrancy through Language Design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406F5-71EE-FBE8-90CF-182F580B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51</a:t>
            </a:fld>
            <a:r>
              <a:rPr lang="en-CH"/>
              <a:t> / XX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1902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50B536-15EB-CDC9-E363-CF086A8F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445A5D-994C-DD71-6059-BDAC409E12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825625"/>
            <a:ext cx="438016" cy="4351338"/>
          </a:xfrm>
        </p:spPr>
        <p:txBody>
          <a:bodyPr>
            <a:noAutofit/>
          </a:bodyPr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8311F1A-5227-F6DB-7606-9FAB1A963F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H" dirty="0"/>
              <a:t>color0</a:t>
            </a:r>
          </a:p>
          <a:p>
            <a:r>
              <a:rPr lang="en-CH" dirty="0">
                <a:solidFill>
                  <a:schemeClr val="accent1"/>
                </a:solidFill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</a:rPr>
              <a:t>color6</a:t>
            </a:r>
          </a:p>
          <a:p>
            <a:endParaRPr lang="en-CH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03642A92-A577-25B5-C204-FEE78D9A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196E183-CDEB-AA96-871F-8342B3EFF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B2916C20-EAD8-8801-B753-97DB59AB1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67DAD489-FCF2-5285-ABD9-C2FCD51F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1F90BC2-2486-7C67-402F-D09D5830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52</a:t>
            </a:fld>
            <a:r>
              <a:rPr lang="en-CH"/>
              <a:t> / XX</a:t>
            </a:r>
            <a:endParaRPr lang="en-CH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AB48C2-D667-A383-F890-60ED45F33E06}"/>
              </a:ext>
            </a:extLst>
          </p:cNvPr>
          <p:cNvCxnSpPr>
            <a:cxnSpLocks/>
          </p:cNvCxnSpPr>
          <p:nvPr/>
        </p:nvCxnSpPr>
        <p:spPr>
          <a:xfrm>
            <a:off x="1276350" y="1825625"/>
            <a:ext cx="21268" cy="435133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2971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CC1372-F495-5EC4-740B-2C126C2FC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r>
              <a:rPr lang="en-CH" dirty="0"/>
              <a:t>15</a:t>
            </a:r>
          </a:p>
          <a:p>
            <a:r>
              <a:rPr lang="en-CH" dirty="0"/>
              <a:t>16</a:t>
            </a:r>
          </a:p>
          <a:p>
            <a:r>
              <a:rPr lang="en-CH" dirty="0"/>
              <a:t>17</a:t>
            </a:r>
          </a:p>
          <a:p>
            <a:r>
              <a:rPr lang="en-CH" dirty="0"/>
              <a:t>18</a:t>
            </a:r>
          </a:p>
          <a:p>
            <a:r>
              <a:rPr lang="en-CH" dirty="0"/>
              <a:t>19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C5658D-FE08-69A0-8EC6-45B505BC1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H" dirty="0"/>
              <a:t>color0</a:t>
            </a:r>
          </a:p>
          <a:p>
            <a:r>
              <a:rPr lang="en-CH" dirty="0">
                <a:solidFill>
                  <a:schemeClr val="accent1"/>
                </a:solidFill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</a:rPr>
              <a:t>color6</a:t>
            </a:r>
          </a:p>
          <a:p>
            <a:endParaRPr lang="en-CH" dirty="0"/>
          </a:p>
          <a:p>
            <a:endParaRPr lang="en-CH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47FC2BC-C8B1-A2FD-2987-048ED499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E6B07-0814-1DA8-8A28-2EB5E7E8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6E24E-9936-DAE5-7DAB-7429B048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23819-EC99-8CA7-9D41-7929FFDE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53</a:t>
            </a:fld>
            <a:r>
              <a:rPr lang="en-CH"/>
              <a:t> / XX</a:t>
            </a:r>
            <a:endParaRPr lang="en-CH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8967E6-A9D3-9023-6D88-B376528B1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68B88C-EC9D-096D-B673-1C6E18D103D6}"/>
              </a:ext>
            </a:extLst>
          </p:cNvPr>
          <p:cNvCxnSpPr>
            <a:cxnSpLocks/>
          </p:cNvCxnSpPr>
          <p:nvPr/>
        </p:nvCxnSpPr>
        <p:spPr>
          <a:xfrm>
            <a:off x="6534016" y="365125"/>
            <a:ext cx="21402" cy="58340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871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FCE3678-D598-DDA3-9D3A-B7F7A268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CAC067-CC95-3E51-04B8-59F0F4382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DB33A7-45E8-155D-7AAA-434D0E797D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H" dirty="0"/>
              <a:t>color0</a:t>
            </a:r>
          </a:p>
          <a:p>
            <a:r>
              <a:rPr lang="en-CH" dirty="0">
                <a:solidFill>
                  <a:schemeClr val="accent1"/>
                </a:solidFill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</a:rPr>
              <a:t>color6</a:t>
            </a:r>
          </a:p>
          <a:p>
            <a:endParaRPr lang="en-CH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90982A-BE62-4B84-7775-6D12D3441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2647" y="1825625"/>
            <a:ext cx="468527" cy="4351338"/>
          </a:xfrm>
        </p:spPr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endParaRPr lang="en-CH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DA6294-FC13-CE89-F983-6CEC7D852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61174" y="1825625"/>
            <a:ext cx="4592626" cy="4351338"/>
          </a:xfrm>
        </p:spPr>
        <p:txBody>
          <a:bodyPr/>
          <a:lstStyle/>
          <a:p>
            <a:r>
              <a:rPr lang="en-CH" dirty="0"/>
              <a:t>color0</a:t>
            </a:r>
          </a:p>
          <a:p>
            <a:r>
              <a:rPr lang="en-CH" dirty="0">
                <a:solidFill>
                  <a:schemeClr val="accent1"/>
                </a:solidFill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</a:rPr>
              <a:t>color6</a:t>
            </a:r>
          </a:p>
          <a:p>
            <a:endParaRPr lang="en-CH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B63CEBD-402C-AEFD-5FB7-47B07160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83EAD083-0D1E-41EE-0229-235558B8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0FEEE78-AF41-0A60-32BB-A452CD41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54</a:t>
            </a:fld>
            <a:r>
              <a:rPr lang="en-CH"/>
              <a:t> / XX</a:t>
            </a:r>
            <a:endParaRPr lang="en-CH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04BEA1-F220-3026-1FBC-16B095228CCD}"/>
              </a:ext>
            </a:extLst>
          </p:cNvPr>
          <p:cNvCxnSpPr>
            <a:cxnSpLocks/>
          </p:cNvCxnSpPr>
          <p:nvPr/>
        </p:nvCxnSpPr>
        <p:spPr>
          <a:xfrm>
            <a:off x="1287459" y="1825625"/>
            <a:ext cx="0" cy="435133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B949FF-D8C4-6603-E53E-BAB8AC6F5278}"/>
              </a:ext>
            </a:extLst>
          </p:cNvPr>
          <p:cNvCxnSpPr>
            <a:cxnSpLocks/>
          </p:cNvCxnSpPr>
          <p:nvPr/>
        </p:nvCxnSpPr>
        <p:spPr>
          <a:xfrm>
            <a:off x="6750983" y="1825625"/>
            <a:ext cx="0" cy="435133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3409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74BE98-84A9-7DFF-37F6-1B109366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B9597F-69A4-FAC5-5038-B13F415FD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A1191E-C6DC-30EE-B654-72CC829E07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H" dirty="0"/>
              <a:t> 1</a:t>
            </a:r>
          </a:p>
          <a:p>
            <a:r>
              <a:rPr lang="en-CH" dirty="0"/>
              <a:t> 2</a:t>
            </a:r>
          </a:p>
          <a:p>
            <a:r>
              <a:rPr lang="en-CH" dirty="0"/>
              <a:t> 3</a:t>
            </a:r>
          </a:p>
          <a:p>
            <a:r>
              <a:rPr lang="en-CH" dirty="0"/>
              <a:t> 4</a:t>
            </a:r>
          </a:p>
          <a:p>
            <a:r>
              <a:rPr lang="en-CH" dirty="0"/>
              <a:t> 5</a:t>
            </a:r>
          </a:p>
          <a:p>
            <a:r>
              <a:rPr lang="en-CH" dirty="0"/>
              <a:t> 6</a:t>
            </a:r>
          </a:p>
          <a:p>
            <a:r>
              <a:rPr lang="en-CH" dirty="0"/>
              <a:t> 7</a:t>
            </a:r>
          </a:p>
          <a:p>
            <a:r>
              <a:rPr lang="en-CH" dirty="0"/>
              <a:t> 8</a:t>
            </a:r>
          </a:p>
          <a:p>
            <a:r>
              <a:rPr lang="en-CH" dirty="0"/>
              <a:t> 9</a:t>
            </a:r>
          </a:p>
          <a:p>
            <a:r>
              <a:rPr lang="en-CH" dirty="0"/>
              <a:t>10</a:t>
            </a:r>
          </a:p>
          <a:p>
            <a:r>
              <a:rPr lang="en-CH" dirty="0"/>
              <a:t>11</a:t>
            </a:r>
          </a:p>
          <a:p>
            <a:r>
              <a:rPr lang="en-CH" dirty="0"/>
              <a:t>12</a:t>
            </a:r>
          </a:p>
          <a:p>
            <a:r>
              <a:rPr lang="en-CH" dirty="0"/>
              <a:t>13</a:t>
            </a:r>
          </a:p>
          <a:p>
            <a:r>
              <a:rPr lang="en-CH" dirty="0"/>
              <a:t>14</a:t>
            </a:r>
          </a:p>
          <a:p>
            <a:endParaRPr lang="en-C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373646-76A8-FD19-F402-609BEB0DA5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H" dirty="0"/>
              <a:t>color0</a:t>
            </a:r>
          </a:p>
          <a:p>
            <a:r>
              <a:rPr lang="en-CH" dirty="0">
                <a:solidFill>
                  <a:schemeClr val="accent1"/>
                </a:solidFill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</a:rPr>
              <a:t>color6</a:t>
            </a:r>
          </a:p>
          <a:p>
            <a:endParaRPr lang="en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EEEE2D-77AC-FF15-F712-26E479381F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H" dirty="0"/>
              <a:t>color0</a:t>
            </a:r>
          </a:p>
          <a:p>
            <a:r>
              <a:rPr lang="en-CH" dirty="0">
                <a:solidFill>
                  <a:schemeClr val="accent1"/>
                </a:solidFill>
              </a:rPr>
              <a:t>color1</a:t>
            </a:r>
          </a:p>
          <a:p>
            <a:r>
              <a:rPr lang="en-CH" dirty="0">
                <a:solidFill>
                  <a:schemeClr val="accent2"/>
                </a:solidFill>
              </a:rPr>
              <a:t>color2</a:t>
            </a:r>
          </a:p>
          <a:p>
            <a:r>
              <a:rPr lang="en-CH" dirty="0">
                <a:solidFill>
                  <a:schemeClr val="accent3"/>
                </a:solidFill>
              </a:rPr>
              <a:t>color3</a:t>
            </a:r>
          </a:p>
          <a:p>
            <a:r>
              <a:rPr lang="en-CH" dirty="0">
                <a:solidFill>
                  <a:schemeClr val="accent4"/>
                </a:solidFill>
              </a:rPr>
              <a:t>color4</a:t>
            </a:r>
          </a:p>
          <a:p>
            <a:r>
              <a:rPr lang="en-CH" dirty="0">
                <a:solidFill>
                  <a:schemeClr val="accent5"/>
                </a:solidFill>
              </a:rPr>
              <a:t>color5</a:t>
            </a:r>
          </a:p>
          <a:p>
            <a:r>
              <a:rPr lang="en-CH" dirty="0">
                <a:solidFill>
                  <a:schemeClr val="accent6"/>
                </a:solidFill>
              </a:rPr>
              <a:t>color6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3B17799-3278-1AE2-C335-16EF57F08FE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CH"/>
              <a:t>30/03/2026</a:t>
            </a:r>
            <a:endParaRPr lang="en-CH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76EA8B3-9CEF-2F06-A2EF-86859C05D76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Eliminating Reentrancy through Language Design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915003B-178C-DA2B-6778-E37AB817251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13ED95-016C-42D7-B550-5C99AA40E4D5}" type="slidenum">
              <a:rPr lang="en-CH" smtClean="0"/>
              <a:pPr/>
              <a:t>55</a:t>
            </a:fld>
            <a:r>
              <a:rPr lang="en-CH"/>
              <a:t> / XX</a:t>
            </a:r>
            <a:endParaRPr lang="en-C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242968-8321-2187-40B0-41B261011E1E}"/>
              </a:ext>
            </a:extLst>
          </p:cNvPr>
          <p:cNvCxnSpPr>
            <a:cxnSpLocks/>
          </p:cNvCxnSpPr>
          <p:nvPr/>
        </p:nvCxnSpPr>
        <p:spPr>
          <a:xfrm>
            <a:off x="1287458" y="1825625"/>
            <a:ext cx="0" cy="435133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esis Dark">
      <a:dk1>
        <a:srgbClr val="16191F"/>
      </a:dk1>
      <a:lt1>
        <a:srgbClr val="E7E7E7"/>
      </a:lt1>
      <a:dk2>
        <a:srgbClr val="2E323B"/>
      </a:dk2>
      <a:lt2>
        <a:srgbClr val="707070"/>
      </a:lt2>
      <a:accent1>
        <a:srgbClr val="F3608D"/>
      </a:accent1>
      <a:accent2>
        <a:srgbClr val="6ED4E7"/>
      </a:accent2>
      <a:accent3>
        <a:srgbClr val="F58437"/>
      </a:accent3>
      <a:accent4>
        <a:srgbClr val="958BE6"/>
      </a:accent4>
      <a:accent5>
        <a:srgbClr val="F9E45B"/>
      </a:accent5>
      <a:accent6>
        <a:srgbClr val="86D88C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4000</Words>
  <Application>Microsoft Office PowerPoint</Application>
  <PresentationFormat>Widescreen</PresentationFormat>
  <Paragraphs>1340</Paragraphs>
  <Slides>55</Slides>
  <Notes>6</Notes>
  <HiddenSlides>8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Lucida Console</vt:lpstr>
      <vt:lpstr>Office Theme</vt:lpstr>
      <vt:lpstr>Eliminating Reentrancy through Language Design</vt:lpstr>
      <vt:lpstr>Introduction &amp; Motivation</vt:lpstr>
      <vt:lpstr>Motivation (WIP)</vt:lpstr>
      <vt:lpstr>Ethereum Blockchain</vt:lpstr>
      <vt:lpstr>Smart Contract</vt:lpstr>
      <vt:lpstr>EVM   Ethereum Virtual Machine</vt:lpstr>
      <vt:lpstr>State of the Art</vt:lpstr>
      <vt:lpstr>Solidity</vt:lpstr>
      <vt:lpstr>Vyper</vt:lpstr>
      <vt:lpstr>Security</vt:lpstr>
      <vt:lpstr>Common Vulnerabilities (2021-2024)</vt:lpstr>
      <vt:lpstr>Common Vulnerabilities (2021-2024)</vt:lpstr>
      <vt:lpstr>Reentrancy – what is it?</vt:lpstr>
      <vt:lpstr>Reentrancy</vt:lpstr>
      <vt:lpstr>Reentrancy</vt:lpstr>
      <vt:lpstr>Reentrancy</vt:lpstr>
      <vt:lpstr>Reentrancy</vt:lpstr>
      <vt:lpstr>Reentrancy</vt:lpstr>
      <vt:lpstr>Reentrancy</vt:lpstr>
      <vt:lpstr>Reentrancy Protection</vt:lpstr>
      <vt:lpstr>Entry-Point Annotation</vt:lpstr>
      <vt:lpstr>Call-Site Annotation</vt:lpstr>
      <vt:lpstr>Call Path Specification</vt:lpstr>
      <vt:lpstr>Side Effects</vt:lpstr>
      <vt:lpstr>Side Effects</vt:lpstr>
      <vt:lpstr>Side Effects</vt:lpstr>
      <vt:lpstr>Side Effects</vt:lpstr>
      <vt:lpstr>Side Effects</vt:lpstr>
      <vt:lpstr>Effects in Calls</vt:lpstr>
      <vt:lpstr>Effects in Calls</vt:lpstr>
      <vt:lpstr>Effects in Calls</vt:lpstr>
      <vt:lpstr>Algebraic Data Types</vt:lpstr>
      <vt:lpstr>Implementation</vt:lpstr>
      <vt:lpstr>Feature Set</vt:lpstr>
      <vt:lpstr>Compilation</vt:lpstr>
      <vt:lpstr>Evaluation</vt:lpstr>
      <vt:lpstr>Reentrancies</vt:lpstr>
      <vt:lpstr>Overhead Comparison</vt:lpstr>
      <vt:lpstr>Curve comment example</vt:lpstr>
      <vt:lpstr>Cost of Reentrancy Guards</vt:lpstr>
      <vt:lpstr>Conclusion</vt:lpstr>
      <vt:lpstr>Future Work</vt:lpstr>
      <vt:lpstr>Q&amp;A</vt:lpstr>
      <vt:lpstr>Q&amp;A</vt:lpstr>
      <vt:lpstr>Examples</vt:lpstr>
      <vt:lpstr>Common Vulnerabilities (Count)</vt:lpstr>
      <vt:lpstr>Common Vulnerabilities (Funds Lost, in $M)</vt:lpstr>
      <vt:lpstr>Related Work</vt:lpstr>
      <vt:lpstr>Popsicle Finance   2021-08, $20 million</vt:lpstr>
      <vt:lpstr>Super Sushi Samurai   2024-03, $4.8 million</vt:lpstr>
      <vt:lpstr>Future Work: Tooling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Richards  Tynan</dc:creator>
  <cp:lastModifiedBy>Richards  Tynan</cp:lastModifiedBy>
  <cp:revision>727</cp:revision>
  <dcterms:created xsi:type="dcterms:W3CDTF">2026-03-21T11:27:25Z</dcterms:created>
  <dcterms:modified xsi:type="dcterms:W3CDTF">2026-03-27T14:08:05Z</dcterms:modified>
</cp:coreProperties>
</file>
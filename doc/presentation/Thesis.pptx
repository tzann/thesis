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50"/>
  </p:notesMasterIdLst>
  <p:sldIdLst>
    <p:sldId id="256" r:id="rId2"/>
    <p:sldId id="293" r:id="rId3"/>
    <p:sldId id="333" r:id="rId4"/>
    <p:sldId id="282" r:id="rId5"/>
    <p:sldId id="285" r:id="rId6"/>
    <p:sldId id="276" r:id="rId7"/>
    <p:sldId id="298" r:id="rId8"/>
    <p:sldId id="292" r:id="rId9"/>
    <p:sldId id="334" r:id="rId10"/>
    <p:sldId id="288" r:id="rId11"/>
    <p:sldId id="337" r:id="rId12"/>
    <p:sldId id="338" r:id="rId13"/>
    <p:sldId id="291" r:id="rId14"/>
    <p:sldId id="339" r:id="rId15"/>
    <p:sldId id="346" r:id="rId16"/>
    <p:sldId id="340" r:id="rId17"/>
    <p:sldId id="308" r:id="rId18"/>
    <p:sldId id="348" r:id="rId19"/>
    <p:sldId id="349" r:id="rId20"/>
    <p:sldId id="310" r:id="rId21"/>
    <p:sldId id="311" r:id="rId22"/>
    <p:sldId id="300" r:id="rId23"/>
    <p:sldId id="314" r:id="rId24"/>
    <p:sldId id="315" r:id="rId25"/>
    <p:sldId id="341" r:id="rId26"/>
    <p:sldId id="316" r:id="rId27"/>
    <p:sldId id="321" r:id="rId28"/>
    <p:sldId id="322" r:id="rId29"/>
    <p:sldId id="323" r:id="rId30"/>
    <p:sldId id="343" r:id="rId31"/>
    <p:sldId id="331" r:id="rId32"/>
    <p:sldId id="342" r:id="rId33"/>
    <p:sldId id="344" r:id="rId34"/>
    <p:sldId id="347" r:id="rId35"/>
    <p:sldId id="329" r:id="rId36"/>
    <p:sldId id="319" r:id="rId37"/>
    <p:sldId id="330" r:id="rId38"/>
    <p:sldId id="258" r:id="rId39"/>
    <p:sldId id="326" r:id="rId40"/>
    <p:sldId id="320" r:id="rId41"/>
    <p:sldId id="269" r:id="rId42"/>
    <p:sldId id="328" r:id="rId43"/>
    <p:sldId id="272" r:id="rId44"/>
    <p:sldId id="273" r:id="rId45"/>
    <p:sldId id="327" r:id="rId46"/>
    <p:sldId id="274" r:id="rId47"/>
    <p:sldId id="259" r:id="rId48"/>
    <p:sldId id="260" r:id="rId49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1D98EED9-A4B4-4F1D-B74F-B7C08A6C0F4F}">
          <p14:sldIdLst>
            <p14:sldId id="256"/>
          </p14:sldIdLst>
        </p14:section>
        <p14:section name="Introduction &amp; Motivation" id="{3A0920A3-7089-4D36-ACD9-7D36A88FA363}">
          <p14:sldIdLst>
            <p14:sldId id="293"/>
          </p14:sldIdLst>
        </p14:section>
        <p14:section name="Background" id="{155D24CD-1F67-4B2A-8BBA-6043068973F2}">
          <p14:sldIdLst>
            <p14:sldId id="333"/>
            <p14:sldId id="282"/>
            <p14:sldId id="285"/>
            <p14:sldId id="276"/>
            <p14:sldId id="298"/>
            <p14:sldId id="292"/>
          </p14:sldIdLst>
        </p14:section>
        <p14:section name="Problem Statement" id="{D007D5E9-0273-4A98-8D76-718A668981DA}">
          <p14:sldIdLst>
            <p14:sldId id="334"/>
            <p14:sldId id="288"/>
            <p14:sldId id="337"/>
            <p14:sldId id="338"/>
            <p14:sldId id="291"/>
            <p14:sldId id="339"/>
            <p14:sldId id="346"/>
            <p14:sldId id="340"/>
            <p14:sldId id="308"/>
            <p14:sldId id="348"/>
            <p14:sldId id="349"/>
            <p14:sldId id="310"/>
            <p14:sldId id="311"/>
            <p14:sldId id="300"/>
          </p14:sldIdLst>
        </p14:section>
        <p14:section name="Implementation" id="{7E93AC4F-DCBE-4D35-B88C-49CC76E39595}">
          <p14:sldIdLst>
            <p14:sldId id="314"/>
            <p14:sldId id="315"/>
            <p14:sldId id="341"/>
            <p14:sldId id="316"/>
          </p14:sldIdLst>
        </p14:section>
        <p14:section name="Evaluation &amp; Results" id="{8219F86C-B3AF-4EAA-830F-8DFAE481BD8F}">
          <p14:sldIdLst>
            <p14:sldId id="321"/>
            <p14:sldId id="322"/>
            <p14:sldId id="323"/>
            <p14:sldId id="343"/>
            <p14:sldId id="331"/>
            <p14:sldId id="342"/>
            <p14:sldId id="344"/>
            <p14:sldId id="347"/>
          </p14:sldIdLst>
        </p14:section>
        <p14:section name="Conclusion &amp; Future Work" id="{803E403D-1B92-466A-BE97-26C9AB7892A5}">
          <p14:sldIdLst>
            <p14:sldId id="329"/>
            <p14:sldId id="319"/>
          </p14:sldIdLst>
        </p14:section>
        <p14:section name="Q&amp;A" id="{4132604F-A5FF-4E6F-A51C-CD14EC1306E2}">
          <p14:sldIdLst>
            <p14:sldId id="330"/>
          </p14:sldIdLst>
        </p14:section>
        <p14:section name="Backup / Extra Examples" id="{274778F2-46BC-4298-9911-D5D9332C2A83}">
          <p14:sldIdLst>
            <p14:sldId id="258"/>
            <p14:sldId id="326"/>
            <p14:sldId id="320"/>
            <p14:sldId id="269"/>
            <p14:sldId id="328"/>
            <p14:sldId id="272"/>
            <p14:sldId id="273"/>
          </p14:sldIdLst>
        </p14:section>
        <p14:section name="Templates" id="{7D75C5C1-E226-422F-BC2D-7889BBB961BB}">
          <p14:sldIdLst>
            <p14:sldId id="327"/>
            <p14:sldId id="274"/>
            <p14:sldId id="259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2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481" autoAdjust="0"/>
    <p:restoredTop sz="86467" autoAdjust="0"/>
  </p:normalViewPr>
  <p:slideViewPr>
    <p:cSldViewPr snapToGrid="0">
      <p:cViewPr varScale="1">
        <p:scale>
          <a:sx n="96" d="100"/>
          <a:sy n="96" d="100"/>
        </p:scale>
        <p:origin x="360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6312431054813802E-2"/>
          <c:y val="5.8480550407034114E-2"/>
          <c:w val="0.68317861082582065"/>
          <c:h val="0.84537450487200039"/>
        </c:manualLayout>
      </c:layout>
      <c:barChart>
        <c:barDir val="col"/>
        <c:grouping val="percentStacke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Business Logic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Sheet1!$B$2:$G$2</c:f>
              <c:numCache>
                <c:formatCode>General</c:formatCode>
                <c:ptCount val="6"/>
                <c:pt idx="0">
                  <c:v>7</c:v>
                </c:pt>
                <c:pt idx="1">
                  <c:v>21</c:v>
                </c:pt>
                <c:pt idx="2">
                  <c:v>65</c:v>
                </c:pt>
                <c:pt idx="3">
                  <c:v>58</c:v>
                </c:pt>
                <c:pt idx="4">
                  <c:v>151</c:v>
                </c:pt>
                <c:pt idx="5">
                  <c:v>524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ADF-45C3-86C9-5027E11F164C}"/>
            </c:ext>
          </c:extLst>
        </c:ser>
        <c:ser>
          <c:idx val="1"/>
          <c:order val="1"/>
          <c:tx>
            <c:strRef>
              <c:f>Sheet1!$A$3</c:f>
              <c:strCache>
                <c:ptCount val="1"/>
                <c:pt idx="0">
                  <c:v>Price Manipulation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Sheet1!$B$3:$G$3</c:f>
              <c:numCache>
                <c:formatCode>General</c:formatCode>
                <c:ptCount val="6"/>
                <c:pt idx="0">
                  <c:v>10</c:v>
                </c:pt>
                <c:pt idx="1">
                  <c:v>35</c:v>
                </c:pt>
                <c:pt idx="2">
                  <c:v>42</c:v>
                </c:pt>
                <c:pt idx="3">
                  <c:v>21</c:v>
                </c:pt>
                <c:pt idx="4">
                  <c:v>108</c:v>
                </c:pt>
                <c:pt idx="5">
                  <c:v>422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ADF-45C3-86C9-5027E11F164C}"/>
            </c:ext>
          </c:extLst>
        </c:ser>
        <c:ser>
          <c:idx val="2"/>
          <c:order val="2"/>
          <c:tx>
            <c:strRef>
              <c:f>Sheet1!$A$4</c:f>
              <c:strCache>
                <c:ptCount val="1"/>
                <c:pt idx="0">
                  <c:v>Access Control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Sheet1!$B$4:$G$4</c:f>
              <c:numCache>
                <c:formatCode>General</c:formatCode>
                <c:ptCount val="6"/>
                <c:pt idx="0">
                  <c:v>3</c:v>
                </c:pt>
                <c:pt idx="1">
                  <c:v>16</c:v>
                </c:pt>
                <c:pt idx="2">
                  <c:v>22</c:v>
                </c:pt>
                <c:pt idx="3">
                  <c:v>35</c:v>
                </c:pt>
                <c:pt idx="4">
                  <c:v>76</c:v>
                </c:pt>
                <c:pt idx="5">
                  <c:v>60.5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ADF-45C3-86C9-5027E11F164C}"/>
            </c:ext>
          </c:extLst>
        </c:ser>
        <c:ser>
          <c:idx val="3"/>
          <c:order val="3"/>
          <c:tx>
            <c:strRef>
              <c:f>Sheet1!$A$5</c:f>
              <c:strCache>
                <c:ptCount val="1"/>
                <c:pt idx="0">
                  <c:v>Reentrancy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Sheet1!$B$5:$G$5</c:f>
              <c:numCache>
                <c:formatCode>General</c:formatCode>
                <c:ptCount val="6"/>
                <c:pt idx="0">
                  <c:v>9</c:v>
                </c:pt>
                <c:pt idx="1">
                  <c:v>13</c:v>
                </c:pt>
                <c:pt idx="2">
                  <c:v>17</c:v>
                </c:pt>
                <c:pt idx="3">
                  <c:v>15</c:v>
                </c:pt>
                <c:pt idx="4">
                  <c:v>54</c:v>
                </c:pt>
                <c:pt idx="5">
                  <c:v>284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ADF-45C3-86C9-5027E11F164C}"/>
            </c:ext>
          </c:extLst>
        </c:ser>
        <c:ser>
          <c:idx val="4"/>
          <c:order val="4"/>
          <c:tx>
            <c:strRef>
              <c:f>Sheet1!$A$6</c:f>
              <c:strCache>
                <c:ptCount val="1"/>
                <c:pt idx="0">
                  <c:v>Input Validation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Sheet1!$B$6:$G$6</c:f>
              <c:numCache>
                <c:formatCode>General</c:formatCode>
                <c:ptCount val="6"/>
                <c:pt idx="0">
                  <c:v>2</c:v>
                </c:pt>
                <c:pt idx="1">
                  <c:v>10</c:v>
                </c:pt>
                <c:pt idx="2">
                  <c:v>8</c:v>
                </c:pt>
                <c:pt idx="3">
                  <c:v>18</c:v>
                </c:pt>
                <c:pt idx="4">
                  <c:v>38</c:v>
                </c:pt>
                <c:pt idx="5">
                  <c:v>141.5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ADF-45C3-86C9-5027E11F164C}"/>
            </c:ext>
          </c:extLst>
        </c:ser>
        <c:ser>
          <c:idx val="5"/>
          <c:order val="5"/>
          <c:tx>
            <c:strRef>
              <c:f>Sheet1!$A$7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Sheet1!$B$7:$G$7</c:f>
              <c:numCache>
                <c:formatCode>General</c:formatCode>
                <c:ptCount val="6"/>
                <c:pt idx="0">
                  <c:v>5</c:v>
                </c:pt>
                <c:pt idx="1">
                  <c:v>5</c:v>
                </c:pt>
                <c:pt idx="2">
                  <c:v>18</c:v>
                </c:pt>
                <c:pt idx="3">
                  <c:v>12</c:v>
                </c:pt>
                <c:pt idx="4">
                  <c:v>40</c:v>
                </c:pt>
                <c:pt idx="5">
                  <c:v>151.69999999999999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ADF-45C3-86C9-5027E11F164C}"/>
            </c:ext>
          </c:extLst>
        </c:ser>
        <c:ser>
          <c:idx val="6"/>
          <c:order val="6"/>
          <c:tx>
            <c:strRef>
              <c:f>Sheet1!$A$8</c:f>
              <c:strCache>
                <c:ptCount val="1"/>
                <c:pt idx="0">
                  <c:v>Arbitrary Call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Sheet1!$B$8:$G$8</c:f>
              <c:numCache>
                <c:formatCode>General</c:formatCode>
                <c:ptCount val="6"/>
                <c:pt idx="0">
                  <c:v>0</c:v>
                </c:pt>
                <c:pt idx="1">
                  <c:v>8</c:v>
                </c:pt>
                <c:pt idx="2">
                  <c:v>9</c:v>
                </c:pt>
                <c:pt idx="3">
                  <c:v>9</c:v>
                </c:pt>
                <c:pt idx="4">
                  <c:v>26</c:v>
                </c:pt>
                <c:pt idx="5">
                  <c:v>15.7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ADF-45C3-86C9-5027E11F164C}"/>
            </c:ext>
          </c:extLst>
        </c:ser>
        <c:ser>
          <c:idx val="7"/>
          <c:order val="7"/>
          <c:tx>
            <c:strRef>
              <c:f>Sheet1!$A$9</c:f>
              <c:strCache>
                <c:ptCount val="1"/>
                <c:pt idx="0">
                  <c:v>Token Design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Sheet1!$B$9:$G$9</c:f>
              <c:numCache>
                <c:formatCode>General</c:formatCode>
                <c:ptCount val="6"/>
                <c:pt idx="0">
                  <c:v>3</c:v>
                </c:pt>
                <c:pt idx="1">
                  <c:v>4</c:v>
                </c:pt>
                <c:pt idx="2">
                  <c:v>18</c:v>
                </c:pt>
                <c:pt idx="3">
                  <c:v>3</c:v>
                </c:pt>
                <c:pt idx="4">
                  <c:v>28</c:v>
                </c:pt>
                <c:pt idx="5">
                  <c:v>5.6310000000000002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6ADF-45C3-86C9-5027E11F164C}"/>
            </c:ext>
          </c:extLst>
        </c:ser>
        <c:ser>
          <c:idx val="8"/>
          <c:order val="8"/>
          <c:tx>
            <c:strRef>
              <c:f>Sheet1!$A$10</c:f>
              <c:strCache>
                <c:ptCount val="1"/>
                <c:pt idx="0">
                  <c:v>Slippage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Sheet1!$B$10:$G$10</c:f>
              <c:numCache>
                <c:formatCode>General</c:formatCode>
                <c:ptCount val="6"/>
                <c:pt idx="0">
                  <c:v>2</c:v>
                </c:pt>
                <c:pt idx="1">
                  <c:v>0</c:v>
                </c:pt>
                <c:pt idx="2">
                  <c:v>9</c:v>
                </c:pt>
                <c:pt idx="3">
                  <c:v>2</c:v>
                </c:pt>
                <c:pt idx="4">
                  <c:v>13</c:v>
                </c:pt>
                <c:pt idx="5">
                  <c:v>11.754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6ADF-45C3-86C9-5027E11F164C}"/>
            </c:ext>
          </c:extLst>
        </c:ser>
        <c:ser>
          <c:idx val="9"/>
          <c:order val="9"/>
          <c:tx>
            <c:strRef>
              <c:f>Sheet1!$A$11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Sheet1!$B$11:$G$11</c:f>
              <c:numCache>
                <c:formatCode>General</c:formatCode>
                <c:ptCount val="6"/>
                <c:pt idx="0">
                  <c:v>0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15</c:v>
                </c:pt>
                <c:pt idx="5">
                  <c:v>54.4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6ADF-45C3-86C9-5027E11F16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5"/>
        <c:overlap val="100"/>
        <c:axId val="1477104384"/>
        <c:axId val="1477098624"/>
      </c:barChart>
      <c:catAx>
        <c:axId val="14771043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2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  <c:crossAx val="1477098624"/>
        <c:crosses val="autoZero"/>
        <c:auto val="1"/>
        <c:lblAlgn val="ctr"/>
        <c:lblOffset val="100"/>
        <c:noMultiLvlLbl val="0"/>
      </c:catAx>
      <c:valAx>
        <c:axId val="147709862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2"/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  <c:crossAx val="14771043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1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2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3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4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5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7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8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9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ayout>
        <c:manualLayout>
          <c:xMode val="edge"/>
          <c:yMode val="edge"/>
          <c:x val="0.76219961085865318"/>
          <c:y val="5.6989830043032742E-2"/>
          <c:w val="0.22368616636686292"/>
          <c:h val="0.8423641067195362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CH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CH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6312431054813802E-2"/>
          <c:y val="5.8480550407034114E-2"/>
          <c:w val="0.68317861082582065"/>
          <c:h val="0.84537450487200039"/>
        </c:manualLayout>
      </c:layout>
      <c:barChart>
        <c:barDir val="col"/>
        <c:grouping val="percentStacke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Business Logic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Sheet1!$B$2:$G$2</c:f>
              <c:numCache>
                <c:formatCode>General</c:formatCode>
                <c:ptCount val="6"/>
                <c:pt idx="0">
                  <c:v>7</c:v>
                </c:pt>
                <c:pt idx="1">
                  <c:v>21</c:v>
                </c:pt>
                <c:pt idx="2">
                  <c:v>65</c:v>
                </c:pt>
                <c:pt idx="3">
                  <c:v>58</c:v>
                </c:pt>
                <c:pt idx="4">
                  <c:v>151</c:v>
                </c:pt>
                <c:pt idx="5">
                  <c:v>524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114-4D0D-A8EE-972C953D9669}"/>
            </c:ext>
          </c:extLst>
        </c:ser>
        <c:ser>
          <c:idx val="1"/>
          <c:order val="1"/>
          <c:tx>
            <c:strRef>
              <c:f>Sheet1!$A$3</c:f>
              <c:strCache>
                <c:ptCount val="1"/>
                <c:pt idx="0">
                  <c:v>Price Manipulation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Sheet1!$B$3:$G$3</c:f>
              <c:numCache>
                <c:formatCode>General</c:formatCode>
                <c:ptCount val="6"/>
                <c:pt idx="0">
                  <c:v>10</c:v>
                </c:pt>
                <c:pt idx="1">
                  <c:v>35</c:v>
                </c:pt>
                <c:pt idx="2">
                  <c:v>42</c:v>
                </c:pt>
                <c:pt idx="3">
                  <c:v>21</c:v>
                </c:pt>
                <c:pt idx="4">
                  <c:v>108</c:v>
                </c:pt>
                <c:pt idx="5">
                  <c:v>422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114-4D0D-A8EE-972C953D9669}"/>
            </c:ext>
          </c:extLst>
        </c:ser>
        <c:ser>
          <c:idx val="2"/>
          <c:order val="2"/>
          <c:tx>
            <c:strRef>
              <c:f>Sheet1!$A$4</c:f>
              <c:strCache>
                <c:ptCount val="1"/>
                <c:pt idx="0">
                  <c:v>Access Control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Sheet1!$B$4:$G$4</c:f>
              <c:numCache>
                <c:formatCode>General</c:formatCode>
                <c:ptCount val="6"/>
                <c:pt idx="0">
                  <c:v>3</c:v>
                </c:pt>
                <c:pt idx="1">
                  <c:v>16</c:v>
                </c:pt>
                <c:pt idx="2">
                  <c:v>22</c:v>
                </c:pt>
                <c:pt idx="3">
                  <c:v>35</c:v>
                </c:pt>
                <c:pt idx="4">
                  <c:v>76</c:v>
                </c:pt>
                <c:pt idx="5">
                  <c:v>60.5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114-4D0D-A8EE-972C953D9669}"/>
            </c:ext>
          </c:extLst>
        </c:ser>
        <c:ser>
          <c:idx val="3"/>
          <c:order val="3"/>
          <c:tx>
            <c:strRef>
              <c:f>Sheet1!$A$5</c:f>
              <c:strCache>
                <c:ptCount val="1"/>
                <c:pt idx="0">
                  <c:v>Reentrancy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Sheet1!$B$5:$G$5</c:f>
              <c:numCache>
                <c:formatCode>General</c:formatCode>
                <c:ptCount val="6"/>
                <c:pt idx="0">
                  <c:v>9</c:v>
                </c:pt>
                <c:pt idx="1">
                  <c:v>13</c:v>
                </c:pt>
                <c:pt idx="2">
                  <c:v>17</c:v>
                </c:pt>
                <c:pt idx="3">
                  <c:v>15</c:v>
                </c:pt>
                <c:pt idx="4">
                  <c:v>54</c:v>
                </c:pt>
                <c:pt idx="5">
                  <c:v>284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8114-4D0D-A8EE-972C953D9669}"/>
            </c:ext>
          </c:extLst>
        </c:ser>
        <c:ser>
          <c:idx val="4"/>
          <c:order val="4"/>
          <c:tx>
            <c:strRef>
              <c:f>Sheet1!$A$6</c:f>
              <c:strCache>
                <c:ptCount val="1"/>
                <c:pt idx="0">
                  <c:v>Input Validation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Sheet1!$B$6:$G$6</c:f>
              <c:numCache>
                <c:formatCode>General</c:formatCode>
                <c:ptCount val="6"/>
                <c:pt idx="0">
                  <c:v>2</c:v>
                </c:pt>
                <c:pt idx="1">
                  <c:v>10</c:v>
                </c:pt>
                <c:pt idx="2">
                  <c:v>8</c:v>
                </c:pt>
                <c:pt idx="3">
                  <c:v>18</c:v>
                </c:pt>
                <c:pt idx="4">
                  <c:v>38</c:v>
                </c:pt>
                <c:pt idx="5">
                  <c:v>141.5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8114-4D0D-A8EE-972C953D9669}"/>
            </c:ext>
          </c:extLst>
        </c:ser>
        <c:ser>
          <c:idx val="5"/>
          <c:order val="5"/>
          <c:tx>
            <c:strRef>
              <c:f>Sheet1!$A$7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Sheet1!$B$7:$G$7</c:f>
              <c:numCache>
                <c:formatCode>General</c:formatCode>
                <c:ptCount val="6"/>
                <c:pt idx="0">
                  <c:v>5</c:v>
                </c:pt>
                <c:pt idx="1">
                  <c:v>5</c:v>
                </c:pt>
                <c:pt idx="2">
                  <c:v>18</c:v>
                </c:pt>
                <c:pt idx="3">
                  <c:v>12</c:v>
                </c:pt>
                <c:pt idx="4">
                  <c:v>40</c:v>
                </c:pt>
                <c:pt idx="5">
                  <c:v>151.69999999999999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AE-493D-997F-068EED26B0C5}"/>
            </c:ext>
          </c:extLst>
        </c:ser>
        <c:ser>
          <c:idx val="6"/>
          <c:order val="6"/>
          <c:tx>
            <c:strRef>
              <c:f>Sheet1!$A$8</c:f>
              <c:strCache>
                <c:ptCount val="1"/>
                <c:pt idx="0">
                  <c:v>Arbitrary Call</c:v>
                </c:pt>
              </c:strCache>
            </c:strRef>
          </c:tx>
          <c:spPr>
            <a:solidFill>
              <a:schemeClr val="accent1">
                <a:lumMod val="60000"/>
              </a:schemeClr>
            </a:solidFill>
            <a:ln w="25400"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Sheet1!$B$8:$G$8</c:f>
              <c:numCache>
                <c:formatCode>General</c:formatCode>
                <c:ptCount val="6"/>
                <c:pt idx="0">
                  <c:v>0</c:v>
                </c:pt>
                <c:pt idx="1">
                  <c:v>8</c:v>
                </c:pt>
                <c:pt idx="2">
                  <c:v>9</c:v>
                </c:pt>
                <c:pt idx="3">
                  <c:v>9</c:v>
                </c:pt>
                <c:pt idx="4">
                  <c:v>26</c:v>
                </c:pt>
                <c:pt idx="5">
                  <c:v>15.7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AE-493D-997F-068EED26B0C5}"/>
            </c:ext>
          </c:extLst>
        </c:ser>
        <c:ser>
          <c:idx val="7"/>
          <c:order val="7"/>
          <c:tx>
            <c:strRef>
              <c:f>Sheet1!$A$9</c:f>
              <c:strCache>
                <c:ptCount val="1"/>
                <c:pt idx="0">
                  <c:v>Token Design</c:v>
                </c:pt>
              </c:strCache>
            </c:strRef>
          </c:tx>
          <c:spPr>
            <a:solidFill>
              <a:schemeClr val="accent2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Sheet1!$B$9:$G$9</c:f>
              <c:numCache>
                <c:formatCode>General</c:formatCode>
                <c:ptCount val="6"/>
                <c:pt idx="0">
                  <c:v>3</c:v>
                </c:pt>
                <c:pt idx="1">
                  <c:v>4</c:v>
                </c:pt>
                <c:pt idx="2">
                  <c:v>18</c:v>
                </c:pt>
                <c:pt idx="3">
                  <c:v>3</c:v>
                </c:pt>
                <c:pt idx="4">
                  <c:v>28</c:v>
                </c:pt>
                <c:pt idx="5">
                  <c:v>5.6310000000000002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FAE-493D-997F-068EED26B0C5}"/>
            </c:ext>
          </c:extLst>
        </c:ser>
        <c:ser>
          <c:idx val="8"/>
          <c:order val="8"/>
          <c:tx>
            <c:strRef>
              <c:f>Sheet1!$A$10</c:f>
              <c:strCache>
                <c:ptCount val="1"/>
                <c:pt idx="0">
                  <c:v>Slippage</c:v>
                </c:pt>
              </c:strCache>
            </c:strRef>
          </c:tx>
          <c:spPr>
            <a:solidFill>
              <a:schemeClr val="accent3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Sheet1!$B$10:$G$10</c:f>
              <c:numCache>
                <c:formatCode>General</c:formatCode>
                <c:ptCount val="6"/>
                <c:pt idx="0">
                  <c:v>2</c:v>
                </c:pt>
                <c:pt idx="1">
                  <c:v>0</c:v>
                </c:pt>
                <c:pt idx="2">
                  <c:v>9</c:v>
                </c:pt>
                <c:pt idx="3">
                  <c:v>2</c:v>
                </c:pt>
                <c:pt idx="4">
                  <c:v>13</c:v>
                </c:pt>
                <c:pt idx="5">
                  <c:v>11.754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3FAE-493D-997F-068EED26B0C5}"/>
            </c:ext>
          </c:extLst>
        </c:ser>
        <c:ser>
          <c:idx val="9"/>
          <c:order val="9"/>
          <c:tx>
            <c:strRef>
              <c:f>Sheet1!$A$11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chemeClr val="accent4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Sheet1!$B$11:$G$11</c:f>
              <c:numCache>
                <c:formatCode>General</c:formatCode>
                <c:ptCount val="6"/>
                <c:pt idx="0">
                  <c:v>0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15</c:v>
                </c:pt>
                <c:pt idx="5">
                  <c:v>54.4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FAE-493D-997F-068EED26B0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477104384"/>
        <c:axId val="1477098624"/>
      </c:barChart>
      <c:catAx>
        <c:axId val="14771043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  <c:crossAx val="1477098624"/>
        <c:crosses val="autoZero"/>
        <c:auto val="1"/>
        <c:lblAlgn val="ctr"/>
        <c:lblOffset val="100"/>
        <c:noMultiLvlLbl val="0"/>
      </c:catAx>
      <c:valAx>
        <c:axId val="147709862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  <c:crossAx val="14771043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egendEntry>
        <c:idx val="1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2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3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ayout>
        <c:manualLayout>
          <c:xMode val="edge"/>
          <c:yMode val="edge"/>
          <c:x val="0.76219961085865318"/>
          <c:y val="5.6989830043032742E-2"/>
          <c:w val="0.22368616636686292"/>
          <c:h val="0.8423641067195362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CH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CH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478CE3-0542-442B-AF7E-6DC0ED069798}" type="datetimeFigureOut">
              <a:rPr lang="en-CH" smtClean="0"/>
              <a:t>03/30/2026</a:t>
            </a:fld>
            <a:endParaRPr lang="en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B26BFD-26FA-41FF-A418-AE5D5C01BD91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6573823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H" dirty="0"/>
              <a:t>549 recent exploits in 2020-2024, totalling $1.671 billion. excluding some huge outliers (e.g. bridge exploits)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6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923235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H" dirty="0"/>
              <a:t>market share is really % of TVL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7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2721810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common knowledge</a:t>
            </a:r>
          </a:p>
          <a:p>
            <a:r>
              <a:rPr lang="en-GB" dirty="0"/>
              <a:t>Maybe </a:t>
            </a:r>
            <a:r>
              <a:rPr lang="en-CH" dirty="0"/>
              <a:t>mention that there are actual cases where order is not left to right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8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14830580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~6-7mins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9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2224749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77A6F-CE6E-67C6-9E55-A6A054CA81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7AA8AF-A611-D978-CBE8-10655854AE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57F51D-EDAE-342A-E672-0DC19E4B6D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H" dirty="0"/>
              <a:t>actually, it’s even worse – the </a:t>
            </a:r>
            <a:r>
              <a:rPr lang="en-CH" dirty="0" err="1"/>
              <a:t>reentrancies</a:t>
            </a:r>
            <a:r>
              <a:rPr lang="en-CH" dirty="0"/>
              <a:t> are only guarded against if we entered the contract through one of the @nonReentrant </a:t>
            </a:r>
            <a:r>
              <a:rPr lang="en-CH" dirty="0" err="1"/>
              <a:t>entrypoints</a:t>
            </a:r>
            <a:r>
              <a:rPr lang="en-CH" dirty="0"/>
              <a:t>. but I’m not sure how to concisely explain that...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820FBC-0119-FF81-2107-E5864CB16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11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0054406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B5456-486C-E36F-084E-3DF62B7103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5A0E71-7DDC-B262-8A08-3E5662D5FC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7DFF43-6230-0959-1AEB-6D6F5B70B4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H" dirty="0"/>
              <a:t>actually, it’s even worse – the </a:t>
            </a:r>
            <a:r>
              <a:rPr lang="en-CH" dirty="0" err="1"/>
              <a:t>reentrancies</a:t>
            </a:r>
            <a:r>
              <a:rPr lang="en-CH" dirty="0"/>
              <a:t> are only guarded against if we entered the contract through one of the @nonReentrant </a:t>
            </a:r>
            <a:r>
              <a:rPr lang="en-CH" dirty="0" err="1"/>
              <a:t>entrypoints</a:t>
            </a:r>
            <a:r>
              <a:rPr lang="en-CH" dirty="0"/>
              <a:t>. but I’m not sure how to concisely explain that...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CC8577-D5AF-E758-EAF0-E0E4C60D49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12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586672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14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9363492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~20mins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23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8029025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~24mins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27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86645306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~27mins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30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0826916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Extra performance hit is from bit-field check</a:t>
            </a:r>
            <a:br>
              <a:rPr lang="en-GB" dirty="0"/>
            </a:br>
            <a:r>
              <a:rPr lang="en-GB" dirty="0"/>
              <a:t>Because of 21k base transaction cost, “only” 10%</a:t>
            </a:r>
          </a:p>
          <a:p>
            <a:r>
              <a:rPr lang="en-GB" dirty="0"/>
              <a:t>Repeated accesses would be cheaper since slot warm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31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33986321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Mention the ~10% smart contract coding time as well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35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93311490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39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6589847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C10EE-955B-04AF-69AE-2C5CBDF4A8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47B284-DEDD-C7A1-F677-3C323FC4E6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1198D6C-2E65-AD26-CB39-4FF49B5F4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E82D3CE-F954-A4FA-D605-E621A4216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EA812F-8EA3-4D23-A7DF-03B878F905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</a:p>
        </p:txBody>
      </p:sp>
    </p:spTree>
    <p:extLst>
      <p:ext uri="{BB962C8B-B14F-4D97-AF65-F5344CB8AC3E}">
        <p14:creationId xmlns:p14="http://schemas.microsoft.com/office/powerpoint/2010/main" val="39979568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9F5BFB-9507-B6A3-5746-77FAFF983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9B0633-D3BD-33D1-8738-6D311DDD8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BC6D426-583C-7EFF-D99F-EBC430210E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4C2871-7DCF-9118-B480-A83A876FE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C317226-16A2-9057-06A2-7AE7D8EF9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6027396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 Block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Placeholder 16">
            <a:extLst>
              <a:ext uri="{FF2B5EF4-FFF2-40B4-BE49-F238E27FC236}">
                <a16:creationId xmlns:a16="http://schemas.microsoft.com/office/drawing/2014/main" id="{4324AC18-5D92-5E65-C285-02B83C4F2A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1825625"/>
            <a:ext cx="43801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2D2F2E2A-1DB1-0F73-F73F-CAD6E4E681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7618" y="1825625"/>
            <a:ext cx="4798381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142A28-ABF4-F249-B7B6-6DC7AC0C0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D696F5-2601-D050-07F4-D4F0E1B15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EA525C-0EC2-2F95-561A-BCB5B3C8E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1E72E6-8C91-2D3C-1312-C480DD9E8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9B40927-8367-591E-6EA3-0C7536746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52578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5447872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 Block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Placeholder 16">
            <a:extLst>
              <a:ext uri="{FF2B5EF4-FFF2-40B4-BE49-F238E27FC236}">
                <a16:creationId xmlns:a16="http://schemas.microsoft.com/office/drawing/2014/main" id="{4324AC18-5D92-5E65-C285-02B83C4F2A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0" y="365125"/>
            <a:ext cx="438016" cy="5834063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19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2D2F2E2A-1DB1-0F73-F73F-CAD6E4E681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555418" y="365125"/>
            <a:ext cx="4798381" cy="5834063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142A28-ABF4-F249-B7B6-6DC7AC0C04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236398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CH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D696F5-2601-D050-07F4-D4F0E1B15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EA525C-0EC2-2F95-561A-BCB5B3C8E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1E72E6-8C91-2D3C-1312-C480DD9E8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9B40927-8367-591E-6EA3-0C7536746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5236398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9237631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de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42A28-ABF4-F249-B7B6-6DC7AC0C0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D696F5-2601-D050-07F4-D4F0E1B15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EA525C-0EC2-2F95-561A-BCB5B3C8E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1E72E6-8C91-2D3C-1312-C480DD9E8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B430C50-0CEF-F0E7-8E9D-2ED5CBA2BB6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1825625"/>
            <a:ext cx="43801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18" name="Text Placeholder 16">
            <a:extLst>
              <a:ext uri="{FF2B5EF4-FFF2-40B4-BE49-F238E27FC236}">
                <a16:creationId xmlns:a16="http://schemas.microsoft.com/office/drawing/2014/main" id="{B2A326E5-C8E5-5B4F-170A-369F80F3BBF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7619" y="1825625"/>
            <a:ext cx="460173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20" name="Text Placeholder 16">
            <a:extLst>
              <a:ext uri="{FF2B5EF4-FFF2-40B4-BE49-F238E27FC236}">
                <a16:creationId xmlns:a16="http://schemas.microsoft.com/office/drawing/2014/main" id="{E7CDDD39-E193-8FAF-4873-57128487B2C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92647" y="1825625"/>
            <a:ext cx="43801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21" name="Text Placeholder 16">
            <a:extLst>
              <a:ext uri="{FF2B5EF4-FFF2-40B4-BE49-F238E27FC236}">
                <a16:creationId xmlns:a16="http://schemas.microsoft.com/office/drawing/2014/main" id="{0B96D1A9-59BE-6499-F40D-8C8BCAEE7E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52066" y="1825625"/>
            <a:ext cx="459262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</p:spTree>
    <p:extLst>
      <p:ext uri="{BB962C8B-B14F-4D97-AF65-F5344CB8AC3E}">
        <p14:creationId xmlns:p14="http://schemas.microsoft.com/office/powerpoint/2010/main" val="40075441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 Block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42A28-ABF4-F249-B7B6-6DC7AC0C0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9B40927-8367-591E-6EA3-0C7536746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52578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CA4E993B-59E9-39A7-1375-00EAACC7003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1825625"/>
            <a:ext cx="43801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14" name="Text Placeholder 16">
            <a:extLst>
              <a:ext uri="{FF2B5EF4-FFF2-40B4-BE49-F238E27FC236}">
                <a16:creationId xmlns:a16="http://schemas.microsoft.com/office/drawing/2014/main" id="{F880A9CE-0042-04E4-D124-238A7185F14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7618" y="1825625"/>
            <a:ext cx="4798381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3A5F3F2E-14C6-586F-9779-032F40027F5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10844" y="2694909"/>
            <a:ext cx="4228111" cy="2612769"/>
          </a:xfrm>
          <a:solidFill>
            <a:schemeClr val="bg2"/>
          </a:solidFill>
          <a:ln w="38100">
            <a:solidFill>
              <a:schemeClr val="tx2"/>
            </a:solidFill>
          </a:ln>
          <a:effectLst>
            <a:outerShdw blurRad="127000" dist="127000" dir="2700000" algn="tl" rotWithShape="0">
              <a:schemeClr val="bg1">
                <a:alpha val="75000"/>
              </a:schemeClr>
            </a:outerShdw>
          </a:effectLst>
        </p:spPr>
        <p:txBody>
          <a:bodyPr wrap="none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F8A2BFFD-3002-E2ED-D085-F5BCBD00D54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BB6B5A23-37DC-63DC-60BD-21C1E23891D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9097510C-3AC9-121F-47B0-18D2B0EBBB3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369606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8ECC50-C9F0-6580-D9EB-E3E8A8E2C4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F3AB04-23D0-8CC6-F784-28F661DDEE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91C745-6BB9-2E88-7EFF-11C0DF2AC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8ACD1-2B14-9C0F-718A-C61FB92EE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5815214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279E8C-2513-A64C-42E8-95D1492DE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59869-6146-DA1C-CD9E-DE8FB950D4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41B0F6-938C-68CA-111C-EE3B59D404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893D23-F675-8E4E-88B3-F5B0FE123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12AAD7-4BDC-D902-DC80-8FCA27B2E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29F38A-FB1A-79E3-AC9F-4A9B2CF15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2636044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0C32A-9B1E-490F-18D0-54448E6B8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685BA0-D117-2492-BE56-4EFA823C79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AC4E63-C515-1E35-DA8F-37B27A6E11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19DF89-89EB-4F85-6891-8008AF807C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B27893-B9FB-7D74-1694-FA8C1C573E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9CABEE-40B5-9B08-883E-C649FED2D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173C72-3ACF-1CC6-82DC-3A1A60780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7CDB9B0-FEC8-16BD-9E2D-E98FD258C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642152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A32DE4-D26F-7309-3E72-B7FF4AE6D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0972BD-83A2-E254-6E6E-7E712DFC46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FC5C14-F8A8-982D-0E31-41BFD8DAEB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16BAA3-4C7A-76AF-A49F-7361103BC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2864896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AE86DC-A25C-6630-A69E-3B888031B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DA8AB3-0FD1-3F19-79A7-A50132B242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E57896-73F1-A2A4-A208-0B12A01B0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210114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258EE-0ED4-0B80-ACD6-668A6E0E72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B88DE2-4455-AF57-269A-AF1954344C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48DF25-F96C-722A-111F-295496926C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4CD471-630D-B96C-5F86-2D6A4B09EB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C69589-EF5E-773A-F859-50EF2115D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E030B6-C8CB-F266-2565-3482BD3F78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16005609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7202B-8314-CC47-028A-B7E6D5801A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2037BF-4B10-3289-13E1-1F11193935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FEE7CF-9523-7B45-15F5-CB69D5FC73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CC053A-616F-8E94-94E7-43887EAB8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3EC473-B889-114B-555C-83C06D2034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2F2931-069C-EE45-51E6-9972C2BEB2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9442031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E594B-0953-2F9B-6468-CF5E07FBD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DDBB52-E4A9-B9B8-C153-53157BA5E6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85AF4A-B667-8098-892F-67F206E133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5C4C00-39BB-B071-BF58-90514816E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B7E722-60CE-2C3E-2D31-FC5A81C63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49908086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03EA721-914B-C3BD-C5F8-6287B7E606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97ED28-C735-89C7-EE75-C264320390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CA67B6-99E1-AD5D-D86D-A18C331C0E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4EC1CB-66F4-5C4C-4EF0-56D6EFD85F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9BECED-8C17-DEFC-153F-FD6E6901FE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3004139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6B6291-F75D-EA52-E49C-138C6F18B2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CH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1B967E-B845-2A6E-8DFF-9D17FFC342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831623-A0A0-2A8B-E467-88692E37F2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F6B48C-DFA7-BDBA-11DA-7A8D38C6A0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GB"/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E8443-C510-02CD-B968-B4DC785236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72313253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63" r:id="rId4"/>
    <p:sldLayoutId id="2147483661" r:id="rId5"/>
    <p:sldLayoutId id="2147483662" r:id="rId6"/>
    <p:sldLayoutId id="2147483651" r:id="rId7"/>
    <p:sldLayoutId id="2147483652" r:id="rId8"/>
    <p:sldLayoutId id="2147483653" r:id="rId9"/>
    <p:sldLayoutId id="2147483654" r:id="rId10"/>
    <p:sldLayoutId id="2147483655" r:id="rId11"/>
    <p:sldLayoutId id="2147483656" r:id="rId12"/>
    <p:sldLayoutId id="2147483657" r:id="rId13"/>
    <p:sldLayoutId id="2147483658" r:id="rId14"/>
    <p:sldLayoutId id="2147483659" r:id="rId15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44D3C-CF3D-0DDE-623D-8BE30C417A8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Tam</a:t>
            </a:r>
            <a:r>
              <a:rPr lang="en-CH" dirty="0"/>
              <a:t>ing Reentrancy </a:t>
            </a:r>
            <a:r>
              <a:rPr lang="en-GB" dirty="0"/>
              <a:t>with</a:t>
            </a:r>
            <a:r>
              <a:rPr lang="en-CH" dirty="0"/>
              <a:t> </a:t>
            </a:r>
            <a:r>
              <a:rPr lang="en-GB" dirty="0"/>
              <a:t>Auditable</a:t>
            </a:r>
            <a:r>
              <a:rPr lang="en-CH" dirty="0"/>
              <a:t> Language Design</a:t>
            </a:r>
          </a:p>
        </p:txBody>
      </p:sp>
      <p:sp>
        <p:nvSpPr>
          <p:cNvPr id="18" name="Subtitle 17">
            <a:extLst>
              <a:ext uri="{FF2B5EF4-FFF2-40B4-BE49-F238E27FC236}">
                <a16:creationId xmlns:a16="http://schemas.microsoft.com/office/drawing/2014/main" id="{79441BCA-E9CB-052F-68C9-22AAF8E2A8A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br>
              <a:rPr lang="en-CH" dirty="0"/>
            </a:br>
            <a:r>
              <a:rPr lang="en-CH" dirty="0"/>
              <a:t>Master Thesis</a:t>
            </a:r>
          </a:p>
          <a:p>
            <a:r>
              <a:rPr lang="en-CH" dirty="0"/>
              <a:t>Tynan Richards</a:t>
            </a:r>
          </a:p>
          <a:p>
            <a:r>
              <a:rPr lang="en-CH" dirty="0"/>
              <a:t>March 30, 202</a:t>
            </a:r>
            <a:r>
              <a:rPr lang="en-GB" dirty="0"/>
              <a:t>6</a:t>
            </a:r>
            <a:br>
              <a:rPr lang="en-CH" dirty="0"/>
            </a:b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5604114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2ECA16-4101-C92B-9557-B44E9353F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Introduction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1A7871-6C32-901F-8087-340023C2D7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89099"/>
            <a:ext cx="10515600" cy="4667251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GB" sz="3200" b="1" dirty="0"/>
              <a:t>Decentralized Finance:</a:t>
            </a:r>
          </a:p>
          <a:p>
            <a:r>
              <a:rPr lang="en-GB" dirty="0"/>
              <a:t>Basically: Financial Markets on the blockchain</a:t>
            </a:r>
          </a:p>
          <a:p>
            <a:r>
              <a:rPr lang="en-GB" dirty="0"/>
              <a:t>Multi-billion-dollar industry</a:t>
            </a:r>
          </a:p>
          <a:p>
            <a:r>
              <a:rPr lang="en-GB" dirty="0"/>
              <a:t>Virtually unregulated</a:t>
            </a:r>
          </a:p>
          <a:p>
            <a:r>
              <a:rPr lang="en-GB" dirty="0"/>
              <a:t>Programmatic “Smart Contracts”</a:t>
            </a:r>
          </a:p>
          <a:p>
            <a:r>
              <a:rPr lang="en-GB" dirty="0"/>
              <a:t>Bugs / Vulnerabilities:</a:t>
            </a:r>
          </a:p>
          <a:p>
            <a:pPr lvl="1"/>
            <a:r>
              <a:rPr lang="en-GB" dirty="0"/>
              <a:t>Hundreds of millions of dollars lost every year</a:t>
            </a:r>
          </a:p>
          <a:p>
            <a:pPr lvl="1"/>
            <a:r>
              <a:rPr lang="en-GB" dirty="0"/>
              <a:t>Blockchain → no way to reclaim funds</a:t>
            </a:r>
          </a:p>
          <a:p>
            <a:r>
              <a:rPr lang="en-GB" dirty="0"/>
              <a:t>Security Guarantees:</a:t>
            </a:r>
          </a:p>
          <a:p>
            <a:pPr lvl="1"/>
            <a:r>
              <a:rPr lang="en-GB" dirty="0"/>
              <a:t>Open-source code</a:t>
            </a:r>
          </a:p>
          <a:p>
            <a:pPr lvl="1"/>
            <a:r>
              <a:rPr lang="en-GB" dirty="0"/>
              <a:t>Third-party audits</a:t>
            </a:r>
          </a:p>
          <a:p>
            <a:pPr lvl="1"/>
            <a:r>
              <a:rPr lang="en-GB" dirty="0"/>
              <a:t>Bug bounties</a:t>
            </a: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C33A22-3C21-4878-0B96-C0DBAC38CB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1CAF1A-AD0E-DD62-3DCE-49BC16B7CC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C38F58-B1EA-B09A-C722-FDEA780C9A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2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9EA486D-C4EC-CE77-80FA-4834198ED404}"/>
              </a:ext>
            </a:extLst>
          </p:cNvPr>
          <p:cNvGrpSpPr/>
          <p:nvPr/>
        </p:nvGrpSpPr>
        <p:grpSpPr>
          <a:xfrm>
            <a:off x="1293428" y="5282805"/>
            <a:ext cx="6690691" cy="523220"/>
            <a:chOff x="1262270" y="5368907"/>
            <a:chExt cx="6690691" cy="52322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5CAD139-1E65-822D-F78E-F1C0EEAD192F}"/>
                </a:ext>
              </a:extLst>
            </p:cNvPr>
            <p:cNvSpPr/>
            <p:nvPr/>
          </p:nvSpPr>
          <p:spPr>
            <a:xfrm>
              <a:off x="1262270" y="5416826"/>
              <a:ext cx="2776330" cy="427383"/>
            </a:xfrm>
            <a:prstGeom prst="rect">
              <a:avLst/>
            </a:pr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5271ACD-B0A0-D130-2C14-40FBD405FD60}"/>
                </a:ext>
              </a:extLst>
            </p:cNvPr>
            <p:cNvSpPr txBox="1"/>
            <p:nvPr/>
          </p:nvSpPr>
          <p:spPr>
            <a:xfrm>
              <a:off x="4239039" y="5368907"/>
              <a:ext cx="371392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dirty="0">
                  <a:solidFill>
                    <a:schemeClr val="accent5"/>
                  </a:solidFill>
                </a:rPr>
                <a:t>This is my background!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89002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A5BA3C-91EA-9FBB-9561-17249105C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EC3984-9099-693B-D9DD-41FE432CE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Smart Contract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653945-CDFD-DA7D-D32B-55F445C507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H" dirty="0"/>
              <a:t>A “program” that </a:t>
            </a:r>
            <a:r>
              <a:rPr lang="en-GB" dirty="0"/>
              <a:t>is executed by the Ethereum Virtual Machine</a:t>
            </a:r>
          </a:p>
          <a:p>
            <a:pPr lvl="1"/>
            <a:r>
              <a:rPr lang="en-GB" dirty="0"/>
              <a:t>Immutable, cannot be “fixed in prod”</a:t>
            </a:r>
          </a:p>
          <a:p>
            <a:r>
              <a:rPr lang="en-GB" dirty="0"/>
              <a:t>Execution:</a:t>
            </a:r>
          </a:p>
          <a:p>
            <a:pPr lvl="1"/>
            <a:r>
              <a:rPr lang="en-GB" dirty="0"/>
              <a:t>EVM is single-threaded</a:t>
            </a:r>
          </a:p>
          <a:p>
            <a:pPr lvl="1"/>
            <a:r>
              <a:rPr lang="en-GB" b="1" i="1" dirty="0"/>
              <a:t>External Call</a:t>
            </a:r>
            <a:r>
              <a:rPr lang="en-GB" dirty="0"/>
              <a:t>: One contract may call into another</a:t>
            </a:r>
          </a:p>
          <a:p>
            <a:pPr lvl="1"/>
            <a:r>
              <a:rPr lang="en-GB" i="1" dirty="0"/>
              <a:t>Storage</a:t>
            </a:r>
            <a:r>
              <a:rPr lang="en-GB" dirty="0"/>
              <a:t>: per-contract, persistent</a:t>
            </a:r>
          </a:p>
          <a:p>
            <a:pPr lvl="1"/>
            <a:r>
              <a:rPr lang="en-GB" i="1" dirty="0"/>
              <a:t>Memory</a:t>
            </a:r>
            <a:r>
              <a:rPr lang="en-GB" dirty="0"/>
              <a:t>: Transient, not shared between calls</a:t>
            </a:r>
          </a:p>
          <a:p>
            <a:r>
              <a:rPr lang="en-GB" b="1" i="1" dirty="0"/>
              <a:t>Reentrancy</a:t>
            </a:r>
            <a:r>
              <a:rPr lang="en-GB" dirty="0"/>
              <a:t>:</a:t>
            </a:r>
          </a:p>
          <a:p>
            <a:pPr lvl="1"/>
            <a:r>
              <a:rPr lang="en-GB" dirty="0"/>
              <a:t>Call-back into executing contract</a:t>
            </a:r>
          </a:p>
          <a:p>
            <a:pPr lvl="1"/>
            <a:r>
              <a:rPr lang="en-GB" dirty="0"/>
              <a:t>Concurrency bugs</a:t>
            </a:r>
          </a:p>
          <a:p>
            <a:pPr lvl="1"/>
            <a:endParaRPr lang="en-CH" i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A140F3-ADF0-8C9B-AD87-187B615A058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79AD6E-3749-B70E-1A8D-7F31193F4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B71D40-6007-0804-4EA8-3521AC18C5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3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096576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AED03-B932-65DE-53CF-5EA9EBF1A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82DE01CE-23B9-4A8C-94D2-17785EE8575C}"/>
              </a:ext>
            </a:extLst>
          </p:cNvPr>
          <p:cNvSpPr/>
          <p:nvPr/>
        </p:nvSpPr>
        <p:spPr>
          <a:xfrm>
            <a:off x="838200" y="2611120"/>
            <a:ext cx="10556240" cy="1923896"/>
          </a:xfrm>
          <a:prstGeom prst="rect">
            <a:avLst/>
          </a:prstGeom>
          <a:solidFill>
            <a:schemeClr val="bg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F032A101-2296-8AA4-864F-F4C6B10B19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1305998"/>
              </p:ext>
            </p:extLst>
          </p:nvPr>
        </p:nvGraphicFramePr>
        <p:xfrm>
          <a:off x="2255520" y="3886518"/>
          <a:ext cx="222504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bg1"/>
                          </a:solidFill>
                          <a:latin typeface="Lucida Console" panose="020B0609040504020204" pitchFamily="49" charset="0"/>
                        </a:rPr>
                        <a:t>3</a:t>
                      </a:r>
                      <a:endParaRPr lang="en-CH" b="1" dirty="0">
                        <a:solidFill>
                          <a:schemeClr val="bg1"/>
                        </a:solidFill>
                        <a:latin typeface="Lucida Console" panose="020B0609040504020204" pitchFamily="49" charset="0"/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C031A772-93B8-8FDD-9636-B6D5006C5A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9977222"/>
              </p:ext>
            </p:extLst>
          </p:nvPr>
        </p:nvGraphicFramePr>
        <p:xfrm>
          <a:off x="2255520" y="3888000"/>
          <a:ext cx="222504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bg1"/>
                          </a:solidFill>
                          <a:latin typeface="Lucida Console" panose="020B0609040504020204" pitchFamily="49" charset="0"/>
                        </a:rPr>
                        <a:t>3</a:t>
                      </a:r>
                      <a:endParaRPr lang="en-CH" b="1" dirty="0">
                        <a:solidFill>
                          <a:schemeClr val="bg1"/>
                        </a:solidFill>
                        <a:latin typeface="Lucida Console" panose="020B0609040504020204" pitchFamily="49" charset="0"/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52C70AD0-791C-E993-605A-0762B0AB03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3129214"/>
              </p:ext>
            </p:extLst>
          </p:nvPr>
        </p:nvGraphicFramePr>
        <p:xfrm>
          <a:off x="2255520" y="3888000"/>
          <a:ext cx="222504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b="1" dirty="0">
                          <a:solidFill>
                            <a:schemeClr val="bg1"/>
                          </a:solidFill>
                          <a:latin typeface="Lucida Console" panose="020B0609040504020204" pitchFamily="49" charset="0"/>
                        </a:rPr>
                        <a:t>0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sp>
        <p:nvSpPr>
          <p:cNvPr id="44" name="Rectangle: Folded Corner 43">
            <a:extLst>
              <a:ext uri="{FF2B5EF4-FFF2-40B4-BE49-F238E27FC236}">
                <a16:creationId xmlns:a16="http://schemas.microsoft.com/office/drawing/2014/main" id="{E9D0BAE9-45E6-D95B-5C97-2E2A2F927BD2}"/>
              </a:ext>
            </a:extLst>
          </p:cNvPr>
          <p:cNvSpPr/>
          <p:nvPr/>
        </p:nvSpPr>
        <p:spPr>
          <a:xfrm>
            <a:off x="5648400" y="417670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A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EB626C-FC4E-4AE5-A6C8-78314F006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931160" cy="1325563"/>
          </a:xfrm>
        </p:spPr>
        <p:txBody>
          <a:bodyPr/>
          <a:lstStyle/>
          <a:p>
            <a:r>
              <a:rPr lang="en-CH" dirty="0"/>
              <a:t>Reentrancy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487F0E-42F1-C76F-7C25-A17E23CF7D4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1A3C81-4473-116D-BEF5-BFCA40F4E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C6C63A-1B71-214C-9DA9-E6567F0753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4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pic>
        <p:nvPicPr>
          <p:cNvPr id="12" name="Content Placeholder 9" descr="Address Book with solid fill">
            <a:extLst>
              <a:ext uri="{FF2B5EF4-FFF2-40B4-BE49-F238E27FC236}">
                <a16:creationId xmlns:a16="http://schemas.microsoft.com/office/drawing/2014/main" id="{63F1DBBD-A69F-7E56-46C1-1F94762117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8360" y="2723647"/>
            <a:ext cx="1010920" cy="1010920"/>
          </a:xfrm>
          <a:prstGeom prst="rect">
            <a:avLst/>
          </a:prstGeom>
        </p:spPr>
      </p:pic>
      <p:sp>
        <p:nvSpPr>
          <p:cNvPr id="13" name="Rectangle: Folded Corner 12">
            <a:extLst>
              <a:ext uri="{FF2B5EF4-FFF2-40B4-BE49-F238E27FC236}">
                <a16:creationId xmlns:a16="http://schemas.microsoft.com/office/drawing/2014/main" id="{D66E0428-4495-52FA-8B4F-58B735996F79}"/>
              </a:ext>
            </a:extLst>
          </p:cNvPr>
          <p:cNvSpPr/>
          <p:nvPr/>
        </p:nvSpPr>
        <p:spPr>
          <a:xfrm>
            <a:off x="3088640" y="2912375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4" name="Rectangle: Folded Corner 13">
            <a:extLst>
              <a:ext uri="{FF2B5EF4-FFF2-40B4-BE49-F238E27FC236}">
                <a16:creationId xmlns:a16="http://schemas.microsoft.com/office/drawing/2014/main" id="{53EDD61F-FF39-814C-2440-2EFEDC693CB4}"/>
              </a:ext>
            </a:extLst>
          </p:cNvPr>
          <p:cNvSpPr/>
          <p:nvPr/>
        </p:nvSpPr>
        <p:spPr>
          <a:xfrm>
            <a:off x="9690100" y="2935866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5" name="Rectangle: Folded Corner 14">
            <a:extLst>
              <a:ext uri="{FF2B5EF4-FFF2-40B4-BE49-F238E27FC236}">
                <a16:creationId xmlns:a16="http://schemas.microsoft.com/office/drawing/2014/main" id="{FD2D53EB-98E2-EADD-024D-6736ED05E6BA}"/>
              </a:ext>
            </a:extLst>
          </p:cNvPr>
          <p:cNvSpPr/>
          <p:nvPr/>
        </p:nvSpPr>
        <p:spPr>
          <a:xfrm>
            <a:off x="6324600" y="2912375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B</a:t>
            </a: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E803A3D0-942C-8F16-ABC2-4C3066651B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7978098"/>
              </p:ext>
            </p:extLst>
          </p:nvPr>
        </p:nvGraphicFramePr>
        <p:xfrm>
          <a:off x="5771038" y="874871"/>
          <a:ext cx="1297623" cy="370840"/>
        </p:xfrm>
        <a:graphic>
          <a:graphicData uri="http://schemas.openxmlformats.org/drawingml/2006/table">
            <a:tbl>
              <a:tblPr>
                <a:tableStyleId>{8A107856-5554-42FB-B03E-39F5DBC370BA}</a:tableStyleId>
              </a:tblPr>
              <a:tblGrid>
                <a:gridCol w="881063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41656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Storage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1" dirty="0">
                          <a:solidFill>
                            <a:schemeClr val="bg1"/>
                          </a:solidFill>
                          <a:latin typeface="Lucida Console" panose="020B0609040504020204" pitchFamily="49" charset="0"/>
                        </a:rPr>
                        <a:t>4</a:t>
                      </a:r>
                      <a:endParaRPr lang="en-CH" b="1" dirty="0">
                        <a:solidFill>
                          <a:schemeClr val="bg1"/>
                        </a:solidFill>
                        <a:latin typeface="Lucida Console" panose="020B0609040504020204" pitchFamily="49" charset="0"/>
                      </a:endParaRPr>
                    </a:p>
                  </a:txBody>
                  <a:tcPr marL="36000" marR="36000" marT="36000" marB="3600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AC54CCD8-F93E-EF82-FD1D-C66216DD09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6400775"/>
              </p:ext>
            </p:extLst>
          </p:nvPr>
        </p:nvGraphicFramePr>
        <p:xfrm>
          <a:off x="8823960" y="3888000"/>
          <a:ext cx="222504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bg1"/>
                          </a:solidFill>
                          <a:latin typeface="Lucida Console" panose="020B0609040504020204" pitchFamily="49" charset="0"/>
                        </a:rPr>
                        <a:t>4</a:t>
                      </a:r>
                      <a:endParaRPr lang="en-CH" b="1" dirty="0">
                        <a:solidFill>
                          <a:schemeClr val="bg1"/>
                        </a:solidFill>
                        <a:latin typeface="Lucida Console" panose="020B0609040504020204" pitchFamily="49" charset="0"/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sp>
        <p:nvSpPr>
          <p:cNvPr id="39" name="Rectangle: Folded Corner 38">
            <a:extLst>
              <a:ext uri="{FF2B5EF4-FFF2-40B4-BE49-F238E27FC236}">
                <a16:creationId xmlns:a16="http://schemas.microsoft.com/office/drawing/2014/main" id="{20E1F54B-5BDA-1CFA-4D46-6BE9A619D6C5}"/>
              </a:ext>
            </a:extLst>
          </p:cNvPr>
          <p:cNvSpPr/>
          <p:nvPr/>
        </p:nvSpPr>
        <p:spPr>
          <a:xfrm>
            <a:off x="8777579" y="417671"/>
            <a:ext cx="1544320" cy="1905315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B</a:t>
            </a:r>
          </a:p>
          <a:p>
            <a:pPr algn="ctr"/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Mali</a:t>
            </a:r>
            <a:r>
              <a:rPr lang="en-GB" i="1" dirty="0">
                <a:solidFill>
                  <a:schemeClr val="accent1">
                    <a:lumMod val="50000"/>
                  </a:schemeClr>
                </a:solidFill>
              </a:rPr>
              <a:t>c</a:t>
            </a:r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ious</a:t>
            </a:r>
          </a:p>
        </p:txBody>
      </p:sp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466C7B6E-E2AC-0934-C076-D4BE3F32B7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5451935"/>
              </p:ext>
            </p:extLst>
          </p:nvPr>
        </p:nvGraphicFramePr>
        <p:xfrm>
          <a:off x="8823960" y="3888000"/>
          <a:ext cx="222504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b="1" dirty="0">
                          <a:solidFill>
                            <a:schemeClr val="bg1"/>
                          </a:solidFill>
                          <a:latin typeface="Lucida Console" panose="020B0609040504020204" pitchFamily="49" charset="0"/>
                        </a:rPr>
                        <a:t>0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</a:tbl>
          </a:graphicData>
        </a:graphic>
      </p:graphicFrame>
      <p:grpSp>
        <p:nvGrpSpPr>
          <p:cNvPr id="28" name="Group 27">
            <a:extLst>
              <a:ext uri="{FF2B5EF4-FFF2-40B4-BE49-F238E27FC236}">
                <a16:creationId xmlns:a16="http://schemas.microsoft.com/office/drawing/2014/main" id="{47A6C899-24EE-5ECF-AA87-CF42774A2C48}"/>
              </a:ext>
            </a:extLst>
          </p:cNvPr>
          <p:cNvGrpSpPr/>
          <p:nvPr/>
        </p:nvGrpSpPr>
        <p:grpSpPr>
          <a:xfrm>
            <a:off x="4480561" y="1060290"/>
            <a:ext cx="1280538" cy="3011649"/>
            <a:chOff x="4480561" y="1060290"/>
            <a:chExt cx="1280538" cy="3011649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17AE7F24-657B-F6FB-0F10-CDD54B5DF7E1}"/>
                </a:ext>
              </a:extLst>
            </p:cNvPr>
            <p:cNvGrpSpPr/>
            <p:nvPr/>
          </p:nvGrpSpPr>
          <p:grpSpPr>
            <a:xfrm>
              <a:off x="4480561" y="1060290"/>
              <a:ext cx="1280538" cy="3011649"/>
              <a:chOff x="4480561" y="1464984"/>
              <a:chExt cx="1280538" cy="2397683"/>
            </a:xfrm>
          </p:grpSpPr>
          <p:cxnSp>
            <p:nvCxnSpPr>
              <p:cNvPr id="20" name="Connector: Elbow 19">
                <a:extLst>
                  <a:ext uri="{FF2B5EF4-FFF2-40B4-BE49-F238E27FC236}">
                    <a16:creationId xmlns:a16="http://schemas.microsoft.com/office/drawing/2014/main" id="{A0AEA4AD-D2EC-1157-679A-AB9BD7945D3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3524926" y="2420619"/>
                <a:ext cx="2397683" cy="486413"/>
              </a:xfrm>
              <a:prstGeom prst="bentConnector2">
                <a:avLst/>
              </a:prstGeom>
              <a:ln w="38100">
                <a:tailEnd type="triangle" w="lg" len="lg"/>
              </a:ln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6ED0E0EB-AFAD-1F97-D480-82B2568DD5F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959104" y="1464985"/>
                <a:ext cx="801995" cy="1"/>
              </a:xfrm>
              <a:prstGeom prst="line">
                <a:avLst/>
              </a:prstGeom>
              <a:ln w="38100"/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</p:cxnSp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DB9773B-F30A-F6A8-B165-AC668BBB3607}"/>
                </a:ext>
              </a:extLst>
            </p:cNvPr>
            <p:cNvSpPr txBox="1"/>
            <p:nvPr/>
          </p:nvSpPr>
          <p:spPr>
            <a:xfrm>
              <a:off x="4608102" y="2426453"/>
              <a:ext cx="699230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5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bg1"/>
                  </a:solidFill>
                </a:rPr>
                <a:t>Read</a:t>
              </a:r>
            </a:p>
          </p:txBody>
        </p:sp>
      </p:grp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DF9C9429-0B96-0E5C-4820-520D1E56A5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9811594"/>
              </p:ext>
            </p:extLst>
          </p:nvPr>
        </p:nvGraphicFramePr>
        <p:xfrm>
          <a:off x="5771037" y="874800"/>
          <a:ext cx="1297623" cy="370840"/>
        </p:xfrm>
        <a:graphic>
          <a:graphicData uri="http://schemas.openxmlformats.org/drawingml/2006/table">
            <a:tbl>
              <a:tblPr>
                <a:tableStyleId>{8A107856-5554-42FB-B03E-39F5DBC370BA}</a:tableStyleId>
              </a:tblPr>
              <a:tblGrid>
                <a:gridCol w="881063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41656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Storage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>
                          <a:solidFill>
                            <a:schemeClr val="bg1"/>
                          </a:solidFill>
                          <a:latin typeface="Lucida Console" panose="020B0609040504020204" pitchFamily="49" charset="0"/>
                        </a:rPr>
                        <a:t>3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pSp>
        <p:nvGrpSpPr>
          <p:cNvPr id="40" name="Group 39">
            <a:extLst>
              <a:ext uri="{FF2B5EF4-FFF2-40B4-BE49-F238E27FC236}">
                <a16:creationId xmlns:a16="http://schemas.microsoft.com/office/drawing/2014/main" id="{7EF20531-80E5-569A-6674-E932411D9638}"/>
              </a:ext>
            </a:extLst>
          </p:cNvPr>
          <p:cNvGrpSpPr/>
          <p:nvPr/>
        </p:nvGrpSpPr>
        <p:grpSpPr>
          <a:xfrm>
            <a:off x="1648640" y="3043783"/>
            <a:ext cx="1440000" cy="369332"/>
            <a:chOff x="1648640" y="3043783"/>
            <a:chExt cx="1440000" cy="369332"/>
          </a:xfrm>
        </p:grpSpPr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AF940920-EDE4-3ABF-D41E-306E108132C3}"/>
                </a:ext>
              </a:extLst>
            </p:cNvPr>
            <p:cNvCxnSpPr>
              <a:cxnSpLocks/>
            </p:cNvCxnSpPr>
            <p:nvPr/>
          </p:nvCxnSpPr>
          <p:spPr>
            <a:xfrm>
              <a:off x="1648640" y="3229107"/>
              <a:ext cx="1440000" cy="1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5AC6657-0F1E-CF2C-63BD-EF9A75B5AD00}"/>
                </a:ext>
              </a:extLst>
            </p:cNvPr>
            <p:cNvSpPr txBox="1"/>
            <p:nvPr/>
          </p:nvSpPr>
          <p:spPr>
            <a:xfrm>
              <a:off x="2072361" y="3043783"/>
              <a:ext cx="587020" cy="369332"/>
            </a:xfrm>
            <a:prstGeom prst="rect">
              <a:avLst/>
            </a:prstGeom>
            <a:solidFill>
              <a:schemeClr val="tx1"/>
            </a:solidFill>
            <a:ln w="25400">
              <a:solidFill>
                <a:schemeClr val="tx2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bg1"/>
                  </a:solidFill>
                </a:rPr>
                <a:t>Call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C6B43D6-1B21-4353-7825-789C22270A9D}"/>
              </a:ext>
            </a:extLst>
          </p:cNvPr>
          <p:cNvGrpSpPr/>
          <p:nvPr/>
        </p:nvGrpSpPr>
        <p:grpSpPr>
          <a:xfrm>
            <a:off x="3591560" y="3043783"/>
            <a:ext cx="2700000" cy="369332"/>
            <a:chOff x="3591560" y="3043783"/>
            <a:chExt cx="2700000" cy="369332"/>
          </a:xfrm>
        </p:grpSpPr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1CDA7F91-D35B-DEBE-24E7-C3CA876999B8}"/>
                </a:ext>
              </a:extLst>
            </p:cNvPr>
            <p:cNvCxnSpPr>
              <a:cxnSpLocks/>
            </p:cNvCxnSpPr>
            <p:nvPr/>
          </p:nvCxnSpPr>
          <p:spPr>
            <a:xfrm>
              <a:off x="3591560" y="3229106"/>
              <a:ext cx="2700000" cy="1"/>
            </a:xfrm>
            <a:prstGeom prst="straightConnector1">
              <a:avLst/>
            </a:prstGeom>
            <a:ln w="38100">
              <a:solidFill>
                <a:schemeClr val="accent2">
                  <a:lumMod val="60000"/>
                  <a:lumOff val="4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8C54910-D824-9DDB-C724-5B3ACBE28606}"/>
                </a:ext>
              </a:extLst>
            </p:cNvPr>
            <p:cNvSpPr txBox="1"/>
            <p:nvPr/>
          </p:nvSpPr>
          <p:spPr>
            <a:xfrm>
              <a:off x="4214871" y="3043783"/>
              <a:ext cx="1446678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5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bg1"/>
                  </a:solidFill>
                </a:rPr>
                <a:t>External Call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F60BE020-8852-1E2F-14E4-BB9951F87FAB}"/>
              </a:ext>
            </a:extLst>
          </p:cNvPr>
          <p:cNvGrpSpPr/>
          <p:nvPr/>
        </p:nvGrpSpPr>
        <p:grpSpPr>
          <a:xfrm>
            <a:off x="6827520" y="3043783"/>
            <a:ext cx="2844000" cy="369332"/>
            <a:chOff x="6827520" y="3043783"/>
            <a:chExt cx="2844000" cy="369332"/>
          </a:xfrm>
        </p:grpSpPr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32D2FE0E-F516-E4A7-C8B7-CC57735206F2}"/>
                </a:ext>
              </a:extLst>
            </p:cNvPr>
            <p:cNvCxnSpPr>
              <a:cxnSpLocks/>
            </p:cNvCxnSpPr>
            <p:nvPr/>
          </p:nvCxnSpPr>
          <p:spPr>
            <a:xfrm>
              <a:off x="6827520" y="3229105"/>
              <a:ext cx="2844000" cy="1"/>
            </a:xfrm>
            <a:prstGeom prst="straightConnector1">
              <a:avLst/>
            </a:prstGeom>
            <a:ln w="38100">
              <a:solidFill>
                <a:schemeClr val="accent1">
                  <a:lumMod val="60000"/>
                  <a:lumOff val="4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05BFCC33-046B-2B43-29EC-4058E578F8A1}"/>
                </a:ext>
              </a:extLst>
            </p:cNvPr>
            <p:cNvSpPr txBox="1"/>
            <p:nvPr/>
          </p:nvSpPr>
          <p:spPr>
            <a:xfrm>
              <a:off x="7526181" y="3043783"/>
              <a:ext cx="1446678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25400">
              <a:solidFill>
                <a:schemeClr val="accent1">
                  <a:lumMod val="5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bg1"/>
                  </a:solidFill>
                </a:rPr>
                <a:t>External Call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2354BF44-04FE-CA6A-33C3-511A85DAF3F6}"/>
              </a:ext>
            </a:extLst>
          </p:cNvPr>
          <p:cNvGrpSpPr/>
          <p:nvPr/>
        </p:nvGrpSpPr>
        <p:grpSpPr>
          <a:xfrm>
            <a:off x="7192010" y="1060291"/>
            <a:ext cx="1622012" cy="3011645"/>
            <a:chOff x="7192010" y="1060291"/>
            <a:chExt cx="1622012" cy="3035140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2C8186AC-440E-F39E-E224-79570E71737F}"/>
                </a:ext>
              </a:extLst>
            </p:cNvPr>
            <p:cNvGrpSpPr/>
            <p:nvPr/>
          </p:nvGrpSpPr>
          <p:grpSpPr>
            <a:xfrm>
              <a:off x="7192010" y="1060291"/>
              <a:ext cx="1622012" cy="3035140"/>
              <a:chOff x="7201738" y="1809345"/>
              <a:chExt cx="1622012" cy="2986630"/>
            </a:xfrm>
          </p:grpSpPr>
          <p:cxnSp>
            <p:nvCxnSpPr>
              <p:cNvPr id="22" name="Connector: Elbow 21">
                <a:extLst>
                  <a:ext uri="{FF2B5EF4-FFF2-40B4-BE49-F238E27FC236}">
                    <a16:creationId xmlns:a16="http://schemas.microsoft.com/office/drawing/2014/main" id="{3226D6A8-3292-EA0D-AB50-8DE29A60933E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>
                <a:off x="6995156" y="2967382"/>
                <a:ext cx="2986629" cy="670558"/>
              </a:xfrm>
              <a:prstGeom prst="bentConnector3">
                <a:avLst>
                  <a:gd name="adj1" fmla="val 99775"/>
                </a:avLst>
              </a:prstGeom>
              <a:ln w="38100">
                <a:tailEnd type="none"/>
              </a:ln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32" name="Straight Arrow Connector 31">
                <a:extLst>
                  <a:ext uri="{FF2B5EF4-FFF2-40B4-BE49-F238E27FC236}">
                    <a16:creationId xmlns:a16="http://schemas.microsoft.com/office/drawing/2014/main" id="{80CFBCEA-08E7-5D64-01CD-DB2F445AF3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201738" y="1809345"/>
                <a:ext cx="96139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</p:cxn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34E5545-DDDE-E674-9C35-4A6F74D516BA}"/>
                </a:ext>
              </a:extLst>
            </p:cNvPr>
            <p:cNvSpPr txBox="1"/>
            <p:nvPr/>
          </p:nvSpPr>
          <p:spPr>
            <a:xfrm>
              <a:off x="7785480" y="2426453"/>
              <a:ext cx="715965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5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bg1"/>
                  </a:solidFill>
                </a:rPr>
                <a:t>Write</a:t>
              </a:r>
            </a:p>
          </p:txBody>
        </p:sp>
      </p:grpSp>
      <p:sp>
        <p:nvSpPr>
          <p:cNvPr id="52" name="Content Placeholder 2">
            <a:extLst>
              <a:ext uri="{FF2B5EF4-FFF2-40B4-BE49-F238E27FC236}">
                <a16:creationId xmlns:a16="http://schemas.microsoft.com/office/drawing/2014/main" id="{3C655AD6-761F-61BB-33A7-4B4918FFCC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9890" y="1271428"/>
            <a:ext cx="3893875" cy="609387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GB" dirty="0"/>
              <a:t>R-W conflict example</a:t>
            </a:r>
            <a:endParaRPr lang="en-CH" dirty="0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2210069C-BC35-E136-E361-751FF926B787}"/>
              </a:ext>
            </a:extLst>
          </p:cNvPr>
          <p:cNvGrpSpPr/>
          <p:nvPr/>
        </p:nvGrpSpPr>
        <p:grpSpPr>
          <a:xfrm>
            <a:off x="4480560" y="1060291"/>
            <a:ext cx="1290478" cy="3011647"/>
            <a:chOff x="4480560" y="1060291"/>
            <a:chExt cx="1290478" cy="3011647"/>
          </a:xfrm>
        </p:grpSpPr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7C405612-FDBA-46E7-7BF1-BADBD2F5360B}"/>
                </a:ext>
              </a:extLst>
            </p:cNvPr>
            <p:cNvCxnSpPr>
              <a:cxnSpLocks/>
              <a:stCxn id="16" idx="3"/>
              <a:endCxn id="17" idx="1"/>
            </p:cNvCxnSpPr>
            <p:nvPr/>
          </p:nvCxnSpPr>
          <p:spPr>
            <a:xfrm flipV="1">
              <a:off x="4480560" y="1060291"/>
              <a:ext cx="1290478" cy="3011647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accent1">
                  <a:lumMod val="75000"/>
                </a:schemeClr>
              </a:solidFill>
              <a:headEnd type="triangle" w="lg" len="lg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373E4F07-4AE4-7EAF-AC5B-EA5EB1C679A1}"/>
                </a:ext>
              </a:extLst>
            </p:cNvPr>
            <p:cNvSpPr txBox="1"/>
            <p:nvPr/>
          </p:nvSpPr>
          <p:spPr>
            <a:xfrm>
              <a:off x="4574074" y="2426452"/>
              <a:ext cx="1098378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25400">
              <a:solidFill>
                <a:schemeClr val="accent1">
                  <a:lumMod val="5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b="1" dirty="0">
                  <a:solidFill>
                    <a:schemeClr val="bg1"/>
                  </a:solidFill>
                </a:rPr>
                <a:t>Conflict!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94396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4" grpId="1" animBg="1"/>
      <p:bldP spid="15" grpId="0" animBg="1"/>
      <p:bldP spid="15" grpId="1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06867-F295-A8D8-5522-C18EF8603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Reentrancy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1E665-AB85-22BB-B354-B4E57BB6F0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First </a:t>
            </a:r>
            <a:r>
              <a:rPr lang="en-CH" dirty="0"/>
              <a:t>occurrence</a:t>
            </a:r>
            <a:r>
              <a:rPr lang="en-GB" dirty="0"/>
              <a:t>: June 17, 2016</a:t>
            </a:r>
          </a:p>
          <a:p>
            <a:pPr lvl="1"/>
            <a:r>
              <a:rPr lang="en-GB" dirty="0"/>
              <a:t>Infamous ETH DAO hack</a:t>
            </a:r>
          </a:p>
          <a:p>
            <a:pPr lvl="1"/>
            <a:r>
              <a:rPr lang="en-GB" dirty="0"/>
              <a:t>Only retroactive hard-fork in Ethereum history</a:t>
            </a:r>
          </a:p>
          <a:p>
            <a:r>
              <a:rPr lang="en-GB" dirty="0"/>
              <a:t>Well-known vulnerability class</a:t>
            </a:r>
          </a:p>
          <a:p>
            <a:r>
              <a:rPr lang="en-GB" dirty="0"/>
              <a:t>Easily classifiable / detectable</a:t>
            </a:r>
          </a:p>
          <a:p>
            <a:r>
              <a:rPr lang="en-GB" dirty="0"/>
              <a:t>Most contracts do not need it</a:t>
            </a:r>
          </a:p>
          <a:p>
            <a:r>
              <a:rPr lang="en-GB" dirty="0"/>
              <a:t>Still represents &gt;10% of exploits </a:t>
            </a:r>
            <a:r>
              <a:rPr lang="en-CH" dirty="0"/>
              <a:t>since </a:t>
            </a:r>
            <a:r>
              <a:rPr lang="en-GB" dirty="0"/>
              <a:t>2020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b="1" i="1" dirty="0"/>
              <a:t>→ Why is this still an issue today?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76824A-7C1E-071C-05CA-02060249479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6BA62C-19B7-8937-19EF-4D9F00679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AD5BBD-6DFB-841F-077B-5898705D1F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5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718351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" name="Content Placeholder 8">
            <a:extLst>
              <a:ext uri="{FF2B5EF4-FFF2-40B4-BE49-F238E27FC236}">
                <a16:creationId xmlns:a16="http://schemas.microsoft.com/office/drawing/2014/main" id="{167B7058-C451-6363-74B3-3E7FDA2E867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70954112"/>
              </p:ext>
            </p:extLst>
          </p:nvPr>
        </p:nvGraphicFramePr>
        <p:xfrm>
          <a:off x="698400" y="1393200"/>
          <a:ext cx="10797619" cy="480680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9D5D5614-E33E-57A6-CC37-8370F1F54E2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02429280"/>
              </p:ext>
            </p:extLst>
          </p:nvPr>
        </p:nvGraphicFramePr>
        <p:xfrm>
          <a:off x="697190" y="1392382"/>
          <a:ext cx="10797619" cy="480680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6C989CD4-F498-AE79-2179-E7F5EAC27FA6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dirty="0"/>
              <a:t>What other vulnerabilities exist?</a:t>
            </a:r>
          </a:p>
          <a:p>
            <a:r>
              <a:rPr lang="en-GB" dirty="0"/>
              <a:t>Dataset: 549 exploits, 2021 – 2024</a:t>
            </a:r>
          </a:p>
          <a:p>
            <a:r>
              <a:rPr lang="en-GB" dirty="0"/>
              <a:t>Total funds lost: </a:t>
            </a:r>
            <a:r>
              <a:rPr lang="en-GB" b="1" dirty="0"/>
              <a:t>$1.671 billion</a:t>
            </a:r>
            <a:endParaRPr lang="en-CH" b="1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EA0C95-8379-2D26-E244-5C0064E61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Smart Contract Vulnerabilities</a:t>
            </a: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A8FA7F-FDD2-AC8A-CF26-59C714C08F7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8C107-FD91-CFAF-C623-2737E155E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804673-53B5-F42E-8776-572039592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6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0CFE660-10E7-98C0-DA87-1ACDE38F2B39}"/>
              </a:ext>
            </a:extLst>
          </p:cNvPr>
          <p:cNvGrpSpPr/>
          <p:nvPr/>
        </p:nvGrpSpPr>
        <p:grpSpPr>
          <a:xfrm>
            <a:off x="7837406" y="3743801"/>
            <a:ext cx="1197067" cy="1769759"/>
            <a:chOff x="7837406" y="3743801"/>
            <a:chExt cx="1197067" cy="1769759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F25D1DD-5E86-61BB-A864-376D1B1F87F9}"/>
                </a:ext>
              </a:extLst>
            </p:cNvPr>
            <p:cNvCxnSpPr>
              <a:cxnSpLocks/>
            </p:cNvCxnSpPr>
            <p:nvPr/>
          </p:nvCxnSpPr>
          <p:spPr>
            <a:xfrm>
              <a:off x="8574467" y="5102602"/>
              <a:ext cx="460006" cy="410958"/>
            </a:xfrm>
            <a:prstGeom prst="line">
              <a:avLst/>
            </a:prstGeom>
            <a:ln w="31750" cap="rnd">
              <a:round/>
              <a:headEnd type="non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26A4566-43ED-C64C-D6DF-DE5346784910}"/>
                </a:ext>
              </a:extLst>
            </p:cNvPr>
            <p:cNvCxnSpPr>
              <a:cxnSpLocks/>
            </p:cNvCxnSpPr>
            <p:nvPr/>
          </p:nvCxnSpPr>
          <p:spPr>
            <a:xfrm>
              <a:off x="8574466" y="3897690"/>
              <a:ext cx="460007" cy="1204912"/>
            </a:xfrm>
            <a:prstGeom prst="line">
              <a:avLst/>
            </a:prstGeom>
            <a:ln w="31750" cap="rnd">
              <a:round/>
              <a:headEnd type="none" w="sm" len="sm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32DF3E9-7EBD-E36A-18B1-E96B8595B3A6}"/>
                </a:ext>
              </a:extLst>
            </p:cNvPr>
            <p:cNvSpPr txBox="1"/>
            <p:nvPr/>
          </p:nvSpPr>
          <p:spPr>
            <a:xfrm>
              <a:off x="7837407" y="4948713"/>
              <a:ext cx="746999" cy="307777"/>
            </a:xfrm>
            <a:prstGeom prst="rect">
              <a:avLst/>
            </a:prstGeom>
            <a:solidFill>
              <a:schemeClr val="accent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CH" sz="2000" dirty="0">
                  <a:solidFill>
                    <a:schemeClr val="bg1"/>
                  </a:solidFill>
                </a:rPr>
                <a:t>$524M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E37218-9366-45FC-D4B3-13F7EC41DB57}"/>
                </a:ext>
              </a:extLst>
            </p:cNvPr>
            <p:cNvSpPr txBox="1"/>
            <p:nvPr/>
          </p:nvSpPr>
          <p:spPr>
            <a:xfrm>
              <a:off x="7837406" y="3743801"/>
              <a:ext cx="746999" cy="307777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CH" sz="2000" dirty="0">
                  <a:solidFill>
                    <a:schemeClr val="bg1"/>
                  </a:solidFill>
                </a:rPr>
                <a:t>$422M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8DB00E8-E4A2-A55F-4F0C-6D0956A18C6B}"/>
              </a:ext>
            </a:extLst>
          </p:cNvPr>
          <p:cNvGrpSpPr/>
          <p:nvPr/>
        </p:nvGrpSpPr>
        <p:grpSpPr>
          <a:xfrm>
            <a:off x="7837405" y="2768507"/>
            <a:ext cx="1196182" cy="1522836"/>
            <a:chOff x="7837405" y="2768507"/>
            <a:chExt cx="1196182" cy="1522836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667409AA-745A-A7CC-0C3F-8488575E115C}"/>
                </a:ext>
              </a:extLst>
            </p:cNvPr>
            <p:cNvCxnSpPr>
              <a:cxnSpLocks/>
            </p:cNvCxnSpPr>
            <p:nvPr/>
          </p:nvCxnSpPr>
          <p:spPr>
            <a:xfrm>
              <a:off x="8564526" y="2922396"/>
              <a:ext cx="469061" cy="1368947"/>
            </a:xfrm>
            <a:prstGeom prst="line">
              <a:avLst/>
            </a:prstGeom>
            <a:ln w="31750" cap="rnd">
              <a:round/>
              <a:head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F4F04AEC-19E1-1A0D-E719-521C33EAA4B2}"/>
                </a:ext>
              </a:extLst>
            </p:cNvPr>
            <p:cNvSpPr txBox="1"/>
            <p:nvPr/>
          </p:nvSpPr>
          <p:spPr>
            <a:xfrm>
              <a:off x="7837405" y="2768507"/>
              <a:ext cx="746999" cy="307777"/>
            </a:xfrm>
            <a:prstGeom prst="rect">
              <a:avLst/>
            </a:prstGeom>
            <a:solidFill>
              <a:schemeClr val="accent4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CH" sz="2000" dirty="0">
                  <a:solidFill>
                    <a:schemeClr val="bg1"/>
                  </a:solidFill>
                </a:rPr>
                <a:t>$284M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0064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23" grpId="0">
        <p:bldAsOne/>
      </p:bldGraphic>
      <p:bldGraphic spid="9" grpId="0">
        <p:bldAsOne/>
      </p:bldGraphic>
      <p:bldGraphic spid="9" grpId="1">
        <p:bldAsOne/>
      </p:bldGraphic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B43C2-42A4-D7F4-4699-D01AEF9A0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Smart Contract Development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BB14A6-AB7B-9A16-6CB7-34B9EE7744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H" dirty="0"/>
              <a:t>Two widely-used compilers</a:t>
            </a:r>
            <a:r>
              <a:rPr lang="en-GB" dirty="0"/>
              <a:t>:</a:t>
            </a:r>
            <a:endParaRPr lang="en-CH" dirty="0"/>
          </a:p>
          <a:p>
            <a:pPr lvl="1"/>
            <a:r>
              <a:rPr lang="en-CH" dirty="0"/>
              <a:t>Solidity  </a:t>
            </a:r>
            <a:r>
              <a:rPr lang="en-CH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OOP,  ~87% market share</a:t>
            </a:r>
            <a:endParaRPr lang="en-GB" dirty="0"/>
          </a:p>
          <a:p>
            <a:pPr lvl="1"/>
            <a:r>
              <a:rPr lang="en-CH" dirty="0"/>
              <a:t>Vyper  </a:t>
            </a:r>
            <a:r>
              <a:rPr lang="en-CH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Python</a:t>
            </a:r>
            <a:r>
              <a:rPr lang="en-GB" sz="16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ic</a:t>
            </a:r>
            <a:r>
              <a:rPr lang="en-CH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 ~8% market share</a:t>
            </a:r>
            <a:endParaRPr lang="en-GB" dirty="0"/>
          </a:p>
          <a:p>
            <a:r>
              <a:rPr lang="en-GB" i="1" dirty="0"/>
              <a:t>Majority of development time is spent on front-end apps!</a:t>
            </a:r>
          </a:p>
          <a:p>
            <a:pPr lvl="1"/>
            <a:r>
              <a:rPr lang="en-GB" dirty="0"/>
              <a:t>Only ~10% is spent on coding smart contracts</a:t>
            </a:r>
          </a:p>
          <a:p>
            <a:r>
              <a:rPr lang="en-GB" dirty="0"/>
              <a:t>Security “guaranteed” by code audits</a:t>
            </a:r>
          </a:p>
          <a:p>
            <a:pPr lvl="1"/>
            <a:r>
              <a:rPr lang="en-CH" dirty="0"/>
              <a:t>Code </a:t>
            </a:r>
            <a:r>
              <a:rPr lang="en-CH" i="1" dirty="0"/>
              <a:t>readability</a:t>
            </a:r>
            <a:r>
              <a:rPr lang="en-CH" dirty="0"/>
              <a:t> is important!</a:t>
            </a:r>
          </a:p>
          <a:p>
            <a:endParaRPr lang="en-GB" dirty="0"/>
          </a:p>
          <a:p>
            <a:pPr lvl="1"/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F71C3E-F3DD-57B1-2E95-EA3249CA90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55EBA0-8082-DE27-4FF7-A58BD6233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9189EF-2B9B-8FBF-D006-7496DBF38A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7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437049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CD3DA1-AE7A-6A65-0AC8-E2A706F36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Auditability: </a:t>
            </a:r>
            <a:r>
              <a:rPr lang="en-CH" dirty="0"/>
              <a:t>Side Effects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A79D85-E6C7-F46C-0946-99D275B655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H" dirty="0"/>
              <a:t>Blockchain state is the only thing that persists</a:t>
            </a:r>
          </a:p>
          <a:p>
            <a:pPr lvl="1"/>
            <a:r>
              <a:rPr lang="en-CH" dirty="0"/>
              <a:t>execution only serves to determine state changes</a:t>
            </a:r>
            <a:endParaRPr lang="en-GB" dirty="0"/>
          </a:p>
          <a:p>
            <a:r>
              <a:rPr lang="en-CH" dirty="0"/>
              <a:t>Solidity and Vyper have ambiguous execution order</a:t>
            </a:r>
          </a:p>
          <a:p>
            <a:pPr lvl="1"/>
            <a:r>
              <a:rPr lang="en-CH" dirty="0"/>
              <a:t>e.g.</a:t>
            </a:r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 f</a:t>
            </a:r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()</a:t>
            </a:r>
            <a:r>
              <a:rPr lang="en-GB" dirty="0">
                <a:solidFill>
                  <a:schemeClr val="accent3"/>
                </a:solidFill>
                <a:latin typeface="Lucida Console" panose="020B0609040504020204" pitchFamily="49" charset="0"/>
              </a:rPr>
              <a:t> </a:t>
            </a:r>
            <a:r>
              <a:rPr lang="en-GB" dirty="0">
                <a:solidFill>
                  <a:schemeClr val="accent1"/>
                </a:solidFill>
                <a:latin typeface="Lucida Console" panose="020B0609040504020204" pitchFamily="49" charset="0"/>
              </a:rPr>
              <a:t>+</a:t>
            </a:r>
            <a:r>
              <a:rPr lang="en-CH" dirty="0">
                <a:latin typeface="Lucida Console" panose="020B0609040504020204" pitchFamily="49" charset="0"/>
              </a:rPr>
              <a:t> </a:t>
            </a:r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g</a:t>
            </a:r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()</a:t>
            </a:r>
            <a:r>
              <a:rPr lang="en-GB" dirty="0">
                <a:solidFill>
                  <a:schemeClr val="accent1"/>
                </a:solidFill>
                <a:latin typeface="Lucida Console" panose="020B0609040504020204" pitchFamily="49" charset="0"/>
              </a:rPr>
              <a:t> </a:t>
            </a:r>
            <a:r>
              <a:rPr lang="en-CH" dirty="0">
                <a:latin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en-GB" dirty="0"/>
              <a:t>order is </a:t>
            </a:r>
            <a:r>
              <a:rPr lang="en-GB" i="1" dirty="0"/>
              <a:t>undefined</a:t>
            </a:r>
            <a:r>
              <a:rPr lang="en-GB" dirty="0"/>
              <a:t>!</a:t>
            </a:r>
          </a:p>
          <a:p>
            <a:pPr lvl="1"/>
            <a:r>
              <a:rPr lang="en-GB" dirty="0"/>
              <a:t>No warnings, easy to miss</a:t>
            </a:r>
          </a:p>
          <a:p>
            <a:r>
              <a:rPr lang="en-GB" dirty="0"/>
              <a:t>Unexpected interactions</a:t>
            </a:r>
          </a:p>
          <a:p>
            <a:pPr lvl="1"/>
            <a:r>
              <a:rPr lang="en-GB" dirty="0"/>
              <a:t>External calls may lead to reentrancies</a:t>
            </a:r>
          </a:p>
          <a:p>
            <a:pPr lvl="1"/>
            <a:r>
              <a:rPr lang="en-GB" dirty="0"/>
              <a:t>Use of stale values</a:t>
            </a:r>
          </a:p>
          <a:p>
            <a:pPr lvl="1"/>
            <a:r>
              <a:rPr lang="en-GB" dirty="0"/>
              <a:t>Aliasing / address collision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C3E02-69EB-3F11-AB27-F4DECABB68B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8DAF33-12F0-7C10-0A41-5821AA6434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781EEE-094C-6BDC-2A17-C5711190B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8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045959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47C42-FB59-CAE2-9B7F-1D860630F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19ADB3-8006-C4A9-3320-DD38A2AABB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Main Goals: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Prevent reentrancy vulnerabilities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Improve code auditability</a:t>
            </a:r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>
              <a:buFont typeface="Aptos" panose="020B0004020202020204" pitchFamily="34" charset="0"/>
              <a:buChar char="→"/>
            </a:pPr>
            <a:r>
              <a:rPr lang="en-GB" dirty="0"/>
              <a:t> Offload responsibility to the compiler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Model reentrancy natively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Explicitly track side effects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Type-safe state machines via ADTs</a:t>
            </a:r>
          </a:p>
          <a:p>
            <a:pPr lvl="1"/>
            <a:endParaRPr lang="en-GB" dirty="0"/>
          </a:p>
          <a:p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501B2D-45F9-4CC5-97D3-155260921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6BB46-9FB5-E1E0-648E-20024720DD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6E6401-D918-2C7C-0EB8-759F7A593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9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500138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6F22FEA3-3516-A205-D490-C89763F6A5B3}"/>
              </a:ext>
            </a:extLst>
          </p:cNvPr>
          <p:cNvGrpSpPr/>
          <p:nvPr/>
        </p:nvGrpSpPr>
        <p:grpSpPr>
          <a:xfrm>
            <a:off x="5062535" y="3093046"/>
            <a:ext cx="712100" cy="1582816"/>
            <a:chOff x="5019356" y="3209925"/>
            <a:chExt cx="608966" cy="1582816"/>
          </a:xfrm>
        </p:grpSpPr>
        <p:sp>
          <p:nvSpPr>
            <p:cNvPr id="14" name="Arrow: Chevron 13">
              <a:extLst>
                <a:ext uri="{FF2B5EF4-FFF2-40B4-BE49-F238E27FC236}">
                  <a16:creationId xmlns:a16="http://schemas.microsoft.com/office/drawing/2014/main" id="{A73EBBE9-EC26-D65E-81D6-CAFFCFE34961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Arrow: Chevron 14">
              <a:extLst>
                <a:ext uri="{FF2B5EF4-FFF2-40B4-BE49-F238E27FC236}">
                  <a16:creationId xmlns:a16="http://schemas.microsoft.com/office/drawing/2014/main" id="{6A07A91E-3D11-174C-78FB-3B637C9ED6C2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6" name="Arrow: Chevron 15">
              <a:extLst>
                <a:ext uri="{FF2B5EF4-FFF2-40B4-BE49-F238E27FC236}">
                  <a16:creationId xmlns:a16="http://schemas.microsoft.com/office/drawing/2014/main" id="{2E18D4AF-22FF-2FD4-DAD4-476BF24F193B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5D726F7-F3B8-2A51-7B9D-13B52ED3E7A7}"/>
              </a:ext>
            </a:extLst>
          </p:cNvPr>
          <p:cNvGrpSpPr/>
          <p:nvPr/>
        </p:nvGrpSpPr>
        <p:grpSpPr>
          <a:xfrm>
            <a:off x="6417362" y="3093086"/>
            <a:ext cx="712099" cy="1582816"/>
            <a:chOff x="5019356" y="3209925"/>
            <a:chExt cx="608966" cy="1582816"/>
          </a:xfrm>
        </p:grpSpPr>
        <p:sp>
          <p:nvSpPr>
            <p:cNvPr id="10" name="Arrow: Chevron 9">
              <a:extLst>
                <a:ext uri="{FF2B5EF4-FFF2-40B4-BE49-F238E27FC236}">
                  <a16:creationId xmlns:a16="http://schemas.microsoft.com/office/drawing/2014/main" id="{E4DF98E3-54F9-C42F-378D-756A3C154F7F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1" name="Arrow: Chevron 10">
              <a:extLst>
                <a:ext uri="{FF2B5EF4-FFF2-40B4-BE49-F238E27FC236}">
                  <a16:creationId xmlns:a16="http://schemas.microsoft.com/office/drawing/2014/main" id="{8E1ABB7F-7AC7-F67B-CC79-1092A434D8A9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Arrow: Chevron 8">
              <a:extLst>
                <a:ext uri="{FF2B5EF4-FFF2-40B4-BE49-F238E27FC236}">
                  <a16:creationId xmlns:a16="http://schemas.microsoft.com/office/drawing/2014/main" id="{9F95EFEF-842A-9F2B-A0AE-ED66EE5912CD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7998A98-868B-213B-9EEB-25A9B5EEEC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Reentrancy Protection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FF6247-A3F9-D450-E51C-FFB923D51F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2743200" cy="4351338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Setup:</a:t>
            </a:r>
          </a:p>
          <a:p>
            <a:r>
              <a:rPr lang="en-GB" dirty="0"/>
              <a:t>3 entry points</a:t>
            </a:r>
          </a:p>
          <a:p>
            <a:r>
              <a:rPr lang="en-GB" dirty="0"/>
              <a:t>3 call sites</a:t>
            </a:r>
          </a:p>
          <a:p>
            <a:r>
              <a:rPr lang="en-GB" dirty="0"/>
              <a:t>One desired </a:t>
            </a:r>
            <a:r>
              <a:rPr lang="en-GB" dirty="0" err="1"/>
              <a:t>reentrant</a:t>
            </a:r>
            <a:r>
              <a:rPr lang="en-GB" dirty="0"/>
              <a:t> call</a:t>
            </a:r>
            <a:endParaRPr lang="en-CH" dirty="0"/>
          </a:p>
          <a:p>
            <a:endParaRPr lang="en-CH" dirty="0"/>
          </a:p>
          <a:p>
            <a:pPr marL="0" indent="0">
              <a:buNone/>
            </a:pPr>
            <a:r>
              <a:rPr lang="en-CH" sz="2400" i="1" dirty="0"/>
              <a:t>Protection must use runtime check!</a:t>
            </a:r>
            <a:endParaRPr lang="en-GB" i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48315A-0B4B-F27B-1DFE-36DBDE54818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118338-013B-A4C4-3264-1F577F2AE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36CDA9-402E-19EB-55BF-134DFA9081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10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149A3A17-57C0-2CD3-6A09-D76604FAFCB2}"/>
              </a:ext>
            </a:extLst>
          </p:cNvPr>
          <p:cNvSpPr/>
          <p:nvPr/>
        </p:nvSpPr>
        <p:spPr>
          <a:xfrm>
            <a:off x="5323840" y="3048636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Contract</a:t>
            </a:r>
            <a:endParaRPr lang="en-CH" dirty="0">
              <a:solidFill>
                <a:schemeClr val="bg1"/>
              </a:solidFill>
            </a:endParaRPr>
          </a:p>
        </p:txBody>
      </p:sp>
      <p:sp>
        <p:nvSpPr>
          <p:cNvPr id="26" name="Rectangle: Folded Corner 25">
            <a:extLst>
              <a:ext uri="{FF2B5EF4-FFF2-40B4-BE49-F238E27FC236}">
                <a16:creationId xmlns:a16="http://schemas.microsoft.com/office/drawing/2014/main" id="{D0688306-CF60-3792-311F-0A0D00FA7404}"/>
              </a:ext>
            </a:extLst>
          </p:cNvPr>
          <p:cNvSpPr/>
          <p:nvPr/>
        </p:nvSpPr>
        <p:spPr>
          <a:xfrm>
            <a:off x="8885581" y="4050990"/>
            <a:ext cx="712098" cy="878556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tIns="90000" bIns="90000" rtlCol="0" anchor="t" anchorCtr="0"/>
          <a:lstStyle/>
          <a:p>
            <a:pPr algn="ctr"/>
            <a:endParaRPr lang="en-CH" dirty="0">
              <a:solidFill>
                <a:schemeClr val="bg1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86075C8-49DC-67C9-0D99-5E1F18F0DD2F}"/>
              </a:ext>
            </a:extLst>
          </p:cNvPr>
          <p:cNvCxnSpPr>
            <a:stCxn id="11" idx="3"/>
            <a:endCxn id="26" idx="1"/>
          </p:cNvCxnSpPr>
          <p:nvPr/>
        </p:nvCxnSpPr>
        <p:spPr>
          <a:xfrm flipV="1">
            <a:off x="7129460" y="4490268"/>
            <a:ext cx="1756121" cy="3072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31" name="Connector: Curved 30">
            <a:extLst>
              <a:ext uri="{FF2B5EF4-FFF2-40B4-BE49-F238E27FC236}">
                <a16:creationId xmlns:a16="http://schemas.microsoft.com/office/drawing/2014/main" id="{52D953F7-6607-6B8D-6BD8-5C19443DBBC7}"/>
              </a:ext>
            </a:extLst>
          </p:cNvPr>
          <p:cNvCxnSpPr>
            <a:stCxn id="26" idx="2"/>
            <a:endCxn id="15" idx="1"/>
          </p:cNvCxnSpPr>
          <p:nvPr/>
        </p:nvCxnSpPr>
        <p:spPr>
          <a:xfrm rot="5400000" flipH="1">
            <a:off x="7025241" y="2713157"/>
            <a:ext cx="436246" cy="3996532"/>
          </a:xfrm>
          <a:prstGeom prst="curvedConnector4">
            <a:avLst>
              <a:gd name="adj1" fmla="val -199077"/>
              <a:gd name="adj2" fmla="val 129417"/>
            </a:avLst>
          </a:prstGeom>
          <a:ln w="38100">
            <a:tailEnd type="triangle" w="lg" len="lg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8495C0FE-4E10-9375-1ECF-F84BB4B80162}"/>
              </a:ext>
            </a:extLst>
          </p:cNvPr>
          <p:cNvSpPr txBox="1">
            <a:spLocks/>
          </p:cNvSpPr>
          <p:nvPr/>
        </p:nvSpPr>
        <p:spPr>
          <a:xfrm>
            <a:off x="7772188" y="1526183"/>
            <a:ext cx="409270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dirty="0"/>
              <a:t>Approaches:</a:t>
            </a:r>
          </a:p>
          <a:p>
            <a:r>
              <a:rPr lang="en-GB" i="1" dirty="0"/>
              <a:t>Entry-point Annotation</a:t>
            </a:r>
          </a:p>
          <a:p>
            <a:r>
              <a:rPr lang="en-GB" i="1" dirty="0"/>
              <a:t>Call Path Specification</a:t>
            </a:r>
          </a:p>
        </p:txBody>
      </p:sp>
    </p:spTree>
    <p:extLst>
      <p:ext uri="{BB962C8B-B14F-4D97-AF65-F5344CB8AC3E}">
        <p14:creationId xmlns:p14="http://schemas.microsoft.com/office/powerpoint/2010/main" val="4193847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  <p:bldP spid="26" grpId="0" animBg="1"/>
      <p:bldP spid="8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8839E-1D31-C2EA-55B5-AFFD899D9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F95571C-1B05-36B2-CA30-2BCC6D9A89F8}"/>
              </a:ext>
            </a:extLst>
          </p:cNvPr>
          <p:cNvCxnSpPr>
            <a:endCxn id="14" idx="1"/>
          </p:cNvCxnSpPr>
          <p:nvPr/>
        </p:nvCxnSpPr>
        <p:spPr>
          <a:xfrm flipV="1">
            <a:off x="1451113" y="3884415"/>
            <a:ext cx="3793985" cy="40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39DAA39-0296-13BE-9A06-AD742E931F85}"/>
              </a:ext>
            </a:extLst>
          </p:cNvPr>
          <p:cNvCxnSpPr>
            <a:cxnSpLocks/>
            <a:endCxn id="14" idx="1"/>
          </p:cNvCxnSpPr>
          <p:nvPr/>
        </p:nvCxnSpPr>
        <p:spPr>
          <a:xfrm flipV="1">
            <a:off x="1451113" y="3884415"/>
            <a:ext cx="3793985" cy="2103"/>
          </a:xfrm>
          <a:prstGeom prst="straightConnector1">
            <a:avLst/>
          </a:prstGeom>
          <a:ln w="38100">
            <a:solidFill>
              <a:schemeClr val="tx2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8" name="Graphic 57" descr="Shield Tick with solid fill">
            <a:extLst>
              <a:ext uri="{FF2B5EF4-FFF2-40B4-BE49-F238E27FC236}">
                <a16:creationId xmlns:a16="http://schemas.microsoft.com/office/drawing/2014/main" id="{B799226D-B487-5950-0232-51D89CA98C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60393" y="3013947"/>
            <a:ext cx="523404" cy="523404"/>
          </a:xfrm>
          <a:prstGeom prst="rect">
            <a:avLst/>
          </a:prstGeom>
        </p:spPr>
      </p:pic>
      <p:pic>
        <p:nvPicPr>
          <p:cNvPr id="60" name="Graphic 59" descr="Shield Tick with solid fill">
            <a:extLst>
              <a:ext uri="{FF2B5EF4-FFF2-40B4-BE49-F238E27FC236}">
                <a16:creationId xmlns:a16="http://schemas.microsoft.com/office/drawing/2014/main" id="{3FADE269-BAE5-C9EF-9FD4-766F65082C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60393" y="3600023"/>
            <a:ext cx="523404" cy="523404"/>
          </a:xfrm>
          <a:prstGeom prst="rect">
            <a:avLst/>
          </a:prstGeom>
        </p:spPr>
      </p:pic>
      <p:pic>
        <p:nvPicPr>
          <p:cNvPr id="21" name="Graphic 20" descr="Unlock with solid fill">
            <a:extLst>
              <a:ext uri="{FF2B5EF4-FFF2-40B4-BE49-F238E27FC236}">
                <a16:creationId xmlns:a16="http://schemas.microsoft.com/office/drawing/2014/main" id="{FDE7F801-2CFF-BC7A-6822-A7114EA87B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07388" y="3044775"/>
            <a:ext cx="457200" cy="457200"/>
          </a:xfrm>
          <a:prstGeom prst="rect">
            <a:avLst/>
          </a:prstGeom>
        </p:spPr>
      </p:pic>
      <p:pic>
        <p:nvPicPr>
          <p:cNvPr id="24" name="Graphic 23" descr="Unlock with solid fill">
            <a:extLst>
              <a:ext uri="{FF2B5EF4-FFF2-40B4-BE49-F238E27FC236}">
                <a16:creationId xmlns:a16="http://schemas.microsoft.com/office/drawing/2014/main" id="{D9DA2BEC-8A7A-9823-44DB-4AE7C2D349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07388" y="3655814"/>
            <a:ext cx="457200" cy="457200"/>
          </a:xfrm>
          <a:prstGeom prst="rect">
            <a:avLst/>
          </a:prstGeom>
        </p:spPr>
      </p:pic>
      <p:grpSp>
        <p:nvGrpSpPr>
          <p:cNvPr id="54" name="Group 53">
            <a:extLst>
              <a:ext uri="{FF2B5EF4-FFF2-40B4-BE49-F238E27FC236}">
                <a16:creationId xmlns:a16="http://schemas.microsoft.com/office/drawing/2014/main" id="{8FA75C7E-CB6E-BCC0-D2F2-C8338C735719}"/>
              </a:ext>
            </a:extLst>
          </p:cNvPr>
          <p:cNvGrpSpPr/>
          <p:nvPr/>
        </p:nvGrpSpPr>
        <p:grpSpPr>
          <a:xfrm>
            <a:off x="5062535" y="3093046"/>
            <a:ext cx="712100" cy="1582816"/>
            <a:chOff x="5019356" y="3209925"/>
            <a:chExt cx="608966" cy="1582816"/>
          </a:xfrm>
        </p:grpSpPr>
        <p:sp>
          <p:nvSpPr>
            <p:cNvPr id="55" name="Arrow: Chevron 54">
              <a:extLst>
                <a:ext uri="{FF2B5EF4-FFF2-40B4-BE49-F238E27FC236}">
                  <a16:creationId xmlns:a16="http://schemas.microsoft.com/office/drawing/2014/main" id="{D43C00A5-0946-A3FB-0FA1-FB684211B3D2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56" name="Arrow: Chevron 55">
              <a:extLst>
                <a:ext uri="{FF2B5EF4-FFF2-40B4-BE49-F238E27FC236}">
                  <a16:creationId xmlns:a16="http://schemas.microsoft.com/office/drawing/2014/main" id="{8DDF6FE3-ED9B-09CC-DE1A-5558A960360F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57" name="Arrow: Chevron 56">
              <a:extLst>
                <a:ext uri="{FF2B5EF4-FFF2-40B4-BE49-F238E27FC236}">
                  <a16:creationId xmlns:a16="http://schemas.microsoft.com/office/drawing/2014/main" id="{DFD417B0-A36A-DCCE-3893-5B02C936BD41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53" name="Content Placeholder 16">
            <a:extLst>
              <a:ext uri="{FF2B5EF4-FFF2-40B4-BE49-F238E27FC236}">
                <a16:creationId xmlns:a16="http://schemas.microsoft.com/office/drawing/2014/main" id="{A8D9408F-AC1D-F0CF-47C1-125F15063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5741"/>
            <a:ext cx="10515600" cy="4731222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“State of the Art”</a:t>
            </a:r>
          </a:p>
        </p:txBody>
      </p:sp>
      <p:sp>
        <p:nvSpPr>
          <p:cNvPr id="14" name="Arrow: Chevron 13">
            <a:extLst>
              <a:ext uri="{FF2B5EF4-FFF2-40B4-BE49-F238E27FC236}">
                <a16:creationId xmlns:a16="http://schemas.microsoft.com/office/drawing/2014/main" id="{72039995-966F-F518-935C-E71F47BEEBAF}"/>
              </a:ext>
            </a:extLst>
          </p:cNvPr>
          <p:cNvSpPr/>
          <p:nvPr/>
        </p:nvSpPr>
        <p:spPr>
          <a:xfrm>
            <a:off x="5062535" y="3701852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Chevron 14">
            <a:extLst>
              <a:ext uri="{FF2B5EF4-FFF2-40B4-BE49-F238E27FC236}">
                <a16:creationId xmlns:a16="http://schemas.microsoft.com/office/drawing/2014/main" id="{B9E6C196-6ACE-AB17-035D-77C74BDCEF5A}"/>
              </a:ext>
            </a:extLst>
          </p:cNvPr>
          <p:cNvSpPr/>
          <p:nvPr/>
        </p:nvSpPr>
        <p:spPr>
          <a:xfrm>
            <a:off x="5062535" y="4310737"/>
            <a:ext cx="712099" cy="365125"/>
          </a:xfrm>
          <a:prstGeom prst="chevron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Chevron 15">
            <a:extLst>
              <a:ext uri="{FF2B5EF4-FFF2-40B4-BE49-F238E27FC236}">
                <a16:creationId xmlns:a16="http://schemas.microsoft.com/office/drawing/2014/main" id="{329CC9EC-5587-F5A6-CC28-850F9EF1AE1D}"/>
              </a:ext>
            </a:extLst>
          </p:cNvPr>
          <p:cNvSpPr/>
          <p:nvPr/>
        </p:nvSpPr>
        <p:spPr>
          <a:xfrm>
            <a:off x="5062536" y="3093046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7F4B911-DFAE-A15B-63EF-9EBE5F6B969A}"/>
              </a:ext>
            </a:extLst>
          </p:cNvPr>
          <p:cNvGrpSpPr/>
          <p:nvPr/>
        </p:nvGrpSpPr>
        <p:grpSpPr>
          <a:xfrm>
            <a:off x="6417362" y="3093086"/>
            <a:ext cx="712099" cy="1582816"/>
            <a:chOff x="5019356" y="3209925"/>
            <a:chExt cx="608966" cy="1582816"/>
          </a:xfrm>
        </p:grpSpPr>
        <p:sp>
          <p:nvSpPr>
            <p:cNvPr id="10" name="Arrow: Chevron 9">
              <a:extLst>
                <a:ext uri="{FF2B5EF4-FFF2-40B4-BE49-F238E27FC236}">
                  <a16:creationId xmlns:a16="http://schemas.microsoft.com/office/drawing/2014/main" id="{8C9D7C18-CDA2-6AD9-98AA-178AC570A0BA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1" name="Arrow: Chevron 10">
              <a:extLst>
                <a:ext uri="{FF2B5EF4-FFF2-40B4-BE49-F238E27FC236}">
                  <a16:creationId xmlns:a16="http://schemas.microsoft.com/office/drawing/2014/main" id="{10A74E1D-3DAE-26FE-1469-13C51CF392A2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Arrow: Chevron 8">
              <a:extLst>
                <a:ext uri="{FF2B5EF4-FFF2-40B4-BE49-F238E27FC236}">
                  <a16:creationId xmlns:a16="http://schemas.microsoft.com/office/drawing/2014/main" id="{22981F2E-6842-912F-0AF5-E43A6AA5D546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4AEE1DC-D20F-A5D2-929E-C8B08BD813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Entry-Point Annotation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62970B-A616-A179-6B41-080F086177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6265FF-E7CD-8BB5-14B7-C707D09750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44350-7392-9BB1-C022-FA3683FAD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11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7C65A521-315B-576B-AF69-27F69D69916D}"/>
              </a:ext>
            </a:extLst>
          </p:cNvPr>
          <p:cNvSpPr/>
          <p:nvPr/>
        </p:nvSpPr>
        <p:spPr>
          <a:xfrm>
            <a:off x="5323840" y="3048636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Contract</a:t>
            </a:r>
            <a:endParaRPr lang="en-CH" dirty="0">
              <a:solidFill>
                <a:schemeClr val="bg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ED37765-AB99-2E3D-7111-0556CDFFC279}"/>
              </a:ext>
            </a:extLst>
          </p:cNvPr>
          <p:cNvSpPr txBox="1"/>
          <p:nvPr/>
        </p:nvSpPr>
        <p:spPr>
          <a:xfrm>
            <a:off x="2472566" y="3092967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@nonReentrant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5801E4F-6654-0253-99E1-05F5A86C0252}"/>
              </a:ext>
            </a:extLst>
          </p:cNvPr>
          <p:cNvSpPr txBox="1"/>
          <p:nvPr/>
        </p:nvSpPr>
        <p:spPr>
          <a:xfrm>
            <a:off x="2472565" y="3701852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@nonReentrant</a:t>
            </a:r>
          </a:p>
        </p:txBody>
      </p:sp>
      <p:cxnSp>
        <p:nvCxnSpPr>
          <p:cNvPr id="22" name="Connector: Curved 21">
            <a:extLst>
              <a:ext uri="{FF2B5EF4-FFF2-40B4-BE49-F238E27FC236}">
                <a16:creationId xmlns:a16="http://schemas.microsoft.com/office/drawing/2014/main" id="{FFF51A68-FE53-AEFA-590B-FFFE56884994}"/>
              </a:ext>
            </a:extLst>
          </p:cNvPr>
          <p:cNvCxnSpPr>
            <a:cxnSpLocks/>
            <a:stCxn id="11" idx="3"/>
            <a:endCxn id="3" idx="1"/>
          </p:cNvCxnSpPr>
          <p:nvPr/>
        </p:nvCxnSpPr>
        <p:spPr>
          <a:xfrm flipV="1">
            <a:off x="7129460" y="4490268"/>
            <a:ext cx="1756121" cy="3072"/>
          </a:xfrm>
          <a:prstGeom prst="curvedConnector3">
            <a:avLst>
              <a:gd name="adj1" fmla="val 50000"/>
            </a:avLst>
          </a:prstGeom>
          <a:ln w="38100">
            <a:solidFill>
              <a:schemeClr val="accent5"/>
            </a:solidFill>
            <a:tailEnd type="triangle" w="lg" len="lg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9" name="Connector: Curved 28">
            <a:extLst>
              <a:ext uri="{FF2B5EF4-FFF2-40B4-BE49-F238E27FC236}">
                <a16:creationId xmlns:a16="http://schemas.microsoft.com/office/drawing/2014/main" id="{777C69BE-0004-A93E-91F6-2F5213665E0B}"/>
              </a:ext>
            </a:extLst>
          </p:cNvPr>
          <p:cNvCxnSpPr>
            <a:cxnSpLocks/>
            <a:stCxn id="10" idx="3"/>
            <a:endCxn id="3" idx="0"/>
          </p:cNvCxnSpPr>
          <p:nvPr/>
        </p:nvCxnSpPr>
        <p:spPr>
          <a:xfrm>
            <a:off x="7129460" y="3884455"/>
            <a:ext cx="2112170" cy="166535"/>
          </a:xfrm>
          <a:prstGeom prst="curvedConnector2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Curved 39">
            <a:extLst>
              <a:ext uri="{FF2B5EF4-FFF2-40B4-BE49-F238E27FC236}">
                <a16:creationId xmlns:a16="http://schemas.microsoft.com/office/drawing/2014/main" id="{432FF741-8357-34F8-EF14-37597551B9F1}"/>
              </a:ext>
            </a:extLst>
          </p:cNvPr>
          <p:cNvCxnSpPr>
            <a:cxnSpLocks/>
            <a:stCxn id="9" idx="3"/>
            <a:endCxn id="3" idx="0"/>
          </p:cNvCxnSpPr>
          <p:nvPr/>
        </p:nvCxnSpPr>
        <p:spPr>
          <a:xfrm>
            <a:off x="7129461" y="3275649"/>
            <a:ext cx="2112169" cy="775341"/>
          </a:xfrm>
          <a:prstGeom prst="curvedConnector2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72435B42-5D2D-37A2-E544-2D16886C778B}"/>
              </a:ext>
            </a:extLst>
          </p:cNvPr>
          <p:cNvSpPr txBox="1"/>
          <p:nvPr/>
        </p:nvSpPr>
        <p:spPr>
          <a:xfrm>
            <a:off x="7744032" y="2813943"/>
            <a:ext cx="3740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Potential vulnerabilities!</a:t>
            </a:r>
          </a:p>
        </p:txBody>
      </p:sp>
      <p:sp>
        <p:nvSpPr>
          <p:cNvPr id="3" name="Rectangle: Folded Corner 2">
            <a:extLst>
              <a:ext uri="{FF2B5EF4-FFF2-40B4-BE49-F238E27FC236}">
                <a16:creationId xmlns:a16="http://schemas.microsoft.com/office/drawing/2014/main" id="{295493E3-F5EF-E0A2-AF16-931DB613F96E}"/>
              </a:ext>
            </a:extLst>
          </p:cNvPr>
          <p:cNvSpPr/>
          <p:nvPr/>
        </p:nvSpPr>
        <p:spPr>
          <a:xfrm>
            <a:off x="8885581" y="4050990"/>
            <a:ext cx="712098" cy="878556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tIns="90000" bIns="90000" rtlCol="0" anchor="t" anchorCtr="0"/>
          <a:lstStyle/>
          <a:p>
            <a:pPr algn="ctr"/>
            <a:endParaRPr lang="en-CH" dirty="0">
              <a:solidFill>
                <a:schemeClr val="bg1"/>
              </a:solidFill>
            </a:endParaRPr>
          </a:p>
        </p:txBody>
      </p:sp>
      <p:cxnSp>
        <p:nvCxnSpPr>
          <p:cNvPr id="23" name="Connector: Curved 22">
            <a:extLst>
              <a:ext uri="{FF2B5EF4-FFF2-40B4-BE49-F238E27FC236}">
                <a16:creationId xmlns:a16="http://schemas.microsoft.com/office/drawing/2014/main" id="{FC3E821B-61B3-E586-C182-28575F732FFD}"/>
              </a:ext>
            </a:extLst>
          </p:cNvPr>
          <p:cNvCxnSpPr>
            <a:cxnSpLocks/>
            <a:stCxn id="3" idx="2"/>
            <a:endCxn id="15" idx="1"/>
          </p:cNvCxnSpPr>
          <p:nvPr/>
        </p:nvCxnSpPr>
        <p:spPr>
          <a:xfrm rot="5400000" flipH="1">
            <a:off x="7025241" y="2713157"/>
            <a:ext cx="436246" cy="3996532"/>
          </a:xfrm>
          <a:prstGeom prst="curvedConnector4">
            <a:avLst>
              <a:gd name="adj1" fmla="val -127587"/>
              <a:gd name="adj2" fmla="val 123220"/>
            </a:avLst>
          </a:prstGeom>
          <a:ln w="38100">
            <a:solidFill>
              <a:schemeClr val="accent5"/>
            </a:solidFill>
            <a:tailEnd type="triangle" w="lg" len="lg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5D2F0E4D-51A5-EDCE-AD4B-D7720C79A8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8535364"/>
              </p:ext>
            </p:extLst>
          </p:nvPr>
        </p:nvGraphicFramePr>
        <p:xfrm>
          <a:off x="5479529" y="3699034"/>
          <a:ext cx="1232938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854594">
                  <a:extLst>
                    <a:ext uri="{9D8B030D-6E8A-4147-A177-3AD203B41FA5}">
                      <a16:colId xmlns:a16="http://schemas.microsoft.com/office/drawing/2014/main" val="1972082231"/>
                    </a:ext>
                  </a:extLst>
                </a:gridCol>
                <a:gridCol w="378344">
                  <a:extLst>
                    <a:ext uri="{9D8B030D-6E8A-4147-A177-3AD203B41FA5}">
                      <a16:colId xmlns:a16="http://schemas.microsoft.com/office/drawing/2014/main" val="14533442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Entered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1566320"/>
                  </a:ext>
                </a:extLst>
              </a:tr>
            </a:tbl>
          </a:graphicData>
        </a:graphic>
      </p:graphicFrame>
      <p:graphicFrame>
        <p:nvGraphicFramePr>
          <p:cNvPr id="31" name="Table 30">
            <a:extLst>
              <a:ext uri="{FF2B5EF4-FFF2-40B4-BE49-F238E27FC236}">
                <a16:creationId xmlns:a16="http://schemas.microsoft.com/office/drawing/2014/main" id="{F8571525-E31D-9835-FC37-3956D406AF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5094709"/>
              </p:ext>
            </p:extLst>
          </p:nvPr>
        </p:nvGraphicFramePr>
        <p:xfrm>
          <a:off x="5479529" y="3698994"/>
          <a:ext cx="1232938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854594">
                  <a:extLst>
                    <a:ext uri="{9D8B030D-6E8A-4147-A177-3AD203B41FA5}">
                      <a16:colId xmlns:a16="http://schemas.microsoft.com/office/drawing/2014/main" val="1972082231"/>
                    </a:ext>
                  </a:extLst>
                </a:gridCol>
                <a:gridCol w="378344">
                  <a:extLst>
                    <a:ext uri="{9D8B030D-6E8A-4147-A177-3AD203B41FA5}">
                      <a16:colId xmlns:a16="http://schemas.microsoft.com/office/drawing/2014/main" val="14533442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Entered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15663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62022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9" grpId="0"/>
      <p:bldP spid="20" grpId="0"/>
      <p:bldP spid="4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6110CB-7FAC-B7A2-8BCD-CAB2B9532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91C4F22-9ED3-94B1-9CC4-CBF4B19CD908}"/>
              </a:ext>
            </a:extLst>
          </p:cNvPr>
          <p:cNvCxnSpPr>
            <a:cxnSpLocks/>
            <a:endCxn id="15" idx="1"/>
          </p:cNvCxnSpPr>
          <p:nvPr/>
        </p:nvCxnSpPr>
        <p:spPr>
          <a:xfrm flipV="1">
            <a:off x="2209800" y="4493300"/>
            <a:ext cx="3035298" cy="4088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DE1E558-118F-8AFD-1794-3FC7DCDAEEFA}"/>
              </a:ext>
            </a:extLst>
          </p:cNvPr>
          <p:cNvGrpSpPr/>
          <p:nvPr/>
        </p:nvGrpSpPr>
        <p:grpSpPr>
          <a:xfrm>
            <a:off x="5062535" y="3093046"/>
            <a:ext cx="712100" cy="1582816"/>
            <a:chOff x="5019356" y="3209925"/>
            <a:chExt cx="608966" cy="1582816"/>
          </a:xfrm>
        </p:grpSpPr>
        <p:sp>
          <p:nvSpPr>
            <p:cNvPr id="55" name="Arrow: Chevron 54">
              <a:extLst>
                <a:ext uri="{FF2B5EF4-FFF2-40B4-BE49-F238E27FC236}">
                  <a16:creationId xmlns:a16="http://schemas.microsoft.com/office/drawing/2014/main" id="{BA61E04E-62C4-87C4-76EC-C4F160F68591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56" name="Arrow: Chevron 55">
              <a:extLst>
                <a:ext uri="{FF2B5EF4-FFF2-40B4-BE49-F238E27FC236}">
                  <a16:creationId xmlns:a16="http://schemas.microsoft.com/office/drawing/2014/main" id="{85D5F348-8292-33B7-69C9-5133D7FC1291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57" name="Arrow: Chevron 56">
              <a:extLst>
                <a:ext uri="{FF2B5EF4-FFF2-40B4-BE49-F238E27FC236}">
                  <a16:creationId xmlns:a16="http://schemas.microsoft.com/office/drawing/2014/main" id="{B5008202-12CD-935B-DE37-320E6CF202B8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53" name="Content Placeholder 16">
            <a:extLst>
              <a:ext uri="{FF2B5EF4-FFF2-40B4-BE49-F238E27FC236}">
                <a16:creationId xmlns:a16="http://schemas.microsoft.com/office/drawing/2014/main" id="{70DD79F8-0DD9-57A3-6B88-FE546F8E2E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5741"/>
            <a:ext cx="10515600" cy="4731222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“State of the Art”</a:t>
            </a:r>
          </a:p>
        </p:txBody>
      </p:sp>
      <p:sp>
        <p:nvSpPr>
          <p:cNvPr id="14" name="Arrow: Chevron 13">
            <a:extLst>
              <a:ext uri="{FF2B5EF4-FFF2-40B4-BE49-F238E27FC236}">
                <a16:creationId xmlns:a16="http://schemas.microsoft.com/office/drawing/2014/main" id="{852A4894-3A5F-954F-2794-128661B91BBD}"/>
              </a:ext>
            </a:extLst>
          </p:cNvPr>
          <p:cNvSpPr/>
          <p:nvPr/>
        </p:nvSpPr>
        <p:spPr>
          <a:xfrm>
            <a:off x="5062535" y="3701852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Chevron 14">
            <a:extLst>
              <a:ext uri="{FF2B5EF4-FFF2-40B4-BE49-F238E27FC236}">
                <a16:creationId xmlns:a16="http://schemas.microsoft.com/office/drawing/2014/main" id="{9224C84D-0C3B-CA3B-F1AE-FC360444FE5A}"/>
              </a:ext>
            </a:extLst>
          </p:cNvPr>
          <p:cNvSpPr/>
          <p:nvPr/>
        </p:nvSpPr>
        <p:spPr>
          <a:xfrm>
            <a:off x="5062535" y="4310737"/>
            <a:ext cx="712099" cy="365125"/>
          </a:xfrm>
          <a:prstGeom prst="chevron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Chevron 15">
            <a:extLst>
              <a:ext uri="{FF2B5EF4-FFF2-40B4-BE49-F238E27FC236}">
                <a16:creationId xmlns:a16="http://schemas.microsoft.com/office/drawing/2014/main" id="{3E2E373A-8A20-9EA8-B277-64EC0695B746}"/>
              </a:ext>
            </a:extLst>
          </p:cNvPr>
          <p:cNvSpPr/>
          <p:nvPr/>
        </p:nvSpPr>
        <p:spPr>
          <a:xfrm>
            <a:off x="5062536" y="3093046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615B164-03ED-3478-6B43-18CE59A50C5A}"/>
              </a:ext>
            </a:extLst>
          </p:cNvPr>
          <p:cNvGrpSpPr/>
          <p:nvPr/>
        </p:nvGrpSpPr>
        <p:grpSpPr>
          <a:xfrm>
            <a:off x="6417362" y="3093086"/>
            <a:ext cx="712099" cy="1582816"/>
            <a:chOff x="5019356" y="3209925"/>
            <a:chExt cx="608966" cy="1582816"/>
          </a:xfrm>
        </p:grpSpPr>
        <p:sp>
          <p:nvSpPr>
            <p:cNvPr id="10" name="Arrow: Chevron 9">
              <a:extLst>
                <a:ext uri="{FF2B5EF4-FFF2-40B4-BE49-F238E27FC236}">
                  <a16:creationId xmlns:a16="http://schemas.microsoft.com/office/drawing/2014/main" id="{F86C1661-A593-E760-764E-FC17649060A0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1" name="Arrow: Chevron 10">
              <a:extLst>
                <a:ext uri="{FF2B5EF4-FFF2-40B4-BE49-F238E27FC236}">
                  <a16:creationId xmlns:a16="http://schemas.microsoft.com/office/drawing/2014/main" id="{821531A5-5DDC-FFAE-4E0C-C490AC722116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Arrow: Chevron 8">
              <a:extLst>
                <a:ext uri="{FF2B5EF4-FFF2-40B4-BE49-F238E27FC236}">
                  <a16:creationId xmlns:a16="http://schemas.microsoft.com/office/drawing/2014/main" id="{172DBFE5-AF6F-1942-0925-95581493CE43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E9EEFFD-CC94-3287-FE3C-3DD339C19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Entry-Point Annotation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84898F-3601-1398-853A-7E0C785DC88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0918F5-7F94-D63A-6432-B13A91B65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4E7BB6-3CA9-92DC-47D6-89E644F3C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12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5C3FD0A6-AC8F-B78B-F404-B23D23CA3F3C}"/>
              </a:ext>
            </a:extLst>
          </p:cNvPr>
          <p:cNvSpPr/>
          <p:nvPr/>
        </p:nvSpPr>
        <p:spPr>
          <a:xfrm>
            <a:off x="5323840" y="3048636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Contract</a:t>
            </a:r>
            <a:endParaRPr lang="en-CH" dirty="0">
              <a:solidFill>
                <a:schemeClr val="bg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7086EBE-5AD8-C152-7006-921C6288E3F8}"/>
              </a:ext>
            </a:extLst>
          </p:cNvPr>
          <p:cNvSpPr txBox="1"/>
          <p:nvPr/>
        </p:nvSpPr>
        <p:spPr>
          <a:xfrm>
            <a:off x="2472566" y="3092967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@nonReentrant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759735A-3BCB-8564-2B05-4E26636D58D1}"/>
              </a:ext>
            </a:extLst>
          </p:cNvPr>
          <p:cNvSpPr txBox="1"/>
          <p:nvPr/>
        </p:nvSpPr>
        <p:spPr>
          <a:xfrm>
            <a:off x="2472565" y="3701852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@nonReentrant</a:t>
            </a:r>
          </a:p>
        </p:txBody>
      </p:sp>
      <p:cxnSp>
        <p:nvCxnSpPr>
          <p:cNvPr id="22" name="Connector: Curved 21">
            <a:extLst>
              <a:ext uri="{FF2B5EF4-FFF2-40B4-BE49-F238E27FC236}">
                <a16:creationId xmlns:a16="http://schemas.microsoft.com/office/drawing/2014/main" id="{07EA183E-CA00-EBDC-982D-02B193AC2C59}"/>
              </a:ext>
            </a:extLst>
          </p:cNvPr>
          <p:cNvCxnSpPr>
            <a:cxnSpLocks/>
            <a:stCxn id="11" idx="3"/>
            <a:endCxn id="3" idx="1"/>
          </p:cNvCxnSpPr>
          <p:nvPr/>
        </p:nvCxnSpPr>
        <p:spPr>
          <a:xfrm flipV="1">
            <a:off x="7129460" y="4490268"/>
            <a:ext cx="1756121" cy="3072"/>
          </a:xfrm>
          <a:prstGeom prst="curvedConnector3">
            <a:avLst>
              <a:gd name="adj1" fmla="val 50000"/>
            </a:avLst>
          </a:prstGeom>
          <a:ln w="38100">
            <a:solidFill>
              <a:schemeClr val="accent5"/>
            </a:solidFill>
            <a:tailEnd type="triangle" w="lg" len="lg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3" name="Rectangle: Folded Corner 2">
            <a:extLst>
              <a:ext uri="{FF2B5EF4-FFF2-40B4-BE49-F238E27FC236}">
                <a16:creationId xmlns:a16="http://schemas.microsoft.com/office/drawing/2014/main" id="{50E338A7-CA9B-69C7-05EF-3185DCCF3863}"/>
              </a:ext>
            </a:extLst>
          </p:cNvPr>
          <p:cNvSpPr/>
          <p:nvPr/>
        </p:nvSpPr>
        <p:spPr>
          <a:xfrm>
            <a:off x="8885581" y="4050990"/>
            <a:ext cx="712098" cy="878556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tIns="90000" bIns="90000" rtlCol="0" anchor="t" anchorCtr="0"/>
          <a:lstStyle/>
          <a:p>
            <a:pPr algn="ctr"/>
            <a:endParaRPr lang="en-CH" dirty="0">
              <a:solidFill>
                <a:schemeClr val="bg1"/>
              </a:solidFill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7914CB2-40F0-8FAE-6F3D-30A7B96A45C1}"/>
              </a:ext>
            </a:extLst>
          </p:cNvPr>
          <p:cNvCxnSpPr>
            <a:cxnSpLocks/>
          </p:cNvCxnSpPr>
          <p:nvPr/>
        </p:nvCxnSpPr>
        <p:spPr>
          <a:xfrm>
            <a:off x="2209800" y="4497388"/>
            <a:ext cx="3035298" cy="0"/>
          </a:xfrm>
          <a:prstGeom prst="straightConnector1">
            <a:avLst/>
          </a:prstGeom>
          <a:ln w="38100">
            <a:solidFill>
              <a:schemeClr val="tx2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4" name="Graphic 23" descr="Unlock with solid fill">
            <a:extLst>
              <a:ext uri="{FF2B5EF4-FFF2-40B4-BE49-F238E27FC236}">
                <a16:creationId xmlns:a16="http://schemas.microsoft.com/office/drawing/2014/main" id="{8A9BE7EF-BAB1-7A5E-3B22-9121E8F0B1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07388" y="3044775"/>
            <a:ext cx="457200" cy="457200"/>
          </a:xfrm>
          <a:prstGeom prst="rect">
            <a:avLst/>
          </a:prstGeom>
        </p:spPr>
      </p:pic>
      <p:pic>
        <p:nvPicPr>
          <p:cNvPr id="25" name="Graphic 24" descr="Unlock with solid fill">
            <a:extLst>
              <a:ext uri="{FF2B5EF4-FFF2-40B4-BE49-F238E27FC236}">
                <a16:creationId xmlns:a16="http://schemas.microsoft.com/office/drawing/2014/main" id="{29EE1C6D-4A6C-0A8A-1F6B-4E754B3120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07388" y="3655814"/>
            <a:ext cx="457200" cy="457200"/>
          </a:xfrm>
          <a:prstGeom prst="rect">
            <a:avLst/>
          </a:prstGeom>
        </p:spPr>
      </p:pic>
      <p:graphicFrame>
        <p:nvGraphicFramePr>
          <p:cNvPr id="34" name="Table 33">
            <a:extLst>
              <a:ext uri="{FF2B5EF4-FFF2-40B4-BE49-F238E27FC236}">
                <a16:creationId xmlns:a16="http://schemas.microsoft.com/office/drawing/2014/main" id="{CC4D5567-9659-05FA-B712-FA34F872D9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2737593"/>
              </p:ext>
            </p:extLst>
          </p:nvPr>
        </p:nvGraphicFramePr>
        <p:xfrm>
          <a:off x="5479529" y="3699034"/>
          <a:ext cx="1232938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854594">
                  <a:extLst>
                    <a:ext uri="{9D8B030D-6E8A-4147-A177-3AD203B41FA5}">
                      <a16:colId xmlns:a16="http://schemas.microsoft.com/office/drawing/2014/main" val="1972082231"/>
                    </a:ext>
                  </a:extLst>
                </a:gridCol>
                <a:gridCol w="378344">
                  <a:extLst>
                    <a:ext uri="{9D8B030D-6E8A-4147-A177-3AD203B41FA5}">
                      <a16:colId xmlns:a16="http://schemas.microsoft.com/office/drawing/2014/main" val="14533442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Entered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1566320"/>
                  </a:ext>
                </a:extLst>
              </a:tr>
            </a:tbl>
          </a:graphicData>
        </a:graphic>
      </p:graphicFrame>
      <p:grpSp>
        <p:nvGrpSpPr>
          <p:cNvPr id="30" name="Group 29">
            <a:extLst>
              <a:ext uri="{FF2B5EF4-FFF2-40B4-BE49-F238E27FC236}">
                <a16:creationId xmlns:a16="http://schemas.microsoft.com/office/drawing/2014/main" id="{A4FD0E24-DE9A-4617-AB3C-399B4445E34F}"/>
              </a:ext>
            </a:extLst>
          </p:cNvPr>
          <p:cNvGrpSpPr/>
          <p:nvPr/>
        </p:nvGrpSpPr>
        <p:grpSpPr>
          <a:xfrm>
            <a:off x="3858247" y="2342878"/>
            <a:ext cx="2316019" cy="2861819"/>
            <a:chOff x="3858247" y="2342878"/>
            <a:chExt cx="2316019" cy="2861819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E8F660AA-2646-F27C-C3A2-B742D4E92819}"/>
                </a:ext>
              </a:extLst>
            </p:cNvPr>
            <p:cNvSpPr/>
            <p:nvPr/>
          </p:nvSpPr>
          <p:spPr>
            <a:xfrm>
              <a:off x="4460391" y="2771304"/>
              <a:ext cx="1111733" cy="2433393"/>
            </a:xfrm>
            <a:prstGeom prst="rect">
              <a:avLst/>
            </a:prstGeom>
            <a:noFill/>
            <a:ln w="381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1F8BD3C-13C1-94C7-148A-614F5D49CB9C}"/>
                </a:ext>
              </a:extLst>
            </p:cNvPr>
            <p:cNvSpPr txBox="1"/>
            <p:nvPr/>
          </p:nvSpPr>
          <p:spPr>
            <a:xfrm>
              <a:off x="3858247" y="2342878"/>
              <a:ext cx="2316019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31750">
              <a:solidFill>
                <a:schemeClr val="accent1">
                  <a:lumMod val="5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bg1"/>
                  </a:solidFill>
                </a:rPr>
                <a:t>All entry-points open!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91259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A311D-9CDB-2CD2-ABD7-20CC4096D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9074729A-D0F7-48A7-32D3-4EC01F077E8A}"/>
              </a:ext>
            </a:extLst>
          </p:cNvPr>
          <p:cNvGrpSpPr/>
          <p:nvPr/>
        </p:nvGrpSpPr>
        <p:grpSpPr>
          <a:xfrm>
            <a:off x="6417362" y="3093086"/>
            <a:ext cx="712099" cy="1582816"/>
            <a:chOff x="5019356" y="3209925"/>
            <a:chExt cx="608966" cy="1582816"/>
          </a:xfrm>
        </p:grpSpPr>
        <p:sp>
          <p:nvSpPr>
            <p:cNvPr id="10" name="Arrow: Chevron 9">
              <a:extLst>
                <a:ext uri="{FF2B5EF4-FFF2-40B4-BE49-F238E27FC236}">
                  <a16:creationId xmlns:a16="http://schemas.microsoft.com/office/drawing/2014/main" id="{3B0BFA96-0743-E0F5-2CDC-360CEF8C120D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1" name="Arrow: Chevron 10">
              <a:extLst>
                <a:ext uri="{FF2B5EF4-FFF2-40B4-BE49-F238E27FC236}">
                  <a16:creationId xmlns:a16="http://schemas.microsoft.com/office/drawing/2014/main" id="{B79974FA-00A6-EF79-2F3F-DA922827349B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Arrow: Chevron 8">
              <a:extLst>
                <a:ext uri="{FF2B5EF4-FFF2-40B4-BE49-F238E27FC236}">
                  <a16:creationId xmlns:a16="http://schemas.microsoft.com/office/drawing/2014/main" id="{E6FAE4B9-2421-04F5-D8CF-6CB546108002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33" name="Arrow: Chevron 32">
            <a:extLst>
              <a:ext uri="{FF2B5EF4-FFF2-40B4-BE49-F238E27FC236}">
                <a16:creationId xmlns:a16="http://schemas.microsoft.com/office/drawing/2014/main" id="{93A45F29-F040-8F9C-2DFA-DE1C0C400CF2}"/>
              </a:ext>
            </a:extLst>
          </p:cNvPr>
          <p:cNvSpPr/>
          <p:nvPr/>
        </p:nvSpPr>
        <p:spPr>
          <a:xfrm>
            <a:off x="6417358" y="4310618"/>
            <a:ext cx="712098" cy="365125"/>
          </a:xfrm>
          <a:prstGeom prst="chevron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91835D-967C-E867-AE88-BFD51522F7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7265" y="1532238"/>
            <a:ext cx="9045146" cy="4644725"/>
          </a:xfrm>
        </p:spPr>
        <p:txBody>
          <a:bodyPr>
            <a:normAutofit/>
          </a:bodyPr>
          <a:lstStyle/>
          <a:p>
            <a:r>
              <a:rPr lang="en-GB" dirty="0"/>
              <a:t>Safety by default</a:t>
            </a:r>
          </a:p>
          <a:p>
            <a:r>
              <a:rPr lang="en-GB" dirty="0"/>
              <a:t>Call site annotation </a:t>
            </a:r>
            <a:r>
              <a:rPr lang="en-GB" sz="2400" i="1" kern="0" dirty="0"/>
              <a:t>specifying the entry point!</a:t>
            </a:r>
            <a:endParaRPr lang="en-GB" sz="2400" kern="0" dirty="0"/>
          </a:p>
          <a:p>
            <a:r>
              <a:rPr lang="en-GB" dirty="0"/>
              <a:t>“Unlock” entry</a:t>
            </a:r>
            <a:br>
              <a:rPr lang="en-GB" dirty="0"/>
            </a:br>
            <a:r>
              <a:rPr lang="en-GB" dirty="0"/>
              <a:t>point at runtime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pPr marL="0" indent="0">
              <a:buNone/>
            </a:pPr>
            <a:r>
              <a:rPr lang="en-GB" dirty="0"/>
              <a:t>Only the desired call</a:t>
            </a:r>
            <a:br>
              <a:rPr lang="en-GB" dirty="0"/>
            </a:br>
            <a:r>
              <a:rPr lang="en-GB" dirty="0"/>
              <a:t>path is possible!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117B797-63ED-2365-0A32-B3E6F2734DFC}"/>
              </a:ext>
            </a:extLst>
          </p:cNvPr>
          <p:cNvGrpSpPr/>
          <p:nvPr/>
        </p:nvGrpSpPr>
        <p:grpSpPr>
          <a:xfrm>
            <a:off x="5062535" y="3093046"/>
            <a:ext cx="712100" cy="1582816"/>
            <a:chOff x="5019356" y="3209925"/>
            <a:chExt cx="608966" cy="1582816"/>
          </a:xfrm>
        </p:grpSpPr>
        <p:sp>
          <p:nvSpPr>
            <p:cNvPr id="14" name="Arrow: Chevron 13">
              <a:extLst>
                <a:ext uri="{FF2B5EF4-FFF2-40B4-BE49-F238E27FC236}">
                  <a16:creationId xmlns:a16="http://schemas.microsoft.com/office/drawing/2014/main" id="{F5C2BB0B-1527-3E11-F377-883467FBF068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Arrow: Chevron 14">
              <a:extLst>
                <a:ext uri="{FF2B5EF4-FFF2-40B4-BE49-F238E27FC236}">
                  <a16:creationId xmlns:a16="http://schemas.microsoft.com/office/drawing/2014/main" id="{12E59E8E-7128-4DCE-D88A-B8B8D7E8465F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6" name="Arrow: Chevron 15">
              <a:extLst>
                <a:ext uri="{FF2B5EF4-FFF2-40B4-BE49-F238E27FC236}">
                  <a16:creationId xmlns:a16="http://schemas.microsoft.com/office/drawing/2014/main" id="{EB1338B2-34AD-F5D6-D6DE-7749C28D9602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0B28EAA-6511-EA62-377B-01527F174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Call Path Specification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2F9FE0-1C1A-0293-4D64-059FB0863D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E58A1A-391F-6EE0-DE5C-BD8DC11E9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F9C3CC-5F7A-DB28-835C-48A1831FFD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13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0294946-E96C-7518-3566-AB78645A7524}"/>
              </a:ext>
            </a:extLst>
          </p:cNvPr>
          <p:cNvSpPr txBox="1"/>
          <p:nvPr/>
        </p:nvSpPr>
        <p:spPr>
          <a:xfrm>
            <a:off x="7510888" y="4306530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5"/>
                </a:solidFill>
                <a:latin typeface="Lucida Console" panose="020B0609040504020204" pitchFamily="49" charset="0"/>
              </a:rPr>
              <a:t>@reenter(</a:t>
            </a:r>
            <a:r>
              <a:rPr lang="en-GB" b="1" dirty="0">
                <a:solidFill>
                  <a:schemeClr val="accent5"/>
                </a:solidFill>
              </a:rPr>
              <a:t>C</a:t>
            </a:r>
            <a:r>
              <a:rPr lang="en-GB" dirty="0">
                <a:solidFill>
                  <a:schemeClr val="accent5"/>
                </a:solidFill>
                <a:latin typeface="Lucida Console" panose="020B0609040504020204" pitchFamily="49" charset="0"/>
              </a:rPr>
              <a:t>)</a:t>
            </a:r>
          </a:p>
        </p:txBody>
      </p:sp>
      <p:sp>
        <p:nvSpPr>
          <p:cNvPr id="19" name="Rectangle: Folded Corner 18">
            <a:extLst>
              <a:ext uri="{FF2B5EF4-FFF2-40B4-BE49-F238E27FC236}">
                <a16:creationId xmlns:a16="http://schemas.microsoft.com/office/drawing/2014/main" id="{4DAB3A7D-94CC-47C4-EF89-1F461B6663AD}"/>
              </a:ext>
            </a:extLst>
          </p:cNvPr>
          <p:cNvSpPr/>
          <p:nvPr/>
        </p:nvSpPr>
        <p:spPr>
          <a:xfrm>
            <a:off x="7035113" y="5078849"/>
            <a:ext cx="712098" cy="878556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tIns="90000" bIns="90000" rtlCol="0" anchor="t" anchorCtr="0"/>
          <a:lstStyle/>
          <a:p>
            <a:pPr algn="ctr"/>
            <a:endParaRPr lang="en-CH" dirty="0">
              <a:solidFill>
                <a:schemeClr val="bg1"/>
              </a:solidFill>
            </a:endParaRPr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F09E8DB8-BED1-D6BE-7420-19A67224BEF9}"/>
              </a:ext>
            </a:extLst>
          </p:cNvPr>
          <p:cNvCxnSpPr>
            <a:stCxn id="11" idx="3"/>
            <a:endCxn id="19" idx="0"/>
          </p:cNvCxnSpPr>
          <p:nvPr/>
        </p:nvCxnSpPr>
        <p:spPr>
          <a:xfrm>
            <a:off x="7129460" y="4493340"/>
            <a:ext cx="261702" cy="585509"/>
          </a:xfrm>
          <a:prstGeom prst="bentConnector2">
            <a:avLst/>
          </a:prstGeom>
          <a:ln w="38100">
            <a:solidFill>
              <a:schemeClr val="accent5"/>
            </a:solidFill>
            <a:tailEnd type="triangle" w="lg" len="lg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5" name="Connector: Curved 24">
            <a:extLst>
              <a:ext uri="{FF2B5EF4-FFF2-40B4-BE49-F238E27FC236}">
                <a16:creationId xmlns:a16="http://schemas.microsoft.com/office/drawing/2014/main" id="{9D281DC9-FBCA-4D1D-E170-2810666AA4C2}"/>
              </a:ext>
            </a:extLst>
          </p:cNvPr>
          <p:cNvCxnSpPr>
            <a:stCxn id="19" idx="1"/>
            <a:endCxn id="15" idx="1"/>
          </p:cNvCxnSpPr>
          <p:nvPr/>
        </p:nvCxnSpPr>
        <p:spPr>
          <a:xfrm rot="10800000">
            <a:off x="5245099" y="4493301"/>
            <a:ext cx="1790015" cy="1024827"/>
          </a:xfrm>
          <a:prstGeom prst="curvedConnector3">
            <a:avLst>
              <a:gd name="adj1" fmla="val 150583"/>
            </a:avLst>
          </a:prstGeom>
          <a:ln w="38100">
            <a:tailEnd type="triangle" w="lg" len="lg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35" name="Arrow: Chevron 34">
            <a:extLst>
              <a:ext uri="{FF2B5EF4-FFF2-40B4-BE49-F238E27FC236}">
                <a16:creationId xmlns:a16="http://schemas.microsoft.com/office/drawing/2014/main" id="{42E5F359-EC1B-520E-25A3-4C81A60E427F}"/>
              </a:ext>
            </a:extLst>
          </p:cNvPr>
          <p:cNvSpPr/>
          <p:nvPr/>
        </p:nvSpPr>
        <p:spPr>
          <a:xfrm>
            <a:off x="5062534" y="3701852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97983524-5C6D-F560-1944-3EFD121819D4}"/>
              </a:ext>
            </a:extLst>
          </p:cNvPr>
          <p:cNvSpPr/>
          <p:nvPr/>
        </p:nvSpPr>
        <p:spPr>
          <a:xfrm>
            <a:off x="5062137" y="4310776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6" name="Arrow: Chevron 35">
            <a:extLst>
              <a:ext uri="{FF2B5EF4-FFF2-40B4-BE49-F238E27FC236}">
                <a16:creationId xmlns:a16="http://schemas.microsoft.com/office/drawing/2014/main" id="{A41786B4-B6BD-D2B5-F8CE-A6666359C500}"/>
              </a:ext>
            </a:extLst>
          </p:cNvPr>
          <p:cNvSpPr/>
          <p:nvPr/>
        </p:nvSpPr>
        <p:spPr>
          <a:xfrm>
            <a:off x="5062534" y="4310737"/>
            <a:ext cx="712099" cy="365125"/>
          </a:xfrm>
          <a:prstGeom prst="chevron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7" name="Arrow: Chevron 36">
            <a:extLst>
              <a:ext uri="{FF2B5EF4-FFF2-40B4-BE49-F238E27FC236}">
                <a16:creationId xmlns:a16="http://schemas.microsoft.com/office/drawing/2014/main" id="{C932F9BC-7EA6-2E5A-B1D5-3271B6CB4995}"/>
              </a:ext>
            </a:extLst>
          </p:cNvPr>
          <p:cNvSpPr/>
          <p:nvPr/>
        </p:nvSpPr>
        <p:spPr>
          <a:xfrm>
            <a:off x="5062535" y="3093046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308376A6-237A-972C-88C8-FC882B959E2F}"/>
              </a:ext>
            </a:extLst>
          </p:cNvPr>
          <p:cNvSpPr/>
          <p:nvPr/>
        </p:nvSpPr>
        <p:spPr>
          <a:xfrm>
            <a:off x="5323840" y="3048636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r>
              <a:rPr lang="en-GB" sz="2000" b="1" dirty="0">
                <a:solidFill>
                  <a:schemeClr val="bg1"/>
                </a:solidFill>
              </a:rPr>
              <a:t>A</a:t>
            </a:r>
          </a:p>
          <a:p>
            <a:endParaRPr lang="en-GB" sz="2000" b="1" dirty="0">
              <a:solidFill>
                <a:schemeClr val="bg1"/>
              </a:solidFill>
            </a:endParaRPr>
          </a:p>
          <a:p>
            <a:r>
              <a:rPr lang="en-GB" sz="2000" b="1" dirty="0">
                <a:solidFill>
                  <a:schemeClr val="bg1"/>
                </a:solidFill>
              </a:rPr>
              <a:t>B</a:t>
            </a:r>
          </a:p>
          <a:p>
            <a:endParaRPr lang="en-GB" sz="2000" b="1" dirty="0">
              <a:solidFill>
                <a:schemeClr val="bg1"/>
              </a:solidFill>
            </a:endParaRPr>
          </a:p>
          <a:p>
            <a:r>
              <a:rPr lang="en-GB" sz="2000" b="1" dirty="0">
                <a:solidFill>
                  <a:schemeClr val="bg1"/>
                </a:solidFill>
              </a:rPr>
              <a:t>C</a:t>
            </a:r>
            <a:endParaRPr lang="en-CH" sz="2000" b="1" dirty="0">
              <a:solidFill>
                <a:schemeClr val="bg1"/>
              </a:solidFill>
            </a:endParaRPr>
          </a:p>
        </p:txBody>
      </p:sp>
      <p:pic>
        <p:nvPicPr>
          <p:cNvPr id="43" name="Graphic 42" descr="Unlock with solid fill">
            <a:extLst>
              <a:ext uri="{FF2B5EF4-FFF2-40B4-BE49-F238E27FC236}">
                <a16:creationId xmlns:a16="http://schemas.microsoft.com/office/drawing/2014/main" id="{12E3D412-AC2E-DA24-2348-28B1E83079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1503" y="4258358"/>
            <a:ext cx="457200" cy="457200"/>
          </a:xfrm>
          <a:prstGeom prst="rect">
            <a:avLst/>
          </a:prstGeom>
        </p:spPr>
      </p:pic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74BCDEFC-A7A6-6ABB-447A-DEDA5256AA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9072999"/>
              </p:ext>
            </p:extLst>
          </p:nvPr>
        </p:nvGraphicFramePr>
        <p:xfrm>
          <a:off x="5774236" y="3701456"/>
          <a:ext cx="9864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547200">
                  <a:extLst>
                    <a:ext uri="{9D8B030D-6E8A-4147-A177-3AD203B41FA5}">
                      <a16:colId xmlns:a16="http://schemas.microsoft.com/office/drawing/2014/main" val="1972082231"/>
                    </a:ext>
                  </a:extLst>
                </a:gridCol>
                <a:gridCol w="439200">
                  <a:extLst>
                    <a:ext uri="{9D8B030D-6E8A-4147-A177-3AD203B41FA5}">
                      <a16:colId xmlns:a16="http://schemas.microsoft.com/office/drawing/2014/main" val="14533442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Lock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111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1566320"/>
                  </a:ext>
                </a:extLst>
              </a:tr>
            </a:tbl>
          </a:graphicData>
        </a:graphic>
      </p:graphicFrame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E8F403C-FD16-0F4F-6E5E-412C366B8583}"/>
              </a:ext>
            </a:extLst>
          </p:cNvPr>
          <p:cNvCxnSpPr>
            <a:cxnSpLocks/>
            <a:endCxn id="35" idx="1"/>
          </p:cNvCxnSpPr>
          <p:nvPr/>
        </p:nvCxnSpPr>
        <p:spPr>
          <a:xfrm>
            <a:off x="2590800" y="3884415"/>
            <a:ext cx="265429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EC0B710-19C3-57CE-534E-F202F0C818D0}"/>
              </a:ext>
            </a:extLst>
          </p:cNvPr>
          <p:cNvCxnSpPr>
            <a:cxnSpLocks/>
            <a:endCxn id="35" idx="1"/>
          </p:cNvCxnSpPr>
          <p:nvPr/>
        </p:nvCxnSpPr>
        <p:spPr>
          <a:xfrm>
            <a:off x="2590800" y="3884415"/>
            <a:ext cx="2654297" cy="0"/>
          </a:xfrm>
          <a:prstGeom prst="straightConnector1">
            <a:avLst/>
          </a:prstGeom>
          <a:ln w="38100">
            <a:solidFill>
              <a:schemeClr val="tx2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1" name="Table 30">
            <a:extLst>
              <a:ext uri="{FF2B5EF4-FFF2-40B4-BE49-F238E27FC236}">
                <a16:creationId xmlns:a16="http://schemas.microsoft.com/office/drawing/2014/main" id="{CA8388B2-19C8-8EBF-8CF4-B2C66682B3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1986260"/>
              </p:ext>
            </p:extLst>
          </p:nvPr>
        </p:nvGraphicFramePr>
        <p:xfrm>
          <a:off x="5774234" y="3701456"/>
          <a:ext cx="9864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547200">
                  <a:extLst>
                    <a:ext uri="{9D8B030D-6E8A-4147-A177-3AD203B41FA5}">
                      <a16:colId xmlns:a16="http://schemas.microsoft.com/office/drawing/2014/main" val="1972082231"/>
                    </a:ext>
                  </a:extLst>
                </a:gridCol>
                <a:gridCol w="439200">
                  <a:extLst>
                    <a:ext uri="{9D8B030D-6E8A-4147-A177-3AD203B41FA5}">
                      <a16:colId xmlns:a16="http://schemas.microsoft.com/office/drawing/2014/main" val="14533442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Lock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000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1566320"/>
                  </a:ext>
                </a:extLst>
              </a:tr>
            </a:tbl>
          </a:graphicData>
        </a:graphic>
      </p:graphicFrame>
      <p:graphicFrame>
        <p:nvGraphicFramePr>
          <p:cNvPr id="42" name="Table 41">
            <a:extLst>
              <a:ext uri="{FF2B5EF4-FFF2-40B4-BE49-F238E27FC236}">
                <a16:creationId xmlns:a16="http://schemas.microsoft.com/office/drawing/2014/main" id="{CEB4A287-44CC-236D-E411-23BC01F4CC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5367440"/>
              </p:ext>
            </p:extLst>
          </p:nvPr>
        </p:nvGraphicFramePr>
        <p:xfrm>
          <a:off x="5774232" y="3700800"/>
          <a:ext cx="9864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547200">
                  <a:extLst>
                    <a:ext uri="{9D8B030D-6E8A-4147-A177-3AD203B41FA5}">
                      <a16:colId xmlns:a16="http://schemas.microsoft.com/office/drawing/2014/main" val="1972082231"/>
                    </a:ext>
                  </a:extLst>
                </a:gridCol>
                <a:gridCol w="439200">
                  <a:extLst>
                    <a:ext uri="{9D8B030D-6E8A-4147-A177-3AD203B41FA5}">
                      <a16:colId xmlns:a16="http://schemas.microsoft.com/office/drawing/2014/main" val="14533442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Lock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001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1566320"/>
                  </a:ext>
                </a:extLst>
              </a:tr>
            </a:tbl>
          </a:graphicData>
        </a:graphic>
      </p:graphicFrame>
      <p:pic>
        <p:nvPicPr>
          <p:cNvPr id="28" name="Graphic 27" descr="Shield Tick with solid fill">
            <a:extLst>
              <a:ext uri="{FF2B5EF4-FFF2-40B4-BE49-F238E27FC236}">
                <a16:creationId xmlns:a16="http://schemas.microsoft.com/office/drawing/2014/main" id="{EB306A0D-AC47-8BF6-59FF-9EA0284ABD8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38734" y="3006249"/>
            <a:ext cx="523404" cy="523404"/>
          </a:xfrm>
          <a:prstGeom prst="rect">
            <a:avLst/>
          </a:prstGeom>
        </p:spPr>
      </p:pic>
      <p:pic>
        <p:nvPicPr>
          <p:cNvPr id="30" name="Graphic 29" descr="Shield Tick with solid fill">
            <a:extLst>
              <a:ext uri="{FF2B5EF4-FFF2-40B4-BE49-F238E27FC236}">
                <a16:creationId xmlns:a16="http://schemas.microsoft.com/office/drawing/2014/main" id="{E3DE3299-F774-E517-2482-3E302D2010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38734" y="3592325"/>
            <a:ext cx="523404" cy="523404"/>
          </a:xfrm>
          <a:prstGeom prst="rect">
            <a:avLst/>
          </a:prstGeom>
        </p:spPr>
      </p:pic>
      <p:pic>
        <p:nvPicPr>
          <p:cNvPr id="40" name="Graphic 39" descr="Shield Tick with solid fill">
            <a:extLst>
              <a:ext uri="{FF2B5EF4-FFF2-40B4-BE49-F238E27FC236}">
                <a16:creationId xmlns:a16="http://schemas.microsoft.com/office/drawing/2014/main" id="{9080BD5E-8255-FA97-32AB-C83E8BD625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38734" y="4225256"/>
            <a:ext cx="523404" cy="523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97084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" grpId="0" uiExpand="1" build="p"/>
      <p:bldP spid="18" grpId="0"/>
      <p:bldP spid="19" grpId="0" animBg="1"/>
      <p:bldP spid="35" grpId="0" animBg="1"/>
      <p:bldP spid="41" grpId="0" animBg="1"/>
      <p:bldP spid="36" grpId="0" animBg="1"/>
      <p:bldP spid="3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B4C53-7C47-176D-438F-20F07AF86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229581-0565-A5C3-E2F1-32FB7EE19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Side Effects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2BE0DE-2A84-BD92-F163-B326BB152C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r>
              <a:rPr lang="en-GB" dirty="0"/>
              <a:t>How do developers ensure correctness of side effects?</a:t>
            </a:r>
          </a:p>
          <a:p>
            <a:pPr lvl="1"/>
            <a:r>
              <a:rPr lang="en-GB" dirty="0"/>
              <a:t>Minimize number</a:t>
            </a:r>
          </a:p>
          <a:p>
            <a:pPr lvl="1"/>
            <a:r>
              <a:rPr lang="en-GB" dirty="0"/>
              <a:t>Encapsulate</a:t>
            </a:r>
          </a:p>
          <a:p>
            <a:pPr lvl="1"/>
            <a:r>
              <a:rPr lang="en-GB" dirty="0"/>
              <a:t>Documentation / Comments</a:t>
            </a:r>
          </a:p>
          <a:p>
            <a:r>
              <a:rPr lang="en-GB" dirty="0"/>
              <a:t>What about auditors?</a:t>
            </a:r>
          </a:p>
          <a:p>
            <a:pPr lvl="1"/>
            <a:r>
              <a:rPr lang="en-GB" dirty="0"/>
              <a:t>“Summarize” every entry-point / function:</a:t>
            </a:r>
          </a:p>
          <a:p>
            <a:pPr lvl="2"/>
            <a:r>
              <a:rPr lang="en-GB" dirty="0"/>
              <a:t>Inputs / outputs</a:t>
            </a:r>
          </a:p>
          <a:p>
            <a:pPr lvl="2"/>
            <a:r>
              <a:rPr lang="en-GB" dirty="0"/>
              <a:t>State mutations</a:t>
            </a:r>
          </a:p>
          <a:p>
            <a:pPr lvl="2"/>
            <a:r>
              <a:rPr lang="en-GB" dirty="0"/>
              <a:t>External calls</a:t>
            </a:r>
          </a:p>
          <a:p>
            <a:pPr lvl="2"/>
            <a:endParaRPr lang="en-GB" dirty="0"/>
          </a:p>
          <a:p>
            <a:pPr>
              <a:buFont typeface="Aptos" panose="020B0004020202020204" pitchFamily="34" charset="0"/>
              <a:buChar char="→"/>
            </a:pPr>
            <a:r>
              <a:rPr lang="en-GB" i="1" dirty="0"/>
              <a:t> Let’s look at real-world examples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ECA053-34D6-FDFA-8419-E21FEC457A8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0AB9E9-E02D-43BD-C5AD-1193FCB1B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6A69CB-5671-B365-26E2-10B7C2936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14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805971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964E0-56A1-44A2-5A15-A42529CC4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975B156C-02C7-6DB7-E16A-63590B4C0C5E}"/>
              </a:ext>
            </a:extLst>
          </p:cNvPr>
          <p:cNvSpPr txBox="1">
            <a:spLocks/>
          </p:cNvSpPr>
          <p:nvPr/>
        </p:nvSpPr>
        <p:spPr>
          <a:xfrm>
            <a:off x="1311797" y="1825625"/>
            <a:ext cx="10020568" cy="4351338"/>
          </a:xfrm>
          <a:prstGeom prst="rect">
            <a:avLst/>
          </a:prstGeom>
          <a:solidFill>
            <a:schemeClr val="bg2"/>
          </a:solidFill>
        </p:spPr>
        <p:txBody>
          <a:bodyPr vert="horz" wrap="none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Lucida Console" panose="020B0609040504020204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solidFill>
                  <a:schemeClr val="accent2"/>
                </a:solidFill>
              </a:rPr>
              <a:t>function</a:t>
            </a:r>
            <a:r>
              <a:rPr lang="en-GB" dirty="0"/>
              <a:t> </a:t>
            </a:r>
            <a:r>
              <a:rPr lang="en-GB" dirty="0">
                <a:solidFill>
                  <a:schemeClr val="accent6"/>
                </a:solidFill>
              </a:rPr>
              <a:t>updateStateOnLiquidation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/>
              <a:t> </a:t>
            </a:r>
            <a:r>
              <a:rPr lang="en-GB" dirty="0">
                <a:solidFill>
                  <a:schemeClr val="accent2"/>
                </a:solidFill>
              </a:rPr>
              <a:t>external</a:t>
            </a:r>
            <a:r>
              <a:rPr lang="en-GB" dirty="0"/>
              <a:t> </a:t>
            </a:r>
            <a:r>
              <a:rPr lang="en-GB" dirty="0">
                <a:solidFill>
                  <a:schemeClr val="accent1"/>
                </a:solidFill>
              </a:rPr>
              <a:t>{</a:t>
            </a:r>
          </a:p>
          <a:p>
            <a:r>
              <a:rPr lang="en-GB" dirty="0"/>
              <a:t>    </a:t>
            </a:r>
            <a:r>
              <a:rPr lang="en-GB" dirty="0" err="1">
                <a:solidFill>
                  <a:schemeClr val="accent6"/>
                </a:solidFill>
              </a:rPr>
              <a:t>updateA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>
                <a:solidFill>
                  <a:schemeClr val="tx2"/>
                </a:solidFill>
              </a:rPr>
              <a:t>;</a:t>
            </a:r>
          </a:p>
          <a:p>
            <a:endParaRPr lang="en-GB" dirty="0"/>
          </a:p>
          <a:p>
            <a:r>
              <a:rPr lang="en-GB" dirty="0"/>
              <a:t>    </a:t>
            </a:r>
            <a:r>
              <a:rPr lang="en-GB" dirty="0" err="1">
                <a:solidFill>
                  <a:schemeClr val="accent6"/>
                </a:solidFill>
              </a:rPr>
              <a:t>updateB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>
                <a:solidFill>
                  <a:schemeClr val="tx2"/>
                </a:solidFill>
              </a:rPr>
              <a:t>;</a:t>
            </a:r>
          </a:p>
          <a:p>
            <a:endParaRPr lang="en-GB" dirty="0"/>
          </a:p>
          <a:p>
            <a:r>
              <a:rPr lang="en-GB" dirty="0"/>
              <a:t>    </a:t>
            </a:r>
            <a:r>
              <a:rPr lang="en-GB" dirty="0" err="1">
                <a:solidFill>
                  <a:schemeClr val="accent6"/>
                </a:solidFill>
              </a:rPr>
              <a:t>updateC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>
                <a:solidFill>
                  <a:schemeClr val="tx2"/>
                </a:solidFill>
              </a:rPr>
              <a:t>;</a:t>
            </a:r>
          </a:p>
          <a:p>
            <a:endParaRPr lang="en-GB" dirty="0"/>
          </a:p>
          <a:p>
            <a:r>
              <a:rPr lang="en-GB" dirty="0"/>
              <a:t>    </a:t>
            </a:r>
            <a:r>
              <a:rPr lang="en-GB" dirty="0" err="1">
                <a:solidFill>
                  <a:schemeClr val="accent6"/>
                </a:solidFill>
              </a:rPr>
              <a:t>updateD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>
                <a:solidFill>
                  <a:schemeClr val="tx2"/>
                </a:solidFill>
              </a:rPr>
              <a:t>;</a:t>
            </a:r>
          </a:p>
          <a:p>
            <a:endParaRPr lang="en-GB" dirty="0"/>
          </a:p>
          <a:p>
            <a:r>
              <a:rPr lang="en-GB" dirty="0"/>
              <a:t>    </a:t>
            </a:r>
            <a:r>
              <a:rPr lang="en-GB" dirty="0">
                <a:solidFill>
                  <a:schemeClr val="accent2"/>
                </a:solidFill>
              </a:rPr>
              <a:t>if</a:t>
            </a:r>
            <a:r>
              <a:rPr lang="en-GB" dirty="0"/>
              <a:t> 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/>
              <a:t> </a:t>
            </a:r>
            <a:r>
              <a:rPr lang="en-GB" dirty="0">
                <a:solidFill>
                  <a:schemeClr val="accent1"/>
                </a:solidFill>
              </a:rPr>
              <a:t>{</a:t>
            </a:r>
          </a:p>
          <a:p>
            <a:r>
              <a:rPr lang="en-GB" dirty="0"/>
              <a:t>        </a:t>
            </a:r>
            <a:r>
              <a:rPr lang="en-GB" dirty="0" err="1">
                <a:solidFill>
                  <a:schemeClr val="accent6"/>
                </a:solidFill>
              </a:rPr>
              <a:t>updateE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>
                <a:solidFill>
                  <a:schemeClr val="tx2"/>
                </a:solidFill>
              </a:rPr>
              <a:t>;</a:t>
            </a:r>
          </a:p>
          <a:p>
            <a:r>
              <a:rPr lang="en-GB" dirty="0"/>
              <a:t>    </a:t>
            </a:r>
            <a:r>
              <a:rPr lang="en-GB" dirty="0">
                <a:solidFill>
                  <a:schemeClr val="accent1"/>
                </a:solidFill>
              </a:rPr>
              <a:t>}</a:t>
            </a:r>
          </a:p>
          <a:p>
            <a:r>
              <a:rPr lang="en-GB" dirty="0">
                <a:solidFill>
                  <a:schemeClr val="accent1"/>
                </a:solidFill>
              </a:rPr>
              <a:t>}</a:t>
            </a:r>
            <a:endParaRPr lang="en-GB" dirty="0"/>
          </a:p>
          <a:p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4F3709-097B-4A1B-2D58-71994358B40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11830" y="1825625"/>
            <a:ext cx="10020568" cy="4351338"/>
          </a:xfrm>
        </p:spPr>
        <p:txBody>
          <a:bodyPr/>
          <a:lstStyle/>
          <a:p>
            <a:r>
              <a:rPr lang="en-GB" dirty="0">
                <a:solidFill>
                  <a:schemeClr val="accent2"/>
                </a:solidFill>
              </a:rPr>
              <a:t>function</a:t>
            </a:r>
            <a:r>
              <a:rPr lang="en-GB" dirty="0"/>
              <a:t> </a:t>
            </a:r>
            <a:r>
              <a:rPr lang="en-GB" dirty="0">
                <a:solidFill>
                  <a:schemeClr val="accent6"/>
                </a:solidFill>
              </a:rPr>
              <a:t>updateStateOnLiquidation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/>
              <a:t> </a:t>
            </a:r>
            <a:r>
              <a:rPr lang="en-GB" dirty="0">
                <a:solidFill>
                  <a:schemeClr val="accent2"/>
                </a:solidFill>
              </a:rPr>
              <a:t>external</a:t>
            </a:r>
            <a:r>
              <a:rPr lang="en-GB" dirty="0"/>
              <a:t> </a:t>
            </a:r>
            <a:r>
              <a:rPr lang="en-GB" dirty="0">
                <a:solidFill>
                  <a:schemeClr val="accent1"/>
                </a:solidFill>
              </a:rPr>
              <a:t>{</a:t>
            </a:r>
          </a:p>
          <a:p>
            <a:r>
              <a:rPr lang="en-GB" dirty="0"/>
              <a:t>    </a:t>
            </a:r>
            <a:r>
              <a:rPr lang="en-GB" dirty="0">
                <a:solidFill>
                  <a:schemeClr val="accent6"/>
                </a:solidFill>
              </a:rPr>
              <a:t>updatePrincipalReserveStateOnLiquidationInternal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>
                <a:solidFill>
                  <a:schemeClr val="tx2"/>
                </a:solidFill>
              </a:rPr>
              <a:t>;</a:t>
            </a:r>
          </a:p>
          <a:p>
            <a:endParaRPr lang="en-GB" dirty="0"/>
          </a:p>
          <a:p>
            <a:r>
              <a:rPr lang="en-GB" dirty="0"/>
              <a:t>    </a:t>
            </a:r>
            <a:r>
              <a:rPr lang="en-GB" dirty="0">
                <a:solidFill>
                  <a:schemeClr val="accent6"/>
                </a:solidFill>
              </a:rPr>
              <a:t>updateCollateralReserveStateOnLiquidationInternal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>
                <a:solidFill>
                  <a:schemeClr val="tx2"/>
                </a:solidFill>
              </a:rPr>
              <a:t>;</a:t>
            </a:r>
          </a:p>
          <a:p>
            <a:endParaRPr lang="en-GB" dirty="0"/>
          </a:p>
          <a:p>
            <a:r>
              <a:rPr lang="en-GB" dirty="0"/>
              <a:t>    </a:t>
            </a:r>
            <a:r>
              <a:rPr lang="en-GB" dirty="0">
                <a:solidFill>
                  <a:schemeClr val="accent6"/>
                </a:solidFill>
              </a:rPr>
              <a:t>updateUserStateOnLiquidationInternal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>
                <a:solidFill>
                  <a:schemeClr val="tx2"/>
                </a:solidFill>
              </a:rPr>
              <a:t>;</a:t>
            </a:r>
          </a:p>
          <a:p>
            <a:endParaRPr lang="en-GB" dirty="0"/>
          </a:p>
          <a:p>
            <a:r>
              <a:rPr lang="en-GB" dirty="0"/>
              <a:t>    </a:t>
            </a:r>
            <a:r>
              <a:rPr lang="en-GB" dirty="0">
                <a:solidFill>
                  <a:schemeClr val="accent6"/>
                </a:solidFill>
              </a:rPr>
              <a:t>updateReserveInterestRatesAndTimestampInternal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>
                <a:solidFill>
                  <a:schemeClr val="tx2"/>
                </a:solidFill>
              </a:rPr>
              <a:t>;</a:t>
            </a:r>
          </a:p>
          <a:p>
            <a:endParaRPr lang="en-GB" dirty="0"/>
          </a:p>
          <a:p>
            <a:r>
              <a:rPr lang="en-GB" dirty="0"/>
              <a:t>    </a:t>
            </a:r>
            <a:r>
              <a:rPr lang="en-GB" dirty="0">
                <a:solidFill>
                  <a:schemeClr val="accent2"/>
                </a:solidFill>
              </a:rPr>
              <a:t>if</a:t>
            </a:r>
            <a:r>
              <a:rPr lang="en-GB" dirty="0"/>
              <a:t> </a:t>
            </a:r>
            <a:r>
              <a:rPr lang="en-GB" dirty="0">
                <a:solidFill>
                  <a:schemeClr val="accent1"/>
                </a:solidFill>
              </a:rPr>
              <a:t>(!</a:t>
            </a:r>
            <a:r>
              <a:rPr lang="en-GB" dirty="0"/>
              <a:t>_liquidatorReceivesAToken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/>
              <a:t> </a:t>
            </a:r>
            <a:r>
              <a:rPr lang="en-GB" dirty="0">
                <a:solidFill>
                  <a:schemeClr val="accent1"/>
                </a:solidFill>
              </a:rPr>
              <a:t>{</a:t>
            </a:r>
          </a:p>
          <a:p>
            <a:r>
              <a:rPr lang="en-GB" dirty="0"/>
              <a:t>        </a:t>
            </a:r>
            <a:r>
              <a:rPr lang="en-GB" dirty="0">
                <a:solidFill>
                  <a:schemeClr val="accent6"/>
                </a:solidFill>
              </a:rPr>
              <a:t>updateReserveInterestRatesAndTimestampInternal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>
                <a:solidFill>
                  <a:schemeClr val="tx2"/>
                </a:solidFill>
              </a:rPr>
              <a:t>;</a:t>
            </a:r>
          </a:p>
          <a:p>
            <a:r>
              <a:rPr lang="en-GB" dirty="0"/>
              <a:t>    </a:t>
            </a:r>
            <a:r>
              <a:rPr lang="en-GB" dirty="0">
                <a:solidFill>
                  <a:schemeClr val="accent1"/>
                </a:solidFill>
              </a:rPr>
              <a:t>}</a:t>
            </a:r>
          </a:p>
          <a:p>
            <a:r>
              <a:rPr lang="en-GB" dirty="0">
                <a:solidFill>
                  <a:schemeClr val="accent1"/>
                </a:solidFill>
              </a:rPr>
              <a:t>}</a:t>
            </a:r>
            <a:endParaRPr lang="en-GB" dirty="0"/>
          </a:p>
          <a:p>
            <a:endParaRPr lang="en-GB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B4B026B-357B-80F3-0B01-C4F4B17EEEE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200" y="1825625"/>
            <a:ext cx="473897" cy="4351338"/>
          </a:xfrm>
        </p:spPr>
        <p:txBody>
          <a:bodyPr/>
          <a:lstStyle/>
          <a:p>
            <a:r>
              <a:rPr lang="en-GB" dirty="0"/>
              <a:t> 1</a:t>
            </a:r>
          </a:p>
          <a:p>
            <a:r>
              <a:rPr lang="en-GB" dirty="0"/>
              <a:t> 2</a:t>
            </a:r>
          </a:p>
          <a:p>
            <a:r>
              <a:rPr lang="en-GB" dirty="0"/>
              <a:t> 3</a:t>
            </a:r>
          </a:p>
          <a:p>
            <a:r>
              <a:rPr lang="en-GB" dirty="0"/>
              <a:t> 4</a:t>
            </a:r>
          </a:p>
          <a:p>
            <a:r>
              <a:rPr lang="en-GB" dirty="0"/>
              <a:t> 5</a:t>
            </a:r>
          </a:p>
          <a:p>
            <a:r>
              <a:rPr lang="en-GB" dirty="0"/>
              <a:t> 6</a:t>
            </a:r>
          </a:p>
          <a:p>
            <a:r>
              <a:rPr lang="en-GB" dirty="0"/>
              <a:t> 7</a:t>
            </a:r>
          </a:p>
          <a:p>
            <a:r>
              <a:rPr lang="en-GB" dirty="0"/>
              <a:t> 8</a:t>
            </a:r>
          </a:p>
          <a:p>
            <a:r>
              <a:rPr lang="en-GB" dirty="0"/>
              <a:t> 9</a:t>
            </a:r>
          </a:p>
          <a:p>
            <a:r>
              <a:rPr lang="en-GB" dirty="0"/>
              <a:t>10</a:t>
            </a:r>
          </a:p>
          <a:p>
            <a:r>
              <a:rPr lang="en-GB" dirty="0"/>
              <a:t>11</a:t>
            </a:r>
          </a:p>
          <a:p>
            <a:r>
              <a:rPr lang="en-GB" dirty="0"/>
              <a:t>12</a:t>
            </a:r>
          </a:p>
          <a:p>
            <a:r>
              <a:rPr lang="en-GB" dirty="0"/>
              <a:t>13</a:t>
            </a:r>
          </a:p>
          <a:p>
            <a:r>
              <a:rPr lang="en-GB" dirty="0"/>
              <a:t>14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E7B8779-F89A-3C28-E9CE-1296751CA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AAVE Lending Pool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46BA69-CF57-B0DB-A81A-3949AC86C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E269A4-BF7F-3104-D2D9-40A65F20A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CB003D-713F-D20F-F5A5-15D7EE65D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15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12A6186-AA78-9E1E-9ED5-37E98A1C64CF}"/>
              </a:ext>
            </a:extLst>
          </p:cNvPr>
          <p:cNvCxnSpPr/>
          <p:nvPr/>
        </p:nvCxnSpPr>
        <p:spPr>
          <a:xfrm>
            <a:off x="1311963" y="1825625"/>
            <a:ext cx="0" cy="435133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73B7364-799E-D8FA-7AE0-83D785F78D0F}"/>
              </a:ext>
            </a:extLst>
          </p:cNvPr>
          <p:cNvGrpSpPr/>
          <p:nvPr/>
        </p:nvGrpSpPr>
        <p:grpSpPr>
          <a:xfrm>
            <a:off x="838200" y="1825625"/>
            <a:ext cx="10494198" cy="4351338"/>
            <a:chOff x="838200" y="1825625"/>
            <a:chExt cx="10494198" cy="4351338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B37BC53A-F3C3-8B89-12CD-E15970610630}"/>
                </a:ext>
              </a:extLst>
            </p:cNvPr>
            <p:cNvGrpSpPr/>
            <p:nvPr/>
          </p:nvGrpSpPr>
          <p:grpSpPr>
            <a:xfrm>
              <a:off x="838200" y="1825625"/>
              <a:ext cx="10494198" cy="4351338"/>
              <a:chOff x="838200" y="1825625"/>
              <a:chExt cx="10494198" cy="4351338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AE78B5C-7EE4-BCF6-BF5B-4A4BAC220DE6}"/>
                  </a:ext>
                </a:extLst>
              </p:cNvPr>
              <p:cNvSpPr/>
              <p:nvPr/>
            </p:nvSpPr>
            <p:spPr>
              <a:xfrm>
                <a:off x="838200" y="1825625"/>
                <a:ext cx="10494198" cy="331166"/>
              </a:xfrm>
              <a:prstGeom prst="rect">
                <a:avLst/>
              </a:prstGeom>
              <a:solidFill>
                <a:schemeClr val="bg1">
                  <a:alpha val="67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12A9F1E-CBF8-EF42-87A3-429639861F4E}"/>
                  </a:ext>
                </a:extLst>
              </p:cNvPr>
              <p:cNvSpPr/>
              <p:nvPr/>
            </p:nvSpPr>
            <p:spPr>
              <a:xfrm>
                <a:off x="838200" y="4343398"/>
                <a:ext cx="10494198" cy="1833565"/>
              </a:xfrm>
              <a:prstGeom prst="rect">
                <a:avLst/>
              </a:prstGeom>
              <a:solidFill>
                <a:schemeClr val="bg1">
                  <a:alpha val="67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E683A52B-784A-2DA6-3A64-9C7C2AAC9333}"/>
                  </a:ext>
                </a:extLst>
              </p:cNvPr>
              <p:cNvSpPr/>
              <p:nvPr/>
            </p:nvSpPr>
            <p:spPr>
              <a:xfrm>
                <a:off x="838200" y="2156791"/>
                <a:ext cx="1119809" cy="2188991"/>
              </a:xfrm>
              <a:prstGeom prst="rect">
                <a:avLst/>
              </a:prstGeom>
              <a:solidFill>
                <a:schemeClr val="bg1">
                  <a:alpha val="67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9B02D734-BA94-3D7E-FFD7-DE7B53A74980}"/>
                  </a:ext>
                </a:extLst>
              </p:cNvPr>
              <p:cNvSpPr/>
              <p:nvPr/>
            </p:nvSpPr>
            <p:spPr>
              <a:xfrm>
                <a:off x="3220280" y="2155599"/>
                <a:ext cx="8112085" cy="2188991"/>
              </a:xfrm>
              <a:prstGeom prst="rect">
                <a:avLst/>
              </a:prstGeom>
              <a:solidFill>
                <a:schemeClr val="bg1">
                  <a:alpha val="67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096F8F6F-0EB9-23F8-39A5-70FBC9A0E197}"/>
                </a:ext>
              </a:extLst>
            </p:cNvPr>
            <p:cNvGrpSpPr/>
            <p:nvPr/>
          </p:nvGrpSpPr>
          <p:grpSpPr>
            <a:xfrm>
              <a:off x="1958009" y="2156791"/>
              <a:ext cx="5318313" cy="2186609"/>
              <a:chOff x="1958009" y="2156791"/>
              <a:chExt cx="5318313" cy="2186609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98D10433-A19D-2CBC-E11F-6FA914418BD9}"/>
                  </a:ext>
                </a:extLst>
              </p:cNvPr>
              <p:cNvSpPr/>
              <p:nvPr/>
            </p:nvSpPr>
            <p:spPr>
              <a:xfrm>
                <a:off x="1958009" y="2156791"/>
                <a:ext cx="1262138" cy="2186609"/>
              </a:xfrm>
              <a:prstGeom prst="rect">
                <a:avLst/>
              </a:prstGeom>
              <a:noFill/>
              <a:ln w="38100">
                <a:solidFill>
                  <a:schemeClr val="accent5"/>
                </a:solidFill>
              </a:ln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E124299-16F8-27D8-78BC-8BAD10185503}"/>
                  </a:ext>
                </a:extLst>
              </p:cNvPr>
              <p:cNvSpPr txBox="1"/>
              <p:nvPr/>
            </p:nvSpPr>
            <p:spPr>
              <a:xfrm>
                <a:off x="3440977" y="2834596"/>
                <a:ext cx="3835345" cy="830997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chemeClr val="accent5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r>
                  <a:rPr lang="en-GB" sz="2400" b="1" dirty="0"/>
                  <a:t>Each update(…) modifies</a:t>
                </a:r>
                <a:br>
                  <a:rPr lang="en-GB" sz="2400" b="1" dirty="0"/>
                </a:br>
                <a:r>
                  <a:rPr lang="en-GB" sz="2400" b="1" dirty="0"/>
                  <a:t>exactly one state variable!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88371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" grpId="0" uiExpand="1" build="p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12DC44-662B-803C-5CE0-E81E2C615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8BC6968-8ADD-FCFE-D423-1B4B633E06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52288" y="1530521"/>
            <a:ext cx="438016" cy="2853380"/>
          </a:xfrm>
        </p:spPr>
        <p:txBody>
          <a:bodyPr>
            <a:noAutofit/>
          </a:bodyPr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6085EC62-91D3-9FBA-3F51-CE89FCA4731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190303" y="1530521"/>
            <a:ext cx="10163497" cy="2853380"/>
          </a:xfrm>
        </p:spPr>
        <p:txBody>
          <a:bodyPr/>
          <a:lstStyle/>
          <a:p>
            <a:r>
              <a:rPr lang="en-US" dirty="0">
                <a:solidFill>
                  <a:schemeClr val="accent5"/>
                </a:solidFill>
              </a:rPr>
              <a:t># _transfer_in updates self.balances here:</a:t>
            </a:r>
          </a:p>
          <a:p>
            <a:r>
              <a:rPr lang="en-US" dirty="0"/>
              <a:t>dx_received</a:t>
            </a:r>
            <a:r>
              <a:rPr lang="en-US" dirty="0">
                <a:solidFill>
                  <a:schemeClr val="accent1"/>
                </a:solidFill>
              </a:rPr>
              <a:t>:</a:t>
            </a:r>
            <a:r>
              <a:rPr lang="en-US" dirty="0"/>
              <a:t>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  <a:r>
              <a:rPr lang="en-US" dirty="0"/>
              <a:t> </a:t>
            </a:r>
            <a:r>
              <a:rPr lang="en-US" dirty="0">
                <a:solidFill>
                  <a:schemeClr val="accent1"/>
                </a:solidFill>
              </a:rPr>
              <a:t>=</a:t>
            </a:r>
            <a:r>
              <a:rPr lang="en-US" dirty="0"/>
              <a:t> </a:t>
            </a:r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>
                <a:solidFill>
                  <a:schemeClr val="accent6"/>
                </a:solidFill>
              </a:rPr>
              <a:t>_transfer_in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/>
              <a:t>i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/>
              <a:t>dx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>
                <a:solidFill>
                  <a:schemeClr val="accent3"/>
                </a:solidFill>
              </a:rPr>
              <a:t>msg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>
                <a:solidFill>
                  <a:schemeClr val="accent3"/>
                </a:solidFill>
              </a:rPr>
              <a:t>sender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/>
              <a:t>False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endParaRPr lang="en-US" dirty="0">
              <a:solidFill>
                <a:schemeClr val="accent1"/>
              </a:solidFill>
            </a:endParaRPr>
          </a:p>
          <a:p>
            <a:endParaRPr lang="en-US" dirty="0"/>
          </a:p>
          <a:p>
            <a:r>
              <a:rPr lang="en-US" dirty="0">
                <a:solidFill>
                  <a:schemeClr val="accent5"/>
                </a:solidFill>
              </a:rPr>
              <a:t># No ERC20 token transfers occur here:</a:t>
            </a:r>
          </a:p>
          <a:p>
            <a:r>
              <a:rPr lang="en-US" dirty="0"/>
              <a:t>out</a:t>
            </a:r>
            <a:r>
              <a:rPr lang="en-US" dirty="0">
                <a:solidFill>
                  <a:schemeClr val="accent1"/>
                </a:solidFill>
              </a:rPr>
              <a:t>:</a:t>
            </a:r>
            <a:r>
              <a:rPr lang="en-US" dirty="0"/>
              <a:t>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  <a:r>
              <a:rPr lang="en-US" dirty="0">
                <a:solidFill>
                  <a:schemeClr val="accent1"/>
                </a:solidFill>
              </a:rPr>
              <a:t>[</a:t>
            </a:r>
            <a:r>
              <a:rPr lang="en-US" dirty="0">
                <a:solidFill>
                  <a:schemeClr val="accent4"/>
                </a:solidFill>
              </a:rPr>
              <a:t>3</a:t>
            </a:r>
            <a:r>
              <a:rPr lang="en-US" dirty="0">
                <a:solidFill>
                  <a:schemeClr val="accent1"/>
                </a:solidFill>
              </a:rPr>
              <a:t>]</a:t>
            </a:r>
            <a:r>
              <a:rPr lang="en-US" dirty="0"/>
              <a:t> = </a:t>
            </a:r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>
                <a:solidFill>
                  <a:schemeClr val="accent6"/>
                </a:solidFill>
              </a:rPr>
              <a:t>_exchange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/>
              <a:t>i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/>
              <a:t>j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US" dirty="0"/>
              <a:t> dx_received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/>
              <a:t>min_dy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br>
              <a:rPr lang="en-US" dirty="0"/>
            </a:br>
            <a:endParaRPr lang="en-US" dirty="0"/>
          </a:p>
          <a:p>
            <a:r>
              <a:rPr lang="en-US" dirty="0">
                <a:solidFill>
                  <a:schemeClr val="accent5"/>
                </a:solidFill>
              </a:rPr>
              <a:t># _transfer_out updates self.balances here.</a:t>
            </a:r>
            <a:endParaRPr lang="en-CH" dirty="0">
              <a:solidFill>
                <a:schemeClr val="accent5"/>
              </a:solidFill>
            </a:endParaRPr>
          </a:p>
          <a:p>
            <a:r>
              <a:rPr lang="en-CH" dirty="0">
                <a:solidFill>
                  <a:schemeClr val="accent5"/>
                </a:solidFill>
              </a:rPr>
              <a:t># </a:t>
            </a:r>
            <a:r>
              <a:rPr lang="en-US" dirty="0">
                <a:solidFill>
                  <a:schemeClr val="accent5"/>
                </a:solidFill>
              </a:rPr>
              <a:t>Update to state occurs before</a:t>
            </a:r>
            <a:r>
              <a:rPr lang="en-CH" dirty="0">
                <a:solidFill>
                  <a:schemeClr val="accent5"/>
                </a:solidFill>
              </a:rPr>
              <a:t> </a:t>
            </a:r>
            <a:r>
              <a:rPr lang="en-US" dirty="0">
                <a:solidFill>
                  <a:schemeClr val="accent5"/>
                </a:solidFill>
              </a:rPr>
              <a:t>external calls:</a:t>
            </a:r>
          </a:p>
          <a:p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>
                <a:solidFill>
                  <a:schemeClr val="accent6"/>
                </a:solidFill>
              </a:rPr>
              <a:t>_transfer_out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/>
              <a:t>j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US" dirty="0"/>
              <a:t> out</a:t>
            </a:r>
            <a:r>
              <a:rPr lang="en-US" dirty="0">
                <a:solidFill>
                  <a:schemeClr val="accent1"/>
                </a:solidFill>
              </a:rPr>
              <a:t>[</a:t>
            </a:r>
            <a:r>
              <a:rPr lang="en-US" dirty="0">
                <a:solidFill>
                  <a:schemeClr val="accent4"/>
                </a:solidFill>
              </a:rPr>
              <a:t>0</a:t>
            </a:r>
            <a:r>
              <a:rPr lang="en-US" dirty="0">
                <a:solidFill>
                  <a:schemeClr val="accent1"/>
                </a:solidFill>
              </a:rPr>
              <a:t>]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US" dirty="0"/>
              <a:t> receiver</a:t>
            </a:r>
            <a:r>
              <a:rPr lang="en-US" dirty="0">
                <a:solidFill>
                  <a:schemeClr val="accent1"/>
                </a:solidFill>
              </a:rPr>
              <a:t>)</a:t>
            </a:r>
          </a:p>
        </p:txBody>
      </p:sp>
      <p:sp>
        <p:nvSpPr>
          <p:cNvPr id="17" name="Title 16">
            <a:extLst>
              <a:ext uri="{FF2B5EF4-FFF2-40B4-BE49-F238E27FC236}">
                <a16:creationId xmlns:a16="http://schemas.microsoft.com/office/drawing/2014/main" id="{C7D4589D-780F-6B7D-7438-E98FF9EAB8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Curve </a:t>
            </a:r>
            <a:r>
              <a:rPr lang="en-GB" dirty="0" err="1"/>
              <a:t>Tricrypto</a:t>
            </a:r>
            <a:endParaRPr lang="en-CH" dirty="0"/>
          </a:p>
        </p:txBody>
      </p: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9AF2F5C6-1BD9-0E7C-6D31-7CCC4F89F7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27" name="Footer Placeholder 26">
            <a:extLst>
              <a:ext uri="{FF2B5EF4-FFF2-40B4-BE49-F238E27FC236}">
                <a16:creationId xmlns:a16="http://schemas.microsoft.com/office/drawing/2014/main" id="{30E7EFF3-F9B9-4577-5DC2-8609FE481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>
                <a:solidFill>
                  <a:schemeClr val="tx2"/>
                </a:solidFill>
              </a:rPr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D5BCFEE7-CD5C-71DE-EFC6-5FB461D3F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16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CB229ED6-9D83-EB6D-10E3-3ACA825B2A1C}"/>
              </a:ext>
            </a:extLst>
          </p:cNvPr>
          <p:cNvCxnSpPr>
            <a:cxnSpLocks/>
          </p:cNvCxnSpPr>
          <p:nvPr/>
        </p:nvCxnSpPr>
        <p:spPr>
          <a:xfrm>
            <a:off x="1190438" y="1530521"/>
            <a:ext cx="0" cy="285338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0C455860-E70E-EB41-AF0C-ADAC58FCA201}"/>
              </a:ext>
            </a:extLst>
          </p:cNvPr>
          <p:cNvSpPr/>
          <p:nvPr/>
        </p:nvSpPr>
        <p:spPr>
          <a:xfrm>
            <a:off x="752158" y="1867071"/>
            <a:ext cx="10601636" cy="61912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4A7EBA9-D353-162A-EDC8-5D7999FC1AAB}"/>
              </a:ext>
            </a:extLst>
          </p:cNvPr>
          <p:cNvSpPr/>
          <p:nvPr/>
        </p:nvSpPr>
        <p:spPr>
          <a:xfrm>
            <a:off x="666252" y="2763366"/>
            <a:ext cx="10601636" cy="61912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8E460B5-3E6B-4553-B592-2F8D1B3EB19D}"/>
              </a:ext>
            </a:extLst>
          </p:cNvPr>
          <p:cNvSpPr/>
          <p:nvPr/>
        </p:nvSpPr>
        <p:spPr>
          <a:xfrm>
            <a:off x="752158" y="4018776"/>
            <a:ext cx="10601636" cy="36512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CDBD96A-E5AC-D998-7672-B7E1534778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4" y="4560283"/>
            <a:ext cx="10515600" cy="1796067"/>
          </a:xfrm>
        </p:spPr>
        <p:txBody>
          <a:bodyPr>
            <a:normAutofit lnSpcReduction="10000"/>
          </a:bodyPr>
          <a:lstStyle/>
          <a:p>
            <a:r>
              <a:rPr lang="en-GB" dirty="0"/>
              <a:t>Developers are “manually” tracking side effects</a:t>
            </a:r>
          </a:p>
          <a:p>
            <a:r>
              <a:rPr lang="en-GB" dirty="0"/>
              <a:t>Comments can be wrong or misleading</a:t>
            </a:r>
          </a:p>
          <a:p>
            <a:pPr marL="0" indent="0">
              <a:buNone/>
            </a:pPr>
            <a:endParaRPr lang="en-GB" sz="1600" i="1" dirty="0"/>
          </a:p>
          <a:p>
            <a:pPr>
              <a:buFont typeface="Aptos" panose="020B0004020202020204" pitchFamily="34" charset="0"/>
              <a:buChar char="→"/>
            </a:pPr>
            <a:r>
              <a:rPr lang="en-GB" i="1" dirty="0"/>
              <a:t> Why not let the compiler enforce this?</a:t>
            </a:r>
          </a:p>
          <a:p>
            <a:pPr>
              <a:buFont typeface="Aptos" panose="020B0004020202020204" pitchFamily="34" charset="0"/>
              <a:buChar char="→"/>
            </a:pPr>
            <a:endParaRPr lang="en-GB" i="1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D796D71-AEFD-B154-A507-E34BF4D571BF}"/>
              </a:ext>
            </a:extLst>
          </p:cNvPr>
          <p:cNvGrpSpPr/>
          <p:nvPr/>
        </p:nvGrpSpPr>
        <p:grpSpPr>
          <a:xfrm>
            <a:off x="3508514" y="1501947"/>
            <a:ext cx="3482006" cy="2296063"/>
            <a:chOff x="3508514" y="1501947"/>
            <a:chExt cx="3482006" cy="2296063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8F8C14B0-CD06-F667-D89A-93D2841720CE}"/>
                </a:ext>
              </a:extLst>
            </p:cNvPr>
            <p:cNvSpPr/>
            <p:nvPr/>
          </p:nvSpPr>
          <p:spPr>
            <a:xfrm>
              <a:off x="3508514" y="1501947"/>
              <a:ext cx="3309728" cy="465912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439F5FC-8757-2BC0-3825-D5D821C7AD13}"/>
                </a:ext>
              </a:extLst>
            </p:cNvPr>
            <p:cNvSpPr/>
            <p:nvPr/>
          </p:nvSpPr>
          <p:spPr>
            <a:xfrm>
              <a:off x="3680792" y="3332098"/>
              <a:ext cx="3309728" cy="465912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9871646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0D235-5391-6041-27DD-645EB7A96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21FFB9B9-863F-D474-8ED9-85AA4AF2C0B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4087" y="2316584"/>
            <a:ext cx="10959022" cy="3964946"/>
          </a:xfrm>
        </p:spPr>
        <p:txBody>
          <a:bodyPr/>
          <a:lstStyle/>
          <a:p>
            <a:r>
              <a:rPr lang="en-GB" sz="1800" dirty="0">
                <a:solidFill>
                  <a:schemeClr val="accent2"/>
                </a:solidFill>
              </a:rPr>
              <a:t>def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6"/>
                </a:solidFill>
              </a:rPr>
              <a:t>exchange</a:t>
            </a:r>
            <a:r>
              <a:rPr lang="en-GB" sz="1800" dirty="0">
                <a:solidFill>
                  <a:schemeClr val="accent1"/>
                </a:solidFill>
              </a:rPr>
              <a:t>(</a:t>
            </a:r>
            <a:r>
              <a:rPr lang="en-GB" sz="1800" dirty="0" err="1"/>
              <a:t>i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/>
              <a:t>, j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dx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/>
              <a:t>min_dy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>
                <a:solidFill>
                  <a:schemeClr val="accent1"/>
                </a:solidFill>
              </a:rPr>
              <a:t>) -&gt;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/>
              <a:t>:</a:t>
            </a:r>
          </a:p>
          <a:p>
            <a:r>
              <a:rPr lang="en-GB" sz="1800" dirty="0"/>
              <a:t>  </a:t>
            </a:r>
            <a:r>
              <a:rPr lang="en-GB" sz="1800" dirty="0">
                <a:solidFill>
                  <a:schemeClr val="accent5"/>
                </a:solidFill>
              </a:rPr>
              <a:t># _</a:t>
            </a:r>
            <a:r>
              <a:rPr lang="en-GB" sz="1800" dirty="0" err="1">
                <a:solidFill>
                  <a:schemeClr val="accent5"/>
                </a:solidFill>
              </a:rPr>
              <a:t>transfer_in</a:t>
            </a:r>
            <a:r>
              <a:rPr lang="en-GB" sz="1800" dirty="0">
                <a:solidFill>
                  <a:schemeClr val="accent5"/>
                </a:solidFill>
              </a:rPr>
              <a:t> updates </a:t>
            </a:r>
            <a:r>
              <a:rPr lang="en-GB" sz="1800" dirty="0" err="1">
                <a:solidFill>
                  <a:schemeClr val="accent5"/>
                </a:solidFill>
              </a:rPr>
              <a:t>self.balances</a:t>
            </a:r>
            <a:r>
              <a:rPr lang="en-GB" sz="1800" dirty="0">
                <a:solidFill>
                  <a:schemeClr val="accent5"/>
                </a:solidFill>
              </a:rPr>
              <a:t> here:</a:t>
            </a:r>
          </a:p>
          <a:p>
            <a:r>
              <a:rPr lang="en-GB" sz="1800" dirty="0"/>
              <a:t>  </a:t>
            </a:r>
            <a:r>
              <a:rPr lang="en-GB" sz="1800" dirty="0" err="1"/>
              <a:t>dx_received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1"/>
                </a:solidFill>
              </a:rPr>
              <a:t>=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3"/>
                </a:solidFill>
              </a:rPr>
              <a:t>self</a:t>
            </a:r>
            <a:r>
              <a:rPr lang="en-GB" sz="1800" dirty="0">
                <a:solidFill>
                  <a:schemeClr val="accent1"/>
                </a:solidFill>
              </a:rPr>
              <a:t>.</a:t>
            </a:r>
            <a:r>
              <a:rPr lang="en-GB" sz="1800" dirty="0">
                <a:solidFill>
                  <a:schemeClr val="accent6"/>
                </a:solidFill>
              </a:rPr>
              <a:t>_</a:t>
            </a:r>
            <a:r>
              <a:rPr lang="en-GB" sz="1800" dirty="0" err="1">
                <a:solidFill>
                  <a:schemeClr val="accent6"/>
                </a:solidFill>
              </a:rPr>
              <a:t>transfer_in</a:t>
            </a:r>
            <a:r>
              <a:rPr lang="en-GB" sz="1800" dirty="0">
                <a:solidFill>
                  <a:schemeClr val="accent1"/>
                </a:solidFill>
              </a:rPr>
              <a:t>(</a:t>
            </a:r>
            <a:r>
              <a:rPr lang="en-GB" sz="1800" dirty="0" err="1"/>
              <a:t>i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dx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>
                <a:solidFill>
                  <a:schemeClr val="accent3"/>
                </a:solidFill>
              </a:rPr>
              <a:t>msg</a:t>
            </a:r>
            <a:r>
              <a:rPr lang="en-GB" sz="1800" dirty="0" err="1">
                <a:solidFill>
                  <a:schemeClr val="accent1"/>
                </a:solidFill>
              </a:rPr>
              <a:t>.</a:t>
            </a:r>
            <a:r>
              <a:rPr lang="en-GB" sz="1800" dirty="0" err="1">
                <a:solidFill>
                  <a:schemeClr val="accent3"/>
                </a:solidFill>
              </a:rPr>
              <a:t>sender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4"/>
                </a:solidFill>
              </a:rPr>
              <a:t>False</a:t>
            </a:r>
            <a:r>
              <a:rPr lang="en-GB" sz="1800" dirty="0">
                <a:solidFill>
                  <a:schemeClr val="accent1"/>
                </a:solidFill>
              </a:rPr>
              <a:t>)</a:t>
            </a:r>
          </a:p>
          <a:p>
            <a:endParaRPr lang="en-GB" sz="1800" dirty="0"/>
          </a:p>
          <a:p>
            <a:r>
              <a:rPr lang="en-GB" sz="1800" dirty="0"/>
              <a:t>  </a:t>
            </a:r>
            <a:r>
              <a:rPr lang="en-GB" sz="1800" dirty="0">
                <a:solidFill>
                  <a:schemeClr val="accent5"/>
                </a:solidFill>
              </a:rPr>
              <a:t># No ERC20 token transfers occur here:</a:t>
            </a:r>
          </a:p>
          <a:p>
            <a:r>
              <a:rPr lang="en-GB" sz="1800" dirty="0"/>
              <a:t>  out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3</a:t>
            </a:r>
            <a:r>
              <a:rPr lang="en-GB" sz="1800" dirty="0">
                <a:solidFill>
                  <a:schemeClr val="accent1"/>
                </a:solidFill>
              </a:rPr>
              <a:t>]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1"/>
                </a:solidFill>
              </a:rPr>
              <a:t>=</a:t>
            </a:r>
            <a:r>
              <a:rPr lang="en-GB" sz="1800" dirty="0"/>
              <a:t> </a:t>
            </a:r>
            <a:r>
              <a:rPr lang="en-GB" sz="1800" dirty="0" err="1">
                <a:solidFill>
                  <a:schemeClr val="accent3"/>
                </a:solidFill>
              </a:rPr>
              <a:t>self</a:t>
            </a:r>
            <a:r>
              <a:rPr lang="en-GB" sz="1800" dirty="0" err="1">
                <a:solidFill>
                  <a:schemeClr val="accent1"/>
                </a:solidFill>
              </a:rPr>
              <a:t>.</a:t>
            </a:r>
            <a:r>
              <a:rPr lang="en-GB" sz="1800" dirty="0" err="1">
                <a:solidFill>
                  <a:schemeClr val="accent6"/>
                </a:solidFill>
              </a:rPr>
              <a:t>_exchange</a:t>
            </a:r>
            <a:r>
              <a:rPr lang="en-GB" sz="1800" dirty="0">
                <a:solidFill>
                  <a:schemeClr val="accent1"/>
                </a:solidFill>
              </a:rPr>
              <a:t>(</a:t>
            </a:r>
            <a:r>
              <a:rPr lang="en-GB" sz="1800" dirty="0" err="1"/>
              <a:t>i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j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/>
              <a:t>dx_received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/>
              <a:t>min_dy</a:t>
            </a:r>
            <a:r>
              <a:rPr lang="en-GB" sz="1800" dirty="0">
                <a:solidFill>
                  <a:schemeClr val="accent1"/>
                </a:solidFill>
              </a:rPr>
              <a:t>)</a:t>
            </a:r>
          </a:p>
          <a:p>
            <a:endParaRPr lang="en-GB" sz="1800" dirty="0"/>
          </a:p>
          <a:p>
            <a:r>
              <a:rPr lang="en-GB" sz="1800" dirty="0">
                <a:solidFill>
                  <a:schemeClr val="accent5"/>
                </a:solidFill>
              </a:rPr>
              <a:t>  # _</a:t>
            </a:r>
            <a:r>
              <a:rPr lang="en-GB" sz="1800" dirty="0" err="1">
                <a:solidFill>
                  <a:schemeClr val="accent5"/>
                </a:solidFill>
              </a:rPr>
              <a:t>transfer_out</a:t>
            </a:r>
            <a:r>
              <a:rPr lang="en-GB" sz="1800" dirty="0">
                <a:solidFill>
                  <a:schemeClr val="accent5"/>
                </a:solidFill>
              </a:rPr>
              <a:t> updates </a:t>
            </a:r>
            <a:r>
              <a:rPr lang="en-GB" sz="1800" dirty="0" err="1">
                <a:solidFill>
                  <a:schemeClr val="accent5"/>
                </a:solidFill>
              </a:rPr>
              <a:t>self.balances</a:t>
            </a:r>
            <a:r>
              <a:rPr lang="en-GB" sz="1800" dirty="0">
                <a:solidFill>
                  <a:schemeClr val="accent5"/>
                </a:solidFill>
              </a:rPr>
              <a:t> here.</a:t>
            </a:r>
          </a:p>
          <a:p>
            <a:r>
              <a:rPr lang="en-GB" sz="1800" dirty="0">
                <a:solidFill>
                  <a:schemeClr val="accent5"/>
                </a:solidFill>
              </a:rPr>
              <a:t>  # Update to state occurs before external calls:</a:t>
            </a:r>
          </a:p>
          <a:p>
            <a:r>
              <a:rPr lang="en-GB" sz="1800" dirty="0"/>
              <a:t>  </a:t>
            </a:r>
            <a:r>
              <a:rPr lang="en-GB" sz="1800" dirty="0">
                <a:solidFill>
                  <a:schemeClr val="accent3"/>
                </a:solidFill>
              </a:rPr>
              <a:t>self</a:t>
            </a:r>
            <a:r>
              <a:rPr lang="en-GB" sz="1800" dirty="0">
                <a:solidFill>
                  <a:schemeClr val="accent6"/>
                </a:solidFill>
              </a:rPr>
              <a:t>._</a:t>
            </a:r>
            <a:r>
              <a:rPr lang="en-GB" sz="1800" dirty="0" err="1">
                <a:solidFill>
                  <a:schemeClr val="accent6"/>
                </a:solidFill>
              </a:rPr>
              <a:t>transfer_out</a:t>
            </a:r>
            <a:r>
              <a:rPr lang="en-GB" sz="1800" dirty="0">
                <a:solidFill>
                  <a:schemeClr val="accent1"/>
                </a:solidFill>
              </a:rPr>
              <a:t>(</a:t>
            </a:r>
            <a:r>
              <a:rPr lang="en-GB" sz="1800" dirty="0"/>
              <a:t>j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out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0</a:t>
            </a:r>
            <a:r>
              <a:rPr lang="en-GB" sz="1800" dirty="0">
                <a:solidFill>
                  <a:schemeClr val="accent1"/>
                </a:solidFill>
              </a:rPr>
              <a:t>]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>
                <a:solidFill>
                  <a:schemeClr val="accent3"/>
                </a:solidFill>
              </a:rPr>
              <a:t>msg</a:t>
            </a:r>
            <a:r>
              <a:rPr lang="en-GB" sz="1800" dirty="0" err="1">
                <a:solidFill>
                  <a:schemeClr val="accent1"/>
                </a:solidFill>
              </a:rPr>
              <a:t>.</a:t>
            </a:r>
            <a:r>
              <a:rPr lang="en-GB" sz="1800" dirty="0" err="1">
                <a:solidFill>
                  <a:schemeClr val="accent3"/>
                </a:solidFill>
              </a:rPr>
              <a:t>sender</a:t>
            </a:r>
            <a:r>
              <a:rPr lang="en-GB" sz="1800" dirty="0">
                <a:solidFill>
                  <a:schemeClr val="accent1"/>
                </a:solidFill>
              </a:rPr>
              <a:t>)</a:t>
            </a:r>
          </a:p>
          <a:p>
            <a:endParaRPr lang="en-GB" sz="1800" dirty="0"/>
          </a:p>
          <a:p>
            <a:r>
              <a:rPr lang="en-GB" sz="1800" dirty="0"/>
              <a:t>  </a:t>
            </a:r>
            <a:r>
              <a:rPr lang="en-GB" sz="1800" dirty="0">
                <a:solidFill>
                  <a:schemeClr val="accent1"/>
                </a:solidFill>
              </a:rPr>
              <a:t>log</a:t>
            </a:r>
            <a:r>
              <a:rPr lang="en-GB" sz="1800" dirty="0"/>
              <a:t> </a:t>
            </a:r>
            <a:r>
              <a:rPr lang="en-GB" sz="1800" dirty="0" err="1">
                <a:solidFill>
                  <a:schemeClr val="accent6"/>
                </a:solidFill>
              </a:rPr>
              <a:t>TokenExchange</a:t>
            </a:r>
            <a:r>
              <a:rPr lang="en-GB" sz="1800" dirty="0">
                <a:solidFill>
                  <a:schemeClr val="accent1"/>
                </a:solidFill>
              </a:rPr>
              <a:t>(</a:t>
            </a:r>
            <a:r>
              <a:rPr lang="en-GB" sz="1800" dirty="0" err="1">
                <a:solidFill>
                  <a:schemeClr val="accent3"/>
                </a:solidFill>
              </a:rPr>
              <a:t>msg</a:t>
            </a:r>
            <a:r>
              <a:rPr lang="en-GB" sz="1800" dirty="0" err="1"/>
              <a:t>.</a:t>
            </a:r>
            <a:r>
              <a:rPr lang="en-GB" sz="1800" dirty="0" err="1">
                <a:solidFill>
                  <a:schemeClr val="accent3"/>
                </a:solidFill>
              </a:rPr>
              <a:t>sender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/>
              <a:t>i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/>
              <a:t>dx_received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j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out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0</a:t>
            </a:r>
            <a:r>
              <a:rPr lang="en-GB" sz="1800" dirty="0">
                <a:solidFill>
                  <a:schemeClr val="accent1"/>
                </a:solidFill>
              </a:rPr>
              <a:t>]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out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1</a:t>
            </a:r>
            <a:r>
              <a:rPr lang="en-GB" sz="1800" dirty="0">
                <a:solidFill>
                  <a:schemeClr val="accent1"/>
                </a:solidFill>
              </a:rPr>
              <a:t>]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out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2</a:t>
            </a:r>
            <a:r>
              <a:rPr lang="en-GB" sz="1800" dirty="0">
                <a:solidFill>
                  <a:schemeClr val="accent1"/>
                </a:solidFill>
              </a:rPr>
              <a:t>])</a:t>
            </a:r>
          </a:p>
          <a:p>
            <a:endParaRPr lang="en-GB" sz="1800" dirty="0"/>
          </a:p>
          <a:p>
            <a:r>
              <a:rPr lang="en-GB" sz="1800" dirty="0"/>
              <a:t>  </a:t>
            </a:r>
            <a:r>
              <a:rPr lang="en-GB" sz="1800" dirty="0">
                <a:solidFill>
                  <a:schemeClr val="accent1"/>
                </a:solidFill>
              </a:rPr>
              <a:t>return</a:t>
            </a:r>
            <a:r>
              <a:rPr lang="en-GB" sz="1800" dirty="0"/>
              <a:t> out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0</a:t>
            </a:r>
            <a:r>
              <a:rPr lang="en-GB" sz="1800" dirty="0">
                <a:solidFill>
                  <a:schemeClr val="accent1"/>
                </a:solidFill>
              </a:rPr>
              <a:t>]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6551274E-5B88-B413-8C0A-EB3D995BF9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C8027EE-2D8D-4737-003E-417AA169D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Taming Reentrancy with Auditable Language Design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357E5AD-CFFD-A13B-184B-D33E6AE2A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lvl="0">
                <a:defRPr/>
              </a:pPr>
              <a:t>17</a:t>
            </a:fld>
            <a:r>
              <a:rPr kumimoji="0" lang="en-CH" sz="1200" b="0" i="0" u="none" strike="noStrike" kern="1200" cap="none" spc="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</a:t>
            </a:r>
            <a:r>
              <a:rPr lang="en-GB" dirty="0"/>
              <a:t>40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5C35EB-1F14-1F58-3578-2E767AA9AD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811351"/>
            <a:ext cx="9418983" cy="1227703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Let’s pretend we’re auditing this code</a:t>
            </a:r>
          </a:p>
          <a:p>
            <a:pPr marL="0" indent="0">
              <a:buNone/>
            </a:pPr>
            <a:r>
              <a:rPr lang="en-GB" i="1" dirty="0"/>
              <a:t>→ What are all the side effects?</a:t>
            </a:r>
            <a:endParaRPr lang="en-CH" i="1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0E7F6979-58E7-7427-84E9-989BCA2CDE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8057" y="2316584"/>
            <a:ext cx="386030" cy="3964946"/>
          </a:xfrm>
        </p:spPr>
        <p:txBody>
          <a:bodyPr/>
          <a:lstStyle/>
          <a:p>
            <a:r>
              <a:rPr lang="en-CH" sz="1800" dirty="0"/>
              <a:t> 1</a:t>
            </a:r>
          </a:p>
          <a:p>
            <a:r>
              <a:rPr lang="en-CH" sz="1800" dirty="0"/>
              <a:t> 2</a:t>
            </a:r>
          </a:p>
          <a:p>
            <a:r>
              <a:rPr lang="en-CH" sz="1800" dirty="0"/>
              <a:t> 3</a:t>
            </a:r>
          </a:p>
          <a:p>
            <a:r>
              <a:rPr lang="en-CH" sz="1800" dirty="0"/>
              <a:t> 4</a:t>
            </a:r>
          </a:p>
          <a:p>
            <a:r>
              <a:rPr lang="en-CH" sz="1800" dirty="0"/>
              <a:t> 5</a:t>
            </a:r>
          </a:p>
          <a:p>
            <a:r>
              <a:rPr lang="en-CH" sz="1800" dirty="0"/>
              <a:t> 6</a:t>
            </a:r>
          </a:p>
          <a:p>
            <a:r>
              <a:rPr lang="en-CH" sz="1800" dirty="0"/>
              <a:t> 7</a:t>
            </a:r>
          </a:p>
          <a:p>
            <a:r>
              <a:rPr lang="en-CH" sz="1800" dirty="0"/>
              <a:t> 8</a:t>
            </a:r>
          </a:p>
          <a:p>
            <a:r>
              <a:rPr lang="en-CH" sz="1800" dirty="0"/>
              <a:t> 9</a:t>
            </a:r>
          </a:p>
          <a:p>
            <a:r>
              <a:rPr lang="en-CH" sz="1800" dirty="0"/>
              <a:t>10</a:t>
            </a:r>
          </a:p>
          <a:p>
            <a:r>
              <a:rPr lang="en-CH" sz="1800" dirty="0"/>
              <a:t>11</a:t>
            </a:r>
          </a:p>
          <a:p>
            <a:r>
              <a:rPr lang="en-CH" sz="1800" dirty="0"/>
              <a:t>12</a:t>
            </a:r>
          </a:p>
          <a:p>
            <a:r>
              <a:rPr lang="en-CH" sz="1800" dirty="0"/>
              <a:t>13</a:t>
            </a:r>
          </a:p>
          <a:p>
            <a:r>
              <a:rPr lang="en-CH" sz="1800" dirty="0"/>
              <a:t>14</a:t>
            </a:r>
          </a:p>
          <a:p>
            <a:endParaRPr lang="en-CH" sz="1800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6A47716-12F0-B4A9-52F2-6554B474D34C}"/>
              </a:ext>
            </a:extLst>
          </p:cNvPr>
          <p:cNvCxnSpPr>
            <a:cxnSpLocks/>
          </p:cNvCxnSpPr>
          <p:nvPr/>
        </p:nvCxnSpPr>
        <p:spPr>
          <a:xfrm>
            <a:off x="714087" y="2316584"/>
            <a:ext cx="0" cy="3964946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6F46601-6C53-E4FC-D1B0-123281F13883}"/>
              </a:ext>
            </a:extLst>
          </p:cNvPr>
          <p:cNvGrpSpPr/>
          <p:nvPr/>
        </p:nvGrpSpPr>
        <p:grpSpPr>
          <a:xfrm>
            <a:off x="328053" y="2310194"/>
            <a:ext cx="11345052" cy="3971335"/>
            <a:chOff x="328053" y="2310194"/>
            <a:chExt cx="11345052" cy="397133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08120A34-E390-F553-3801-2836C57BC691}"/>
                </a:ext>
              </a:extLst>
            </p:cNvPr>
            <p:cNvSpPr/>
            <p:nvPr/>
          </p:nvSpPr>
          <p:spPr>
            <a:xfrm>
              <a:off x="328057" y="4044458"/>
              <a:ext cx="11345048" cy="2237071"/>
            </a:xfrm>
            <a:prstGeom prst="rect">
              <a:avLst/>
            </a:prstGeom>
            <a:solidFill>
              <a:schemeClr val="bg1">
                <a:alpha val="67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8F71ED97-1E32-23E0-5F65-D96B4D971144}"/>
                </a:ext>
              </a:extLst>
            </p:cNvPr>
            <p:cNvSpPr/>
            <p:nvPr/>
          </p:nvSpPr>
          <p:spPr>
            <a:xfrm>
              <a:off x="328053" y="2310194"/>
              <a:ext cx="11345048" cy="1118806"/>
            </a:xfrm>
            <a:prstGeom prst="rect">
              <a:avLst/>
            </a:prstGeom>
            <a:solidFill>
              <a:schemeClr val="bg1">
                <a:alpha val="67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FB18BBD-8137-A0E9-CEEF-2E242202593F}"/>
              </a:ext>
            </a:extLst>
          </p:cNvPr>
          <p:cNvGrpSpPr/>
          <p:nvPr/>
        </p:nvGrpSpPr>
        <p:grpSpPr>
          <a:xfrm>
            <a:off x="1003851" y="2594113"/>
            <a:ext cx="6640119" cy="2573198"/>
            <a:chOff x="1003851" y="2594113"/>
            <a:chExt cx="6640119" cy="2573198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262F3486-87E2-F79F-3062-B359474B8EC4}"/>
                </a:ext>
              </a:extLst>
            </p:cNvPr>
            <p:cNvGrpSpPr/>
            <p:nvPr/>
          </p:nvGrpSpPr>
          <p:grpSpPr>
            <a:xfrm>
              <a:off x="1003851" y="2594113"/>
              <a:ext cx="6640119" cy="2573198"/>
              <a:chOff x="1003851" y="2594113"/>
              <a:chExt cx="6640119" cy="2573198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64006B1-120D-D39E-EE07-2EC2E2E17F25}"/>
                  </a:ext>
                </a:extLst>
              </p:cNvPr>
              <p:cNvSpPr/>
              <p:nvPr/>
            </p:nvSpPr>
            <p:spPr>
              <a:xfrm>
                <a:off x="1003852" y="2594113"/>
                <a:ext cx="5943593" cy="675861"/>
              </a:xfrm>
              <a:prstGeom prst="rect">
                <a:avLst/>
              </a:prstGeom>
              <a:noFill/>
              <a:ln w="38100"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8318C1CD-39B4-368B-CCD8-D3AE1FCF47F7}"/>
                  </a:ext>
                </a:extLst>
              </p:cNvPr>
              <p:cNvSpPr/>
              <p:nvPr/>
            </p:nvSpPr>
            <p:spPr>
              <a:xfrm>
                <a:off x="1003851" y="4224130"/>
                <a:ext cx="6640119" cy="943181"/>
              </a:xfrm>
              <a:prstGeom prst="rect">
                <a:avLst/>
              </a:prstGeom>
              <a:noFill/>
              <a:ln w="38100"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5CF31A9-4C0C-5E3A-8604-0DBC5AA9A9EF}"/>
                </a:ext>
              </a:extLst>
            </p:cNvPr>
            <p:cNvSpPr txBox="1"/>
            <p:nvPr/>
          </p:nvSpPr>
          <p:spPr>
            <a:xfrm>
              <a:off x="1719465" y="3547503"/>
              <a:ext cx="3657605" cy="461665"/>
            </a:xfrm>
            <a:prstGeom prst="rect">
              <a:avLst/>
            </a:prstGeom>
            <a:solidFill>
              <a:schemeClr val="accent1"/>
            </a:solidFill>
            <a:ln w="38100">
              <a:solidFill>
                <a:schemeClr val="accent1">
                  <a:lumMod val="75000"/>
                </a:schemeClr>
              </a:solidFill>
            </a:ln>
            <a:effectLst>
              <a:outerShdw blurRad="114300" dist="635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lstStyle/>
            <a:p>
              <a:r>
                <a:rPr lang="en-GB" sz="2400" b="1" i="1" dirty="0">
                  <a:solidFill>
                    <a:schemeClr val="bg1"/>
                  </a:solidFill>
                </a:rPr>
                <a:t>Let’s trust the developer!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003CD34-8CF8-7920-7278-8AD218737DBF}"/>
              </a:ext>
            </a:extLst>
          </p:cNvPr>
          <p:cNvGrpSpPr/>
          <p:nvPr/>
        </p:nvGrpSpPr>
        <p:grpSpPr>
          <a:xfrm>
            <a:off x="6649278" y="2747377"/>
            <a:ext cx="3319670" cy="369332"/>
            <a:chOff x="6649278" y="2747377"/>
            <a:chExt cx="3319670" cy="36933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6092DE2-CBC6-208A-EE07-5C684DECF9AA}"/>
                </a:ext>
              </a:extLst>
            </p:cNvPr>
            <p:cNvSpPr txBox="1"/>
            <p:nvPr/>
          </p:nvSpPr>
          <p:spPr>
            <a:xfrm>
              <a:off x="7237209" y="2747377"/>
              <a:ext cx="2731739" cy="369332"/>
            </a:xfrm>
            <a:prstGeom prst="rect">
              <a:avLst/>
            </a:prstGeom>
            <a:solidFill>
              <a:schemeClr val="accent1"/>
            </a:solidFill>
            <a:ln w="38100">
              <a:solidFill>
                <a:schemeClr val="accent1">
                  <a:lumMod val="75000"/>
                </a:schemeClr>
              </a:solidFill>
            </a:ln>
            <a:effectLst>
              <a:outerShdw blurRad="114300" dist="635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lstStyle/>
            <a:p>
              <a:r>
                <a:rPr lang="en-GB" b="1" i="1" dirty="0">
                  <a:solidFill>
                    <a:schemeClr val="bg1"/>
                  </a:solidFill>
                </a:rPr>
                <a:t>Extra external call here!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84933E38-2352-2B41-FBE2-5CC232092638}"/>
                </a:ext>
              </a:extLst>
            </p:cNvPr>
            <p:cNvCxnSpPr>
              <a:stCxn id="19" idx="1"/>
            </p:cNvCxnSpPr>
            <p:nvPr/>
          </p:nvCxnSpPr>
          <p:spPr>
            <a:xfrm flipH="1">
              <a:off x="6649278" y="2932043"/>
              <a:ext cx="587931" cy="89453"/>
            </a:xfrm>
            <a:prstGeom prst="straightConnector1">
              <a:avLst/>
            </a:prstGeom>
            <a:ln w="38100">
              <a:solidFill>
                <a:schemeClr val="accent1">
                  <a:lumMod val="75000"/>
                </a:schemeClr>
              </a:solidFill>
              <a:tailEnd type="triangle" w="lg" len="lg"/>
            </a:ln>
            <a:effectLst>
              <a:outerShdw blurRad="114300" dist="63500" dir="2700000" algn="tl" rotWithShape="0">
                <a:prstClr val="black">
                  <a:alpha val="50000"/>
                </a:prst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Rectangle 26">
            <a:extLst>
              <a:ext uri="{FF2B5EF4-FFF2-40B4-BE49-F238E27FC236}">
                <a16:creationId xmlns:a16="http://schemas.microsoft.com/office/drawing/2014/main" id="{61D33A27-766D-A641-913E-40908011247B}"/>
              </a:ext>
            </a:extLst>
          </p:cNvPr>
          <p:cNvSpPr/>
          <p:nvPr/>
        </p:nvSpPr>
        <p:spPr>
          <a:xfrm>
            <a:off x="1321904" y="3429000"/>
            <a:ext cx="3359407" cy="357809"/>
          </a:xfrm>
          <a:prstGeom prst="rect">
            <a:avLst/>
          </a:prstGeom>
          <a:noFill/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9D8967E-3757-5E64-6151-CE0BF07CAC57}"/>
              </a:ext>
            </a:extLst>
          </p:cNvPr>
          <p:cNvSpPr/>
          <p:nvPr/>
        </p:nvSpPr>
        <p:spPr>
          <a:xfrm>
            <a:off x="4244009" y="3706529"/>
            <a:ext cx="1361661" cy="334004"/>
          </a:xfrm>
          <a:prstGeom prst="rect">
            <a:avLst/>
          </a:prstGeom>
          <a:noFill/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17276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27" grpId="1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2CDB3-D066-AA1D-B194-0160FE2D3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81C0CC55-D537-6813-595A-CCD3A1D6A6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Taming Reentrancy with Auditable Language Design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57BE8F70-D1B3-697F-1589-28A74FFDF8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lvl="0">
                <a:defRPr/>
              </a:pPr>
              <a:t>18</a:t>
            </a:fld>
            <a:r>
              <a:rPr kumimoji="0" lang="en-CH" sz="1200" b="0" i="0" u="none" strike="noStrike" kern="1200" cap="none" spc="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</a:t>
            </a:r>
            <a:r>
              <a:rPr lang="en-GB" dirty="0"/>
              <a:t>40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0B15366B-036D-2ABF-613B-9F3DDDC031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0886" y="136525"/>
            <a:ext cx="6011114" cy="6582694"/>
          </a:xfrm>
          <a:prstGeom prst="rect">
            <a:avLst/>
          </a:prstGeom>
        </p:spPr>
      </p:pic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5F2684EF-EF40-A034-A93E-03BDDE73F8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A1A75E61-4958-DA76-A860-64090C69DE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936" y="-1128"/>
            <a:ext cx="5770179" cy="6858000"/>
          </a:xfrm>
          <a:prstGeom prst="rect">
            <a:avLst/>
          </a:prstGeom>
        </p:spPr>
      </p:pic>
      <p:grpSp>
        <p:nvGrpSpPr>
          <p:cNvPr id="40" name="Group 39">
            <a:extLst>
              <a:ext uri="{FF2B5EF4-FFF2-40B4-BE49-F238E27FC236}">
                <a16:creationId xmlns:a16="http://schemas.microsoft.com/office/drawing/2014/main" id="{F6E7908A-4B76-548A-9F37-5AFB3DB09FD7}"/>
              </a:ext>
            </a:extLst>
          </p:cNvPr>
          <p:cNvGrpSpPr/>
          <p:nvPr/>
        </p:nvGrpSpPr>
        <p:grpSpPr>
          <a:xfrm>
            <a:off x="6011115" y="3427872"/>
            <a:ext cx="3649719" cy="2948356"/>
            <a:chOff x="6011115" y="3427872"/>
            <a:chExt cx="3649719" cy="2948356"/>
          </a:xfrm>
          <a:effectLst>
            <a:outerShdw blurRad="114300" dist="762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5C8BC9E3-17DF-44A0-B7BF-2AD325072480}"/>
                </a:ext>
              </a:extLst>
            </p:cNvPr>
            <p:cNvSpPr/>
            <p:nvPr/>
          </p:nvSpPr>
          <p:spPr>
            <a:xfrm>
              <a:off x="8153400" y="6011102"/>
              <a:ext cx="1507434" cy="365126"/>
            </a:xfrm>
            <a:prstGeom prst="rect">
              <a:avLst/>
            </a:prstGeom>
            <a:noFill/>
            <a:ln w="381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F7D887D4-E1C3-B28F-A1DB-BB554F21CC60}"/>
                </a:ext>
              </a:extLst>
            </p:cNvPr>
            <p:cNvCxnSpPr>
              <a:cxnSpLocks/>
              <a:stCxn id="31" idx="3"/>
            </p:cNvCxnSpPr>
            <p:nvPr/>
          </p:nvCxnSpPr>
          <p:spPr>
            <a:xfrm>
              <a:off x="6011115" y="3427872"/>
              <a:ext cx="2307937" cy="2416337"/>
            </a:xfrm>
            <a:prstGeom prst="straightConnector1">
              <a:avLst/>
            </a:prstGeom>
            <a:ln w="63500">
              <a:solidFill>
                <a:schemeClr val="accent1">
                  <a:lumMod val="75000"/>
                </a:schemeClr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65BB97F6-029A-DEDF-FD5A-D218FB3DFB0E}"/>
              </a:ext>
            </a:extLst>
          </p:cNvPr>
          <p:cNvSpPr txBox="1"/>
          <p:nvPr/>
        </p:nvSpPr>
        <p:spPr>
          <a:xfrm>
            <a:off x="5311322" y="5958624"/>
            <a:ext cx="2594113" cy="46166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sz="2400" b="1" i="1" dirty="0">
                <a:solidFill>
                  <a:schemeClr val="bg1"/>
                </a:solidFill>
              </a:rPr>
              <a:t>Another 200 LoC!</a:t>
            </a:r>
          </a:p>
        </p:txBody>
      </p:sp>
    </p:spTree>
    <p:extLst>
      <p:ext uri="{BB962C8B-B14F-4D97-AF65-F5344CB8AC3E}">
        <p14:creationId xmlns:p14="http://schemas.microsoft.com/office/powerpoint/2010/main" val="32230535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5F0A7-1E15-7D9B-E7E1-6A381F2CB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94E91E9-D240-7413-1D2F-AF17AF144F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4087" y="2316584"/>
            <a:ext cx="10959022" cy="3964946"/>
          </a:xfrm>
        </p:spPr>
        <p:txBody>
          <a:bodyPr/>
          <a:lstStyle/>
          <a:p>
            <a:r>
              <a:rPr lang="en-GB" sz="1800" dirty="0">
                <a:solidFill>
                  <a:schemeClr val="accent2"/>
                </a:solidFill>
              </a:rPr>
              <a:t>def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6"/>
                </a:solidFill>
              </a:rPr>
              <a:t>exchange</a:t>
            </a:r>
            <a:r>
              <a:rPr lang="en-GB" sz="1800" dirty="0">
                <a:solidFill>
                  <a:schemeClr val="accent1"/>
                </a:solidFill>
              </a:rPr>
              <a:t>(</a:t>
            </a:r>
            <a:r>
              <a:rPr lang="en-GB" sz="1800" dirty="0" err="1"/>
              <a:t>i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/>
              <a:t>, j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dx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/>
              <a:t>min_dy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>
                <a:solidFill>
                  <a:schemeClr val="accent1"/>
                </a:solidFill>
              </a:rPr>
              <a:t>) -&gt;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/>
              <a:t>:</a:t>
            </a:r>
          </a:p>
          <a:p>
            <a:r>
              <a:rPr lang="en-GB" sz="1800" dirty="0"/>
              <a:t>  </a:t>
            </a:r>
            <a:r>
              <a:rPr lang="en-GB" sz="1800" dirty="0">
                <a:solidFill>
                  <a:schemeClr val="accent5"/>
                </a:solidFill>
              </a:rPr>
              <a:t># _</a:t>
            </a:r>
            <a:r>
              <a:rPr lang="en-GB" sz="1800" dirty="0" err="1">
                <a:solidFill>
                  <a:schemeClr val="accent5"/>
                </a:solidFill>
              </a:rPr>
              <a:t>transfer_in</a:t>
            </a:r>
            <a:r>
              <a:rPr lang="en-GB" sz="1800" dirty="0">
                <a:solidFill>
                  <a:schemeClr val="accent5"/>
                </a:solidFill>
              </a:rPr>
              <a:t> updates </a:t>
            </a:r>
            <a:r>
              <a:rPr lang="en-GB" sz="1800" dirty="0" err="1">
                <a:solidFill>
                  <a:schemeClr val="accent5"/>
                </a:solidFill>
              </a:rPr>
              <a:t>self.balances</a:t>
            </a:r>
            <a:r>
              <a:rPr lang="en-GB" sz="1800" dirty="0">
                <a:solidFill>
                  <a:schemeClr val="accent5"/>
                </a:solidFill>
              </a:rPr>
              <a:t> here:</a:t>
            </a:r>
          </a:p>
          <a:p>
            <a:r>
              <a:rPr lang="en-GB" sz="1800" dirty="0"/>
              <a:t>  </a:t>
            </a:r>
            <a:r>
              <a:rPr lang="en-GB" sz="1800" dirty="0" err="1"/>
              <a:t>dx_received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1"/>
                </a:solidFill>
              </a:rPr>
              <a:t>=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3"/>
                </a:solidFill>
              </a:rPr>
              <a:t>self</a:t>
            </a:r>
            <a:r>
              <a:rPr lang="en-GB" sz="1800" dirty="0">
                <a:solidFill>
                  <a:schemeClr val="accent1"/>
                </a:solidFill>
              </a:rPr>
              <a:t>.</a:t>
            </a:r>
            <a:r>
              <a:rPr lang="en-GB" sz="1800" dirty="0">
                <a:solidFill>
                  <a:schemeClr val="accent6"/>
                </a:solidFill>
              </a:rPr>
              <a:t>_</a:t>
            </a:r>
            <a:r>
              <a:rPr lang="en-GB" sz="1800" dirty="0" err="1">
                <a:solidFill>
                  <a:schemeClr val="accent6"/>
                </a:solidFill>
              </a:rPr>
              <a:t>transfer_in</a:t>
            </a:r>
            <a:r>
              <a:rPr lang="en-GB" sz="1800" dirty="0">
                <a:solidFill>
                  <a:schemeClr val="accent1"/>
                </a:solidFill>
              </a:rPr>
              <a:t>(</a:t>
            </a:r>
            <a:r>
              <a:rPr lang="en-GB" sz="1800" dirty="0" err="1"/>
              <a:t>i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dx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>
                <a:solidFill>
                  <a:schemeClr val="accent3"/>
                </a:solidFill>
              </a:rPr>
              <a:t>msg</a:t>
            </a:r>
            <a:r>
              <a:rPr lang="en-GB" sz="1800" dirty="0" err="1">
                <a:solidFill>
                  <a:schemeClr val="accent1"/>
                </a:solidFill>
              </a:rPr>
              <a:t>.</a:t>
            </a:r>
            <a:r>
              <a:rPr lang="en-GB" sz="1800" dirty="0" err="1">
                <a:solidFill>
                  <a:schemeClr val="accent3"/>
                </a:solidFill>
              </a:rPr>
              <a:t>sender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4"/>
                </a:solidFill>
              </a:rPr>
              <a:t>False</a:t>
            </a:r>
            <a:r>
              <a:rPr lang="en-GB" sz="1800" dirty="0">
                <a:solidFill>
                  <a:schemeClr val="accent1"/>
                </a:solidFill>
              </a:rPr>
              <a:t>)</a:t>
            </a:r>
          </a:p>
          <a:p>
            <a:endParaRPr lang="en-GB" sz="1800" dirty="0"/>
          </a:p>
          <a:p>
            <a:r>
              <a:rPr lang="en-GB" sz="1800" dirty="0"/>
              <a:t>  </a:t>
            </a:r>
            <a:r>
              <a:rPr lang="en-GB" sz="1800" dirty="0">
                <a:solidFill>
                  <a:schemeClr val="accent5"/>
                </a:solidFill>
              </a:rPr>
              <a:t># No ERC20 token transfers occur here:</a:t>
            </a:r>
          </a:p>
          <a:p>
            <a:r>
              <a:rPr lang="en-GB" sz="1800" dirty="0"/>
              <a:t>  out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3</a:t>
            </a:r>
            <a:r>
              <a:rPr lang="en-GB" sz="1800" dirty="0">
                <a:solidFill>
                  <a:schemeClr val="accent1"/>
                </a:solidFill>
              </a:rPr>
              <a:t>]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1"/>
                </a:solidFill>
              </a:rPr>
              <a:t>=</a:t>
            </a:r>
            <a:r>
              <a:rPr lang="en-GB" sz="1800" dirty="0"/>
              <a:t> </a:t>
            </a:r>
            <a:r>
              <a:rPr lang="en-GB" sz="1800" dirty="0" err="1">
                <a:solidFill>
                  <a:schemeClr val="accent3"/>
                </a:solidFill>
              </a:rPr>
              <a:t>self</a:t>
            </a:r>
            <a:r>
              <a:rPr lang="en-GB" sz="1800" dirty="0" err="1">
                <a:solidFill>
                  <a:schemeClr val="accent1"/>
                </a:solidFill>
              </a:rPr>
              <a:t>.</a:t>
            </a:r>
            <a:r>
              <a:rPr lang="en-GB" sz="1800" dirty="0" err="1">
                <a:solidFill>
                  <a:schemeClr val="accent6"/>
                </a:solidFill>
              </a:rPr>
              <a:t>_exchange</a:t>
            </a:r>
            <a:r>
              <a:rPr lang="en-GB" sz="1800" dirty="0">
                <a:solidFill>
                  <a:schemeClr val="accent1"/>
                </a:solidFill>
              </a:rPr>
              <a:t>(</a:t>
            </a:r>
            <a:r>
              <a:rPr lang="en-GB" sz="1800" dirty="0" err="1"/>
              <a:t>i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j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/>
              <a:t>dx_received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/>
              <a:t>min_dy</a:t>
            </a:r>
            <a:r>
              <a:rPr lang="en-GB" sz="1800" dirty="0">
                <a:solidFill>
                  <a:schemeClr val="accent1"/>
                </a:solidFill>
              </a:rPr>
              <a:t>)</a:t>
            </a:r>
          </a:p>
          <a:p>
            <a:endParaRPr lang="en-GB" sz="1800" dirty="0"/>
          </a:p>
          <a:p>
            <a:r>
              <a:rPr lang="en-GB" sz="1800" dirty="0">
                <a:solidFill>
                  <a:schemeClr val="accent5"/>
                </a:solidFill>
              </a:rPr>
              <a:t>  # _</a:t>
            </a:r>
            <a:r>
              <a:rPr lang="en-GB" sz="1800" dirty="0" err="1">
                <a:solidFill>
                  <a:schemeClr val="accent5"/>
                </a:solidFill>
              </a:rPr>
              <a:t>transfer_out</a:t>
            </a:r>
            <a:r>
              <a:rPr lang="en-GB" sz="1800" dirty="0">
                <a:solidFill>
                  <a:schemeClr val="accent5"/>
                </a:solidFill>
              </a:rPr>
              <a:t> updates </a:t>
            </a:r>
            <a:r>
              <a:rPr lang="en-GB" sz="1800" dirty="0" err="1">
                <a:solidFill>
                  <a:schemeClr val="accent5"/>
                </a:solidFill>
              </a:rPr>
              <a:t>self.balances</a:t>
            </a:r>
            <a:r>
              <a:rPr lang="en-GB" sz="1800" dirty="0">
                <a:solidFill>
                  <a:schemeClr val="accent5"/>
                </a:solidFill>
              </a:rPr>
              <a:t> here.</a:t>
            </a:r>
          </a:p>
          <a:p>
            <a:r>
              <a:rPr lang="en-GB" sz="1800" dirty="0">
                <a:solidFill>
                  <a:schemeClr val="accent5"/>
                </a:solidFill>
              </a:rPr>
              <a:t>  # Update to state occurs before external calls:</a:t>
            </a:r>
          </a:p>
          <a:p>
            <a:r>
              <a:rPr lang="en-GB" sz="1800" dirty="0"/>
              <a:t>  </a:t>
            </a:r>
            <a:r>
              <a:rPr lang="en-GB" sz="1800" dirty="0">
                <a:solidFill>
                  <a:schemeClr val="accent3"/>
                </a:solidFill>
              </a:rPr>
              <a:t>self</a:t>
            </a:r>
            <a:r>
              <a:rPr lang="en-GB" sz="1800" dirty="0">
                <a:solidFill>
                  <a:schemeClr val="accent6"/>
                </a:solidFill>
              </a:rPr>
              <a:t>._</a:t>
            </a:r>
            <a:r>
              <a:rPr lang="en-GB" sz="1800" dirty="0" err="1">
                <a:solidFill>
                  <a:schemeClr val="accent6"/>
                </a:solidFill>
              </a:rPr>
              <a:t>transfer_out</a:t>
            </a:r>
            <a:r>
              <a:rPr lang="en-GB" sz="1800" dirty="0">
                <a:solidFill>
                  <a:schemeClr val="accent1"/>
                </a:solidFill>
              </a:rPr>
              <a:t>(</a:t>
            </a:r>
            <a:r>
              <a:rPr lang="en-GB" sz="1800" dirty="0"/>
              <a:t>j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out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0</a:t>
            </a:r>
            <a:r>
              <a:rPr lang="en-GB" sz="1800" dirty="0">
                <a:solidFill>
                  <a:schemeClr val="accent1"/>
                </a:solidFill>
              </a:rPr>
              <a:t>]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>
                <a:solidFill>
                  <a:schemeClr val="accent3"/>
                </a:solidFill>
              </a:rPr>
              <a:t>msg</a:t>
            </a:r>
            <a:r>
              <a:rPr lang="en-GB" sz="1800" dirty="0" err="1">
                <a:solidFill>
                  <a:schemeClr val="accent1"/>
                </a:solidFill>
              </a:rPr>
              <a:t>.</a:t>
            </a:r>
            <a:r>
              <a:rPr lang="en-GB" sz="1800" dirty="0" err="1">
                <a:solidFill>
                  <a:schemeClr val="accent3"/>
                </a:solidFill>
              </a:rPr>
              <a:t>sender</a:t>
            </a:r>
            <a:r>
              <a:rPr lang="en-GB" sz="1800" dirty="0">
                <a:solidFill>
                  <a:schemeClr val="accent1"/>
                </a:solidFill>
              </a:rPr>
              <a:t>)</a:t>
            </a:r>
          </a:p>
          <a:p>
            <a:endParaRPr lang="en-GB" sz="1800" dirty="0"/>
          </a:p>
          <a:p>
            <a:r>
              <a:rPr lang="en-GB" sz="1800" dirty="0"/>
              <a:t>  </a:t>
            </a:r>
            <a:r>
              <a:rPr lang="en-GB" sz="1800" dirty="0">
                <a:solidFill>
                  <a:schemeClr val="accent1"/>
                </a:solidFill>
              </a:rPr>
              <a:t>log</a:t>
            </a:r>
            <a:r>
              <a:rPr lang="en-GB" sz="1800" dirty="0"/>
              <a:t> </a:t>
            </a:r>
            <a:r>
              <a:rPr lang="en-GB" sz="1800" dirty="0" err="1">
                <a:solidFill>
                  <a:schemeClr val="accent6"/>
                </a:solidFill>
              </a:rPr>
              <a:t>TokenExchange</a:t>
            </a:r>
            <a:r>
              <a:rPr lang="en-GB" sz="1800" dirty="0">
                <a:solidFill>
                  <a:schemeClr val="accent1"/>
                </a:solidFill>
              </a:rPr>
              <a:t>(</a:t>
            </a:r>
            <a:r>
              <a:rPr lang="en-GB" sz="1800" dirty="0" err="1">
                <a:solidFill>
                  <a:schemeClr val="accent3"/>
                </a:solidFill>
              </a:rPr>
              <a:t>msg</a:t>
            </a:r>
            <a:r>
              <a:rPr lang="en-GB" sz="1800" dirty="0" err="1"/>
              <a:t>.</a:t>
            </a:r>
            <a:r>
              <a:rPr lang="en-GB" sz="1800" dirty="0" err="1">
                <a:solidFill>
                  <a:schemeClr val="accent3"/>
                </a:solidFill>
              </a:rPr>
              <a:t>sender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/>
              <a:t>i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/>
              <a:t>dx_received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j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out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0</a:t>
            </a:r>
            <a:r>
              <a:rPr lang="en-GB" sz="1800" dirty="0">
                <a:solidFill>
                  <a:schemeClr val="accent1"/>
                </a:solidFill>
              </a:rPr>
              <a:t>]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out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1</a:t>
            </a:r>
            <a:r>
              <a:rPr lang="en-GB" sz="1800" dirty="0">
                <a:solidFill>
                  <a:schemeClr val="accent1"/>
                </a:solidFill>
              </a:rPr>
              <a:t>]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out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2</a:t>
            </a:r>
            <a:r>
              <a:rPr lang="en-GB" sz="1800" dirty="0">
                <a:solidFill>
                  <a:schemeClr val="accent1"/>
                </a:solidFill>
              </a:rPr>
              <a:t>])</a:t>
            </a:r>
          </a:p>
          <a:p>
            <a:endParaRPr lang="en-GB" sz="1800" dirty="0"/>
          </a:p>
          <a:p>
            <a:r>
              <a:rPr lang="en-GB" sz="1800" dirty="0"/>
              <a:t>  </a:t>
            </a:r>
            <a:r>
              <a:rPr lang="en-GB" sz="1800" dirty="0">
                <a:solidFill>
                  <a:schemeClr val="accent1"/>
                </a:solidFill>
              </a:rPr>
              <a:t>return</a:t>
            </a:r>
            <a:r>
              <a:rPr lang="en-GB" sz="1800" dirty="0"/>
              <a:t> out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0</a:t>
            </a:r>
            <a:r>
              <a:rPr lang="en-GB" sz="1800" dirty="0">
                <a:solidFill>
                  <a:schemeClr val="accent1"/>
                </a:solidFill>
              </a:rPr>
              <a:t>]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AFA7516C-E150-AF1B-1AFD-9B3B46202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8A0301BD-6EC4-4975-E133-D7720A0958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Taming Reentrancy with Auditable Language Design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6F3B2F76-4C26-ADBF-849A-B1E4DC312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lvl="0">
                <a:defRPr/>
              </a:pPr>
              <a:t>19</a:t>
            </a:fld>
            <a:r>
              <a:rPr kumimoji="0" lang="en-CH" sz="1200" b="0" i="0" u="none" strike="noStrike" kern="1200" cap="none" spc="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</a:t>
            </a:r>
            <a:r>
              <a:rPr lang="en-GB" dirty="0"/>
              <a:t>40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B864F4-CB33-0A6C-BC08-D1007208B3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725557"/>
            <a:ext cx="9418983" cy="1516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Let’s pretend we’re auditing this code</a:t>
            </a:r>
          </a:p>
          <a:p>
            <a:pPr marL="0" indent="0">
              <a:buNone/>
            </a:pPr>
            <a:r>
              <a:rPr lang="en-GB" i="1" dirty="0"/>
              <a:t>→ What are all the side effects?</a:t>
            </a:r>
          </a:p>
          <a:p>
            <a:pPr marL="0" indent="0">
              <a:buNone/>
            </a:pPr>
            <a:r>
              <a:rPr lang="en-GB" i="1" dirty="0"/>
              <a:t>→ How do they interact with the external calls?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196D976-3091-EF97-8853-2F37765B8A9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8057" y="2316584"/>
            <a:ext cx="386030" cy="3964946"/>
          </a:xfrm>
        </p:spPr>
        <p:txBody>
          <a:bodyPr/>
          <a:lstStyle/>
          <a:p>
            <a:r>
              <a:rPr lang="en-CH" sz="1800" dirty="0"/>
              <a:t> 1</a:t>
            </a:r>
          </a:p>
          <a:p>
            <a:r>
              <a:rPr lang="en-CH" sz="1800" dirty="0"/>
              <a:t> 2</a:t>
            </a:r>
          </a:p>
          <a:p>
            <a:r>
              <a:rPr lang="en-CH" sz="1800" dirty="0"/>
              <a:t> 3</a:t>
            </a:r>
          </a:p>
          <a:p>
            <a:r>
              <a:rPr lang="en-CH" sz="1800" dirty="0"/>
              <a:t> 4</a:t>
            </a:r>
          </a:p>
          <a:p>
            <a:r>
              <a:rPr lang="en-CH" sz="1800" dirty="0"/>
              <a:t> 5</a:t>
            </a:r>
          </a:p>
          <a:p>
            <a:r>
              <a:rPr lang="en-CH" sz="1800" dirty="0"/>
              <a:t> 6</a:t>
            </a:r>
          </a:p>
          <a:p>
            <a:r>
              <a:rPr lang="en-CH" sz="1800" dirty="0"/>
              <a:t> 7</a:t>
            </a:r>
          </a:p>
          <a:p>
            <a:r>
              <a:rPr lang="en-CH" sz="1800" dirty="0"/>
              <a:t> 8</a:t>
            </a:r>
          </a:p>
          <a:p>
            <a:r>
              <a:rPr lang="en-CH" sz="1800" dirty="0"/>
              <a:t> 9</a:t>
            </a:r>
          </a:p>
          <a:p>
            <a:r>
              <a:rPr lang="en-CH" sz="1800" dirty="0"/>
              <a:t>10</a:t>
            </a:r>
          </a:p>
          <a:p>
            <a:r>
              <a:rPr lang="en-CH" sz="1800" dirty="0"/>
              <a:t>11</a:t>
            </a:r>
          </a:p>
          <a:p>
            <a:r>
              <a:rPr lang="en-CH" sz="1800" dirty="0"/>
              <a:t>12</a:t>
            </a:r>
          </a:p>
          <a:p>
            <a:r>
              <a:rPr lang="en-CH" sz="1800" dirty="0"/>
              <a:t>13</a:t>
            </a:r>
          </a:p>
          <a:p>
            <a:r>
              <a:rPr lang="en-CH" sz="1800" dirty="0"/>
              <a:t>14</a:t>
            </a:r>
          </a:p>
          <a:p>
            <a:endParaRPr lang="en-CH" sz="1800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7F3A28A-3E7A-2A9B-836F-22D190ED30DD}"/>
              </a:ext>
            </a:extLst>
          </p:cNvPr>
          <p:cNvCxnSpPr>
            <a:cxnSpLocks/>
          </p:cNvCxnSpPr>
          <p:nvPr/>
        </p:nvCxnSpPr>
        <p:spPr>
          <a:xfrm>
            <a:off x="714087" y="2316584"/>
            <a:ext cx="0" cy="3964946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AC08FC7-AEA9-7A33-84F0-7192A82DF8DB}"/>
              </a:ext>
            </a:extLst>
          </p:cNvPr>
          <p:cNvGrpSpPr/>
          <p:nvPr/>
        </p:nvGrpSpPr>
        <p:grpSpPr>
          <a:xfrm>
            <a:off x="328053" y="2310194"/>
            <a:ext cx="11345052" cy="3971335"/>
            <a:chOff x="328053" y="2310194"/>
            <a:chExt cx="11345052" cy="397133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AD5AB7CF-03E2-B960-D1EC-ACED4BD1D553}"/>
                </a:ext>
              </a:extLst>
            </p:cNvPr>
            <p:cNvSpPr/>
            <p:nvPr/>
          </p:nvSpPr>
          <p:spPr>
            <a:xfrm>
              <a:off x="328057" y="4044458"/>
              <a:ext cx="11345048" cy="2237071"/>
            </a:xfrm>
            <a:prstGeom prst="rect">
              <a:avLst/>
            </a:prstGeom>
            <a:solidFill>
              <a:schemeClr val="bg1">
                <a:alpha val="67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571D8556-932A-2D80-AA9C-F874F6F0EE02}"/>
                </a:ext>
              </a:extLst>
            </p:cNvPr>
            <p:cNvSpPr/>
            <p:nvPr/>
          </p:nvSpPr>
          <p:spPr>
            <a:xfrm>
              <a:off x="328053" y="2310194"/>
              <a:ext cx="11345048" cy="1118806"/>
            </a:xfrm>
            <a:prstGeom prst="rect">
              <a:avLst/>
            </a:prstGeom>
            <a:solidFill>
              <a:schemeClr val="bg1">
                <a:alpha val="67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4099817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5D7BE3-1BB2-916D-8952-2FA0E44BF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687EA-51A7-D638-C8BE-2AB1CCCB2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Effects in Calls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5EAF3B-65F9-DB65-7130-5CD1291796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H" dirty="0"/>
              <a:t>Issue:</a:t>
            </a:r>
          </a:p>
          <a:p>
            <a:r>
              <a:rPr lang="en-CH" dirty="0"/>
              <a:t>Unknown side effects in external call</a:t>
            </a:r>
          </a:p>
          <a:p>
            <a:r>
              <a:rPr lang="en-CH" dirty="0"/>
              <a:t>Internal state may change due to reentrant calls</a:t>
            </a:r>
          </a:p>
          <a:p>
            <a:pPr marL="0" indent="0">
              <a:buNone/>
            </a:pPr>
            <a:endParaRPr lang="en-CH" dirty="0"/>
          </a:p>
          <a:p>
            <a:pPr marL="0" indent="0">
              <a:buNone/>
            </a:pPr>
            <a:r>
              <a:rPr lang="en-CH" dirty="0">
                <a:latin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en-CH" i="1" dirty="0">
                <a:latin typeface="Calibri" panose="020F0502020204030204" pitchFamily="34" charset="0"/>
                <a:cs typeface="Calibri" panose="020F0502020204030204" pitchFamily="34" charset="0"/>
              </a:rPr>
              <a:t>We can leverage our reentrancy protection!</a:t>
            </a:r>
            <a:endParaRPr lang="en-CH" i="1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2ED1BAAB-31D8-1966-8F89-FC4A9F3272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400826C5-C031-5C1C-076C-77BFD544B7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Taming Reentrancy with Auditable Language Design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7FBE47B-9A63-B8C4-5CE0-8BA4944F2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lvl="0">
                <a:defRPr/>
              </a:pPr>
              <a:t>20</a:t>
            </a:fld>
            <a:r>
              <a:rPr kumimoji="0" lang="en-CH" sz="1200" b="0" i="0" u="none" strike="noStrike" kern="1200" cap="none" spc="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</a:t>
            </a:r>
            <a:r>
              <a:rPr lang="en-GB" dirty="0"/>
              <a:t>40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66073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E1850-B514-10C8-AB32-AA7C4A16D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F942A-BBFC-9E1F-856B-26B877C6E7C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55943" y="402259"/>
            <a:ext cx="5425850" cy="5919029"/>
          </a:xfrm>
        </p:spPr>
        <p:txBody>
          <a:bodyPr/>
          <a:lstStyle/>
          <a:p>
            <a:r>
              <a:rPr lang="en-CH" sz="1600" dirty="0">
                <a:solidFill>
                  <a:schemeClr val="accent1"/>
                </a:solidFill>
              </a:rPr>
              <a:t>contract</a:t>
            </a:r>
            <a:r>
              <a:rPr lang="en-CH" sz="1600" dirty="0"/>
              <a:t> </a:t>
            </a:r>
            <a:r>
              <a:rPr lang="en-GB" sz="1600" dirty="0">
                <a:solidFill>
                  <a:schemeClr val="accent2"/>
                </a:solidFill>
              </a:rPr>
              <a:t>FlashLoan</a:t>
            </a:r>
            <a:r>
              <a:rPr lang="en-CH" sz="1600" dirty="0"/>
              <a:t> </a:t>
            </a:r>
            <a:r>
              <a:rPr lang="en-CH" sz="1600" dirty="0">
                <a:solidFill>
                  <a:schemeClr val="accent1"/>
                </a:solidFill>
              </a:rPr>
              <a:t>{</a:t>
            </a:r>
          </a:p>
          <a:p>
            <a:r>
              <a:rPr lang="en-GB" sz="1600" dirty="0"/>
              <a:t>  debt</a:t>
            </a:r>
            <a:r>
              <a:rPr lang="en-CH" sz="1600" dirty="0">
                <a:solidFill>
                  <a:schemeClr val="accent1"/>
                </a:solidFill>
              </a:rPr>
              <a:t>:</a:t>
            </a:r>
            <a:r>
              <a:rPr lang="en-CH" sz="1600" dirty="0"/>
              <a:t> </a:t>
            </a:r>
            <a:r>
              <a:rPr lang="en-GB" sz="1600" dirty="0">
                <a:solidFill>
                  <a:schemeClr val="accent2"/>
                </a:solidFill>
              </a:rPr>
              <a:t>HashMap</a:t>
            </a:r>
            <a:r>
              <a:rPr lang="en-GB" sz="1600" dirty="0">
                <a:solidFill>
                  <a:schemeClr val="accent1"/>
                </a:solidFill>
              </a:rPr>
              <a:t>&lt;</a:t>
            </a:r>
            <a:r>
              <a:rPr lang="en-GB" sz="1600" dirty="0">
                <a:solidFill>
                  <a:schemeClr val="accent2"/>
                </a:solidFill>
              </a:rPr>
              <a:t>Address</a:t>
            </a:r>
            <a:r>
              <a:rPr lang="en-GB" sz="1600" dirty="0">
                <a:solidFill>
                  <a:schemeClr val="tx2"/>
                </a:solidFill>
              </a:rPr>
              <a:t>,</a:t>
            </a:r>
            <a:r>
              <a:rPr lang="en-GB" sz="1600" dirty="0"/>
              <a:t> </a:t>
            </a:r>
            <a:r>
              <a:rPr lang="en-CH" sz="1600" dirty="0">
                <a:solidFill>
                  <a:schemeClr val="accent2"/>
                </a:solidFill>
              </a:rPr>
              <a:t>u256</a:t>
            </a:r>
            <a:r>
              <a:rPr lang="en-GB" sz="1600" dirty="0">
                <a:solidFill>
                  <a:schemeClr val="accent1"/>
                </a:solidFill>
              </a:rPr>
              <a:t>&gt;</a:t>
            </a:r>
            <a:r>
              <a:rPr lang="en-GB" sz="1600" dirty="0">
                <a:solidFill>
                  <a:schemeClr val="tx2"/>
                </a:solidFill>
              </a:rPr>
              <a:t>;</a:t>
            </a:r>
            <a:endParaRPr lang="en-CH" sz="1600" dirty="0">
              <a:solidFill>
                <a:schemeClr val="tx2"/>
              </a:solidFill>
            </a:endParaRPr>
          </a:p>
          <a:p>
            <a:endParaRPr lang="en-GB" sz="1600" dirty="0">
              <a:solidFill>
                <a:schemeClr val="accent1"/>
              </a:solidFill>
            </a:endParaRPr>
          </a:p>
          <a:p>
            <a:r>
              <a:rPr lang="en-GB" sz="1600" dirty="0">
                <a:solidFill>
                  <a:schemeClr val="accent1"/>
                </a:solidFill>
              </a:rPr>
              <a:t>  </a:t>
            </a:r>
            <a:r>
              <a:rPr lang="en-CH" sz="1600" dirty="0">
                <a:solidFill>
                  <a:schemeClr val="accent1"/>
                </a:solidFill>
              </a:rPr>
              <a:t>pub fn</a:t>
            </a:r>
            <a:r>
              <a:rPr lang="en-CH" sz="1600" dirty="0"/>
              <a:t> </a:t>
            </a:r>
            <a:r>
              <a:rPr lang="en-GB" sz="1600" dirty="0">
                <a:solidFill>
                  <a:schemeClr val="accent6"/>
                </a:solidFill>
              </a:rPr>
              <a:t>repay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CH" sz="1600" dirty="0">
                <a:solidFill>
                  <a:schemeClr val="accent3"/>
                </a:solidFill>
              </a:rPr>
              <a:t>self</a:t>
            </a:r>
            <a:r>
              <a:rPr lang="en-CH" sz="1600" dirty="0">
                <a:solidFill>
                  <a:schemeClr val="accent1"/>
                </a:solidFill>
              </a:rPr>
              <a:t>)</a:t>
            </a:r>
            <a:endParaRPr lang="en-GB" sz="1600" dirty="0">
              <a:solidFill>
                <a:schemeClr val="accent1"/>
              </a:solidFill>
            </a:endParaRPr>
          </a:p>
          <a:p>
            <a:r>
              <a:rPr lang="en-GB" sz="1600" dirty="0">
                <a:solidFill>
                  <a:schemeClr val="accent1"/>
                </a:solidFill>
              </a:rPr>
              <a:t>    </a:t>
            </a:r>
            <a:r>
              <a:rPr lang="en-CH" sz="1600" dirty="0">
                <a:solidFill>
                  <a:schemeClr val="accent4"/>
                </a:solidFill>
              </a:rPr>
              <a:t>modifies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CH" sz="1600" dirty="0">
                <a:solidFill>
                  <a:schemeClr val="accent3"/>
                </a:solidFill>
              </a:rPr>
              <a:t>self</a:t>
            </a:r>
            <a:r>
              <a:rPr lang="en-CH" sz="1600" dirty="0">
                <a:solidFill>
                  <a:schemeClr val="accent1"/>
                </a:solidFill>
              </a:rPr>
              <a:t>.</a:t>
            </a:r>
            <a:r>
              <a:rPr lang="en-GB" sz="1600" dirty="0"/>
              <a:t>debt</a:t>
            </a:r>
            <a:r>
              <a:rPr lang="en-GB" sz="1600" dirty="0">
                <a:solidFill>
                  <a:schemeClr val="accent1"/>
                </a:solidFill>
              </a:rPr>
              <a:t>[</a:t>
            </a:r>
            <a:r>
              <a:rPr lang="en-GB" sz="1600" dirty="0">
                <a:solidFill>
                  <a:schemeClr val="tx2"/>
                </a:solidFill>
              </a:rPr>
              <a:t>…</a:t>
            </a:r>
            <a:r>
              <a:rPr lang="en-GB" sz="1600" dirty="0">
                <a:solidFill>
                  <a:schemeClr val="accent1"/>
                </a:solidFill>
              </a:rPr>
              <a:t>]</a:t>
            </a:r>
            <a:r>
              <a:rPr lang="en-CH" sz="1600" dirty="0">
                <a:solidFill>
                  <a:schemeClr val="accent1"/>
                </a:solidFill>
              </a:rPr>
              <a:t>)</a:t>
            </a:r>
            <a:endParaRPr lang="en-GB" sz="1600" dirty="0">
              <a:solidFill>
                <a:schemeClr val="accent1"/>
              </a:solidFill>
            </a:endParaRPr>
          </a:p>
          <a:p>
            <a:r>
              <a:rPr lang="en-GB" sz="1600" dirty="0">
                <a:solidFill>
                  <a:schemeClr val="accent1"/>
                </a:solidFill>
              </a:rPr>
              <a:t>  </a:t>
            </a:r>
            <a:r>
              <a:rPr lang="en-CH" sz="1600" dirty="0">
                <a:solidFill>
                  <a:schemeClr val="accent1"/>
                </a:solidFill>
              </a:rPr>
              <a:t>{</a:t>
            </a:r>
            <a:r>
              <a:rPr lang="en-GB" sz="1600" dirty="0">
                <a:solidFill>
                  <a:schemeClr val="tx2"/>
                </a:solidFill>
              </a:rPr>
              <a:t>…</a:t>
            </a:r>
            <a:r>
              <a:rPr lang="en-GB" sz="1600" dirty="0">
                <a:solidFill>
                  <a:schemeClr val="accent1"/>
                </a:solidFill>
              </a:rPr>
              <a:t>}</a:t>
            </a:r>
          </a:p>
          <a:p>
            <a:endParaRPr lang="en-GB" sz="1600" dirty="0">
              <a:solidFill>
                <a:schemeClr val="accent1"/>
              </a:solidFill>
            </a:endParaRPr>
          </a:p>
          <a:p>
            <a:r>
              <a:rPr lang="en-GB" sz="1600" dirty="0">
                <a:solidFill>
                  <a:schemeClr val="accent1"/>
                </a:solidFill>
              </a:rPr>
              <a:t>  </a:t>
            </a:r>
            <a:r>
              <a:rPr lang="en-CH" sz="1600" dirty="0">
                <a:solidFill>
                  <a:schemeClr val="accent1"/>
                </a:solidFill>
              </a:rPr>
              <a:t>pub</a:t>
            </a:r>
            <a:r>
              <a:rPr lang="en-CH" sz="1600" dirty="0"/>
              <a:t> </a:t>
            </a:r>
            <a:r>
              <a:rPr lang="en-CH" sz="1600" dirty="0">
                <a:solidFill>
                  <a:schemeClr val="accent1"/>
                </a:solidFill>
              </a:rPr>
              <a:t>fn</a:t>
            </a:r>
            <a:r>
              <a:rPr lang="en-CH" sz="1600" dirty="0"/>
              <a:t> </a:t>
            </a:r>
            <a:r>
              <a:rPr lang="en-GB" sz="1600" dirty="0">
                <a:solidFill>
                  <a:schemeClr val="accent6"/>
                </a:solidFill>
              </a:rPr>
              <a:t>flashLoan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CH" sz="1600" dirty="0">
                <a:solidFill>
                  <a:schemeClr val="accent3"/>
                </a:solidFill>
              </a:rPr>
              <a:t>self</a:t>
            </a:r>
            <a:r>
              <a:rPr lang="en-GB" sz="1600" dirty="0">
                <a:solidFill>
                  <a:schemeClr val="tx2"/>
                </a:solidFill>
              </a:rPr>
              <a:t>,</a:t>
            </a:r>
            <a:r>
              <a:rPr lang="en-GB" sz="1600" dirty="0">
                <a:solidFill>
                  <a:schemeClr val="accent3"/>
                </a:solidFill>
              </a:rPr>
              <a:t> </a:t>
            </a:r>
            <a:r>
              <a:rPr lang="en-GB" sz="1600" dirty="0"/>
              <a:t>amount</a:t>
            </a:r>
            <a:r>
              <a:rPr lang="en-GB" sz="1600" dirty="0">
                <a:solidFill>
                  <a:schemeClr val="accent1"/>
                </a:solidFill>
              </a:rPr>
              <a:t>: </a:t>
            </a:r>
            <a:r>
              <a:rPr lang="en-CH" sz="1600" dirty="0">
                <a:solidFill>
                  <a:schemeClr val="accent2"/>
                </a:solidFill>
              </a:rPr>
              <a:t>u256</a:t>
            </a:r>
            <a:r>
              <a:rPr lang="en-GB" sz="1600" dirty="0">
                <a:solidFill>
                  <a:schemeClr val="accent1"/>
                </a:solidFill>
              </a:rPr>
              <a:t>)</a:t>
            </a:r>
          </a:p>
          <a:p>
            <a:r>
              <a:rPr lang="en-GB" sz="1600" dirty="0">
                <a:solidFill>
                  <a:schemeClr val="accent1"/>
                </a:solidFill>
              </a:rPr>
              <a:t>    </a:t>
            </a:r>
            <a:r>
              <a:rPr lang="en-GB" sz="1600" dirty="0">
                <a:solidFill>
                  <a:schemeClr val="accent4"/>
                </a:solidFill>
              </a:rPr>
              <a:t>reenters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GB" sz="1600" dirty="0">
                <a:solidFill>
                  <a:schemeClr val="accent3"/>
                </a:solidFill>
              </a:rPr>
              <a:t>Self</a:t>
            </a:r>
            <a:r>
              <a:rPr lang="en-CH" sz="1600" spc="-300" dirty="0">
                <a:solidFill>
                  <a:schemeClr val="accent1"/>
                </a:solidFill>
              </a:rPr>
              <a:t>::</a:t>
            </a:r>
            <a:r>
              <a:rPr lang="en-GB" sz="1600" dirty="0">
                <a:solidFill>
                  <a:schemeClr val="accent6"/>
                </a:solidFill>
              </a:rPr>
              <a:t>repay</a:t>
            </a:r>
            <a:r>
              <a:rPr lang="en-CH" sz="1600" dirty="0">
                <a:solidFill>
                  <a:schemeClr val="accent1"/>
                </a:solidFill>
              </a:rPr>
              <a:t>)</a:t>
            </a:r>
            <a:endParaRPr lang="en-GB" sz="1600" dirty="0">
              <a:solidFill>
                <a:schemeClr val="accent1"/>
              </a:solidFill>
            </a:endParaRPr>
          </a:p>
          <a:p>
            <a:r>
              <a:rPr lang="en-GB" sz="1600" dirty="0">
                <a:solidFill>
                  <a:schemeClr val="accent1"/>
                </a:solidFill>
              </a:rPr>
              <a:t>    </a:t>
            </a:r>
            <a:r>
              <a:rPr lang="en-CH" sz="1600" dirty="0">
                <a:solidFill>
                  <a:schemeClr val="accent4"/>
                </a:solidFill>
              </a:rPr>
              <a:t>modifies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CH" sz="1600" dirty="0">
                <a:solidFill>
                  <a:schemeClr val="accent3"/>
                </a:solidFill>
              </a:rPr>
              <a:t>self</a:t>
            </a:r>
            <a:r>
              <a:rPr lang="en-CH" sz="1600" dirty="0">
                <a:solidFill>
                  <a:schemeClr val="accent1"/>
                </a:solidFill>
              </a:rPr>
              <a:t>.</a:t>
            </a:r>
            <a:r>
              <a:rPr lang="en-GB" sz="1600" dirty="0"/>
              <a:t>debt</a:t>
            </a:r>
            <a:r>
              <a:rPr lang="en-GB" sz="1600" dirty="0">
                <a:solidFill>
                  <a:schemeClr val="accent1"/>
                </a:solidFill>
              </a:rPr>
              <a:t>[</a:t>
            </a:r>
            <a:r>
              <a:rPr lang="en-GB" sz="1600" dirty="0">
                <a:solidFill>
                  <a:schemeClr val="tx2"/>
                </a:solidFill>
              </a:rPr>
              <a:t>…</a:t>
            </a:r>
            <a:r>
              <a:rPr lang="en-GB" sz="1600" dirty="0">
                <a:solidFill>
                  <a:schemeClr val="accent1"/>
                </a:solidFill>
              </a:rPr>
              <a:t>]</a:t>
            </a:r>
            <a:r>
              <a:rPr lang="en-CH" sz="1600" dirty="0">
                <a:solidFill>
                  <a:schemeClr val="accent1"/>
                </a:solidFill>
              </a:rPr>
              <a:t>)</a:t>
            </a:r>
            <a:endParaRPr lang="en-GB" sz="1600" dirty="0">
              <a:solidFill>
                <a:schemeClr val="accent1"/>
              </a:solidFill>
            </a:endParaRPr>
          </a:p>
          <a:p>
            <a:r>
              <a:rPr lang="en-GB" sz="1600" dirty="0">
                <a:solidFill>
                  <a:schemeClr val="accent1"/>
                </a:solidFill>
              </a:rPr>
              <a:t>  </a:t>
            </a:r>
            <a:r>
              <a:rPr lang="en-CH" sz="1600" dirty="0">
                <a:solidFill>
                  <a:schemeClr val="accent1"/>
                </a:solidFill>
              </a:rPr>
              <a:t>{</a:t>
            </a:r>
          </a:p>
          <a:p>
            <a:r>
              <a:rPr lang="en-GB" sz="1600" dirty="0"/>
              <a:t>  </a:t>
            </a:r>
            <a:r>
              <a:rPr lang="en-CH" sz="1600" dirty="0"/>
              <a:t>  </a:t>
            </a:r>
            <a:r>
              <a:rPr lang="en-CH" sz="1600" dirty="0">
                <a:solidFill>
                  <a:schemeClr val="accent1"/>
                </a:solidFill>
              </a:rPr>
              <a:t>let</a:t>
            </a:r>
            <a:r>
              <a:rPr lang="en-CH" sz="1600" dirty="0"/>
              <a:t> </a:t>
            </a:r>
            <a:r>
              <a:rPr lang="en-GB" sz="1600" dirty="0"/>
              <a:t>caller</a:t>
            </a:r>
            <a:r>
              <a:rPr lang="en-CH" sz="1600" dirty="0"/>
              <a:t> </a:t>
            </a:r>
            <a:r>
              <a:rPr lang="en-CH" sz="1600" dirty="0">
                <a:solidFill>
                  <a:schemeClr val="accent1"/>
                </a:solidFill>
              </a:rPr>
              <a:t>=</a:t>
            </a:r>
            <a:r>
              <a:rPr lang="en-CH" sz="1600" dirty="0"/>
              <a:t> </a:t>
            </a:r>
            <a:r>
              <a:rPr lang="en-CH" sz="1600" dirty="0">
                <a:solidFill>
                  <a:schemeClr val="accent2"/>
                </a:solidFill>
              </a:rPr>
              <a:t>EVM</a:t>
            </a:r>
            <a:r>
              <a:rPr lang="en-CH" sz="1400" spc="-300" dirty="0">
                <a:solidFill>
                  <a:schemeClr val="accent1"/>
                </a:solidFill>
              </a:rPr>
              <a:t>::</a:t>
            </a:r>
            <a:r>
              <a:rPr lang="en-GB" sz="1600" dirty="0">
                <a:solidFill>
                  <a:schemeClr val="accent6"/>
                </a:solidFill>
              </a:rPr>
              <a:t>caller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GB" sz="1600" dirty="0">
                <a:solidFill>
                  <a:schemeClr val="accent1"/>
                </a:solidFill>
              </a:rPr>
              <a:t>)</a:t>
            </a:r>
            <a:r>
              <a:rPr lang="en-CH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  <a:endParaRPr lang="en-GB" sz="16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GB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   </a:t>
            </a:r>
            <a:r>
              <a:rPr lang="en-CH" sz="1600" dirty="0">
                <a:solidFill>
                  <a:schemeClr val="accent3"/>
                </a:solidFill>
              </a:rPr>
              <a:t>self</a:t>
            </a:r>
            <a:r>
              <a:rPr lang="en-CH" sz="1600" dirty="0">
                <a:solidFill>
                  <a:schemeClr val="accent1"/>
                </a:solidFill>
              </a:rPr>
              <a:t>.</a:t>
            </a:r>
            <a:r>
              <a:rPr lang="en-GB" sz="1600" dirty="0"/>
              <a:t>debt</a:t>
            </a:r>
            <a:r>
              <a:rPr lang="en-GB" sz="1600" dirty="0">
                <a:solidFill>
                  <a:schemeClr val="accent1"/>
                </a:solidFill>
              </a:rPr>
              <a:t>[</a:t>
            </a:r>
            <a:r>
              <a:rPr lang="en-GB" sz="1600" dirty="0"/>
              <a:t>caller</a:t>
            </a:r>
            <a:r>
              <a:rPr lang="en-GB" sz="1600" dirty="0">
                <a:solidFill>
                  <a:schemeClr val="accent1"/>
                </a:solidFill>
              </a:rPr>
              <a:t>] = </a:t>
            </a:r>
            <a:r>
              <a:rPr lang="en-GB" sz="1600" dirty="0"/>
              <a:t>amount</a:t>
            </a:r>
            <a:r>
              <a:rPr lang="en-CH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GB" sz="1600" dirty="0">
                <a:solidFill>
                  <a:schemeClr val="accent2"/>
                </a:solidFill>
              </a:rPr>
              <a:t>    </a:t>
            </a:r>
            <a:r>
              <a:rPr lang="en-CH" sz="1600" dirty="0">
                <a:solidFill>
                  <a:schemeClr val="accent2"/>
                </a:solidFill>
              </a:rPr>
              <a:t>EVM</a:t>
            </a:r>
            <a:r>
              <a:rPr lang="en-CH" sz="1400" spc="-300" dirty="0">
                <a:solidFill>
                  <a:schemeClr val="accent1"/>
                </a:solidFill>
              </a:rPr>
              <a:t>::</a:t>
            </a:r>
            <a:r>
              <a:rPr lang="en-GB" sz="1600" dirty="0">
                <a:solidFill>
                  <a:schemeClr val="accent6"/>
                </a:solidFill>
              </a:rPr>
              <a:t>transfer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GB" sz="1600" dirty="0"/>
              <a:t>caller</a:t>
            </a:r>
            <a:r>
              <a:rPr lang="en-GB" sz="1600" dirty="0">
                <a:solidFill>
                  <a:schemeClr val="tx2"/>
                </a:solidFill>
              </a:rPr>
              <a:t>,</a:t>
            </a:r>
            <a:r>
              <a:rPr lang="en-GB" sz="1600" dirty="0"/>
              <a:t> amount</a:t>
            </a:r>
            <a:r>
              <a:rPr lang="en-GB" sz="1600" dirty="0">
                <a:solidFill>
                  <a:schemeClr val="accent1"/>
                </a:solidFill>
              </a:rPr>
              <a:t>)</a:t>
            </a:r>
            <a:r>
              <a:rPr lang="en-CH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  <a:endParaRPr lang="en-GB" sz="16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endParaRPr lang="en-GB" sz="1600" dirty="0">
              <a:solidFill>
                <a:schemeClr val="accent1"/>
              </a:solidFill>
            </a:endParaRPr>
          </a:p>
          <a:p>
            <a:r>
              <a:rPr lang="en-GB" sz="1600" dirty="0">
                <a:solidFill>
                  <a:schemeClr val="accent1"/>
                </a:solidFill>
              </a:rPr>
              <a:t>    </a:t>
            </a:r>
            <a:r>
              <a:rPr lang="en-CH" sz="1600" dirty="0">
                <a:solidFill>
                  <a:schemeClr val="accent4"/>
                </a:solidFill>
              </a:rPr>
              <a:t>modify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CH" sz="1600" dirty="0">
                <a:solidFill>
                  <a:schemeClr val="accent3"/>
                </a:solidFill>
              </a:rPr>
              <a:t>self</a:t>
            </a:r>
            <a:r>
              <a:rPr lang="en-CH" sz="1600" dirty="0">
                <a:solidFill>
                  <a:schemeClr val="accent1"/>
                </a:solidFill>
              </a:rPr>
              <a:t>.</a:t>
            </a:r>
            <a:r>
              <a:rPr lang="en-GB" sz="1600" dirty="0"/>
              <a:t>debt</a:t>
            </a:r>
            <a:r>
              <a:rPr lang="en-GB" sz="1600" dirty="0">
                <a:solidFill>
                  <a:schemeClr val="accent1"/>
                </a:solidFill>
              </a:rPr>
              <a:t>[</a:t>
            </a:r>
            <a:r>
              <a:rPr lang="en-GB" sz="1600" dirty="0"/>
              <a:t>caller</a:t>
            </a:r>
            <a:r>
              <a:rPr lang="en-GB" sz="1600" dirty="0">
                <a:solidFill>
                  <a:schemeClr val="accent1"/>
                </a:solidFill>
              </a:rPr>
              <a:t>]</a:t>
            </a:r>
            <a:r>
              <a:rPr lang="en-CH" sz="1600" dirty="0">
                <a:solidFill>
                  <a:schemeClr val="accent1"/>
                </a:solidFill>
              </a:rPr>
              <a:t>)</a:t>
            </a:r>
            <a:r>
              <a:rPr lang="en-GB" sz="1600" dirty="0">
                <a:solidFill>
                  <a:schemeClr val="accent1"/>
                </a:solidFill>
              </a:rPr>
              <a:t> </a:t>
            </a:r>
            <a:r>
              <a:rPr lang="en-CH" sz="1600" dirty="0">
                <a:solidFill>
                  <a:schemeClr val="accent1"/>
                </a:solidFill>
              </a:rPr>
              <a:t>{</a:t>
            </a:r>
            <a:endParaRPr lang="en-GB" sz="1600" dirty="0">
              <a:solidFill>
                <a:schemeClr val="accent1"/>
              </a:solidFill>
            </a:endParaRPr>
          </a:p>
          <a:p>
            <a:r>
              <a:rPr lang="en-GB" sz="1600" dirty="0">
                <a:solidFill>
                  <a:schemeClr val="accent1"/>
                </a:solidFill>
              </a:rPr>
              <a:t>      </a:t>
            </a:r>
            <a:r>
              <a:rPr lang="en-GB" sz="1600" dirty="0">
                <a:solidFill>
                  <a:schemeClr val="accent5"/>
                </a:solidFill>
              </a:rPr>
              <a:t>// Reentrant call into untrusted code</a:t>
            </a:r>
            <a:endParaRPr lang="en-CH" sz="1600" dirty="0">
              <a:solidFill>
                <a:schemeClr val="accent1"/>
              </a:solidFill>
            </a:endParaRPr>
          </a:p>
          <a:p>
            <a:r>
              <a:rPr lang="en-GB" sz="1600" dirty="0">
                <a:solidFill>
                  <a:schemeClr val="accent5"/>
                </a:solidFill>
              </a:rPr>
              <a:t>  </a:t>
            </a:r>
            <a:r>
              <a:rPr lang="en-CH" sz="1600" dirty="0">
                <a:solidFill>
                  <a:schemeClr val="accent5"/>
                </a:solidFill>
              </a:rPr>
              <a:t>    </a:t>
            </a:r>
            <a:r>
              <a:rPr lang="en-CH" sz="1600" dirty="0">
                <a:solidFill>
                  <a:schemeClr val="accent2"/>
                </a:solidFill>
              </a:rPr>
              <a:t>EVM</a:t>
            </a:r>
            <a:r>
              <a:rPr lang="en-CH" sz="1400" spc="-300" dirty="0">
                <a:solidFill>
                  <a:schemeClr val="accent1"/>
                </a:solidFill>
              </a:rPr>
              <a:t>::</a:t>
            </a:r>
            <a:r>
              <a:rPr lang="en-GB" sz="1600" dirty="0">
                <a:solidFill>
                  <a:schemeClr val="accent6"/>
                </a:solidFill>
              </a:rPr>
              <a:t>reentrant_call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CH" sz="1600" dirty="0">
                <a:solidFill>
                  <a:schemeClr val="tx2"/>
                </a:solidFill>
              </a:rPr>
              <a:t>…</a:t>
            </a:r>
            <a:r>
              <a:rPr lang="en-CH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  <a:r>
              <a:rPr lang="en-CH" sz="1600" dirty="0"/>
              <a:t> </a:t>
            </a:r>
            <a:r>
              <a:rPr lang="en-GB" sz="1600" dirty="0">
                <a:solidFill>
                  <a:schemeClr val="accent3"/>
                </a:solidFill>
              </a:rPr>
              <a:t>Self</a:t>
            </a:r>
            <a:r>
              <a:rPr lang="en-CH" sz="1600" spc="-300" dirty="0">
                <a:solidFill>
                  <a:schemeClr val="accent1"/>
                </a:solidFill>
              </a:rPr>
              <a:t>::</a:t>
            </a:r>
            <a:r>
              <a:rPr lang="en-GB" sz="1600" dirty="0">
                <a:solidFill>
                  <a:schemeClr val="accent6"/>
                </a:solidFill>
              </a:rPr>
              <a:t>repay</a:t>
            </a:r>
            <a:r>
              <a:rPr lang="en-CH" sz="1600" dirty="0">
                <a:solidFill>
                  <a:schemeClr val="accent1"/>
                </a:solidFill>
              </a:rPr>
              <a:t>)</a:t>
            </a:r>
            <a:r>
              <a:rPr lang="en-CH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GB" sz="1600" dirty="0">
                <a:solidFill>
                  <a:schemeClr val="accent5"/>
                </a:solidFill>
              </a:rPr>
              <a:t>  </a:t>
            </a:r>
            <a:r>
              <a:rPr lang="en-CH" sz="1600" dirty="0">
                <a:solidFill>
                  <a:schemeClr val="accent5"/>
                </a:solidFill>
              </a:rPr>
              <a:t>  </a:t>
            </a:r>
            <a:r>
              <a:rPr lang="en-CH" sz="1600" dirty="0">
                <a:solidFill>
                  <a:schemeClr val="accent1"/>
                </a:solidFill>
              </a:rPr>
              <a:t>}</a:t>
            </a:r>
            <a:endParaRPr lang="en-GB" sz="1600" dirty="0">
              <a:solidFill>
                <a:schemeClr val="accent1"/>
              </a:solidFill>
            </a:endParaRPr>
          </a:p>
          <a:p>
            <a:endParaRPr lang="en-CH" sz="1600" dirty="0">
              <a:solidFill>
                <a:schemeClr val="accent1"/>
              </a:solidFill>
            </a:endParaRPr>
          </a:p>
          <a:p>
            <a:r>
              <a:rPr lang="en-GB" sz="1600" dirty="0">
                <a:solidFill>
                  <a:schemeClr val="accent5"/>
                </a:solidFill>
              </a:rPr>
              <a:t>  </a:t>
            </a:r>
            <a:r>
              <a:rPr lang="en-CH" sz="1600" dirty="0">
                <a:solidFill>
                  <a:schemeClr val="accent5"/>
                </a:solidFill>
              </a:rPr>
              <a:t>  assert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CH" sz="1600" dirty="0">
                <a:solidFill>
                  <a:schemeClr val="accent3"/>
                </a:solidFill>
              </a:rPr>
              <a:t>self</a:t>
            </a:r>
            <a:r>
              <a:rPr lang="en-CH" sz="1600" dirty="0">
                <a:solidFill>
                  <a:schemeClr val="accent1"/>
                </a:solidFill>
              </a:rPr>
              <a:t>.</a:t>
            </a:r>
            <a:r>
              <a:rPr lang="en-GB" sz="1600" dirty="0"/>
              <a:t>debt</a:t>
            </a:r>
            <a:r>
              <a:rPr lang="en-GB" sz="1600" dirty="0">
                <a:solidFill>
                  <a:schemeClr val="accent1"/>
                </a:solidFill>
              </a:rPr>
              <a:t>[</a:t>
            </a:r>
            <a:r>
              <a:rPr lang="en-GB" sz="1600" dirty="0"/>
              <a:t>caller</a:t>
            </a:r>
            <a:r>
              <a:rPr lang="en-GB" sz="1600" dirty="0">
                <a:solidFill>
                  <a:schemeClr val="accent1"/>
                </a:solidFill>
              </a:rPr>
              <a:t>] </a:t>
            </a:r>
            <a:r>
              <a:rPr lang="en-CH" sz="1600" dirty="0">
                <a:solidFill>
                  <a:schemeClr val="accent1"/>
                </a:solidFill>
              </a:rPr>
              <a:t>==</a:t>
            </a:r>
            <a:r>
              <a:rPr lang="en-CH" sz="1600" dirty="0"/>
              <a:t> </a:t>
            </a:r>
            <a:r>
              <a:rPr lang="en-GB" sz="1600" dirty="0">
                <a:solidFill>
                  <a:schemeClr val="accent4"/>
                </a:solidFill>
              </a:rPr>
              <a:t>0</a:t>
            </a:r>
            <a:r>
              <a:rPr lang="en-CH" sz="1600" dirty="0">
                <a:solidFill>
                  <a:schemeClr val="accent1"/>
                </a:solidFill>
              </a:rPr>
              <a:t>)</a:t>
            </a:r>
            <a:r>
              <a:rPr lang="en-CH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  <a:endParaRPr lang="en-GB" sz="16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GB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 </a:t>
            </a:r>
            <a:r>
              <a:rPr lang="en-CH" sz="1600" dirty="0">
                <a:solidFill>
                  <a:schemeClr val="accent1"/>
                </a:solidFill>
              </a:rPr>
              <a:t>}</a:t>
            </a:r>
          </a:p>
          <a:p>
            <a:r>
              <a:rPr lang="en-CH" sz="1600" dirty="0">
                <a:solidFill>
                  <a:schemeClr val="accent1"/>
                </a:solidFill>
              </a:rPr>
              <a:t>}</a:t>
            </a:r>
            <a:endParaRPr lang="en-CH" sz="1600" dirty="0"/>
          </a:p>
          <a:p>
            <a:endParaRPr lang="en-GB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D56515-9047-46E3-1E02-E5276E1AA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Effects in Calls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87D479B5-CF5E-7F26-1B9D-876529F3B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2D73AA9-7AE4-C5D4-8142-5FCBF945EB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Taming Reentrancy with Auditable Language Design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B69F128-EB9B-5D93-E0B1-2B37FFDE0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lvl="0">
                <a:defRPr/>
              </a:pPr>
              <a:t>21</a:t>
            </a:fld>
            <a:r>
              <a:rPr kumimoji="0" lang="en-CH" sz="1200" b="0" i="0" u="none" strike="noStrike" kern="1200" cap="none" spc="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</a:t>
            </a:r>
            <a:r>
              <a:rPr lang="en-GB" dirty="0"/>
              <a:t>40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90409C-F1F9-AF4A-92E7-22C20366D3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47850"/>
            <a:ext cx="5236397" cy="4351338"/>
          </a:xfrm>
        </p:spPr>
        <p:txBody>
          <a:bodyPr/>
          <a:lstStyle/>
          <a:p>
            <a:r>
              <a:rPr lang="en-GB" dirty="0"/>
              <a:t>First annotate the </a:t>
            </a:r>
            <a:r>
              <a:rPr lang="en-CH" sz="2400" dirty="0">
                <a:solidFill>
                  <a:schemeClr val="accent1"/>
                </a:solidFill>
                <a:latin typeface="Lucida Console" panose="020B0609040504020204" pitchFamily="49" charset="0"/>
              </a:rPr>
              <a:t>fn</a:t>
            </a:r>
            <a:r>
              <a:rPr lang="en-CH" dirty="0">
                <a:solidFill>
                  <a:schemeClr val="accent1"/>
                </a:solidFill>
              </a:rPr>
              <a:t> </a:t>
            </a:r>
            <a:r>
              <a:rPr lang="en-GB" dirty="0"/>
              <a:t>effects</a:t>
            </a:r>
          </a:p>
          <a:p>
            <a:pPr lvl="1"/>
            <a:r>
              <a:rPr lang="en-GB" i="1" dirty="0"/>
              <a:t>Machine-checked</a:t>
            </a:r>
          </a:p>
          <a:p>
            <a:pPr lvl="1"/>
            <a:endParaRPr lang="en-GB" i="1" dirty="0"/>
          </a:p>
          <a:p>
            <a:r>
              <a:rPr lang="en-GB" dirty="0"/>
              <a:t>Inline effects:</a:t>
            </a:r>
          </a:p>
          <a:p>
            <a:pPr lvl="1"/>
            <a:r>
              <a:rPr lang="en-GB" dirty="0"/>
              <a:t>Only annotate if hidden</a:t>
            </a:r>
          </a:p>
          <a:p>
            <a:pPr lvl="2"/>
            <a:r>
              <a:rPr lang="en-GB" dirty="0"/>
              <a:t>e.g. function call</a:t>
            </a:r>
          </a:p>
          <a:p>
            <a:pPr marL="914400" lvl="2" indent="0">
              <a:buNone/>
            </a:pPr>
            <a:endParaRPr lang="en-GB" i="1" dirty="0"/>
          </a:p>
          <a:p>
            <a:r>
              <a:rPr lang="en-GB" dirty="0"/>
              <a:t>Reentrant call:</a:t>
            </a:r>
          </a:p>
          <a:p>
            <a:pPr lvl="1"/>
            <a:r>
              <a:rPr lang="en-GB" dirty="0"/>
              <a:t>Can only reenter  </a:t>
            </a:r>
            <a:r>
              <a:rPr lang="en-GB" sz="2000" dirty="0">
                <a:solidFill>
                  <a:schemeClr val="accent3"/>
                </a:solidFill>
                <a:latin typeface="Lucida Console" panose="020B0609040504020204" pitchFamily="49" charset="0"/>
              </a:rPr>
              <a:t>Self</a:t>
            </a:r>
            <a:r>
              <a:rPr lang="en-GB" sz="1800" spc="-300" dirty="0">
                <a:solidFill>
                  <a:schemeClr val="accent1"/>
                </a:solidFill>
                <a:latin typeface="Lucida Console" panose="020B0609040504020204" pitchFamily="49" charset="0"/>
              </a:rPr>
              <a:t>::</a:t>
            </a:r>
            <a:r>
              <a:rPr lang="en-GB" sz="2000" dirty="0">
                <a:solidFill>
                  <a:schemeClr val="accent6"/>
                </a:solidFill>
                <a:latin typeface="Lucida Console" panose="020B0609040504020204" pitchFamily="49" charset="0"/>
              </a:rPr>
              <a:t>repay</a:t>
            </a:r>
          </a:p>
          <a:p>
            <a:pPr lvl="1"/>
            <a:r>
              <a:rPr lang="en-GB" dirty="0"/>
              <a:t>Treat like a regular function call!</a:t>
            </a:r>
          </a:p>
          <a:p>
            <a:pPr marL="0" indent="0">
              <a:buNone/>
            </a:pPr>
            <a:endParaRPr lang="en-CH" i="1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BC3B10A4-76C8-D4B0-F91D-7992F0A1268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960734" y="402259"/>
            <a:ext cx="395208" cy="5919029"/>
          </a:xfrm>
        </p:spPr>
        <p:txBody>
          <a:bodyPr/>
          <a:lstStyle/>
          <a:p>
            <a:r>
              <a:rPr lang="en-CH" sz="1600" dirty="0"/>
              <a:t> 1</a:t>
            </a:r>
          </a:p>
          <a:p>
            <a:r>
              <a:rPr lang="en-CH" sz="1600" dirty="0"/>
              <a:t> 2</a:t>
            </a:r>
          </a:p>
          <a:p>
            <a:r>
              <a:rPr lang="en-CH" sz="1600" dirty="0"/>
              <a:t> 3</a:t>
            </a:r>
          </a:p>
          <a:p>
            <a:r>
              <a:rPr lang="en-CH" sz="1600" dirty="0"/>
              <a:t> 4</a:t>
            </a:r>
          </a:p>
          <a:p>
            <a:r>
              <a:rPr lang="en-CH" sz="1600" dirty="0"/>
              <a:t> 5</a:t>
            </a:r>
          </a:p>
          <a:p>
            <a:r>
              <a:rPr lang="en-CH" sz="1600" dirty="0"/>
              <a:t> 6</a:t>
            </a:r>
          </a:p>
          <a:p>
            <a:r>
              <a:rPr lang="en-CH" sz="1600" dirty="0"/>
              <a:t> 7</a:t>
            </a:r>
          </a:p>
          <a:p>
            <a:r>
              <a:rPr lang="en-CH" sz="1600" dirty="0"/>
              <a:t> 8</a:t>
            </a:r>
          </a:p>
          <a:p>
            <a:r>
              <a:rPr lang="en-CH" sz="1600" dirty="0"/>
              <a:t> 9</a:t>
            </a:r>
          </a:p>
          <a:p>
            <a:r>
              <a:rPr lang="en-CH" sz="1600" dirty="0"/>
              <a:t>10</a:t>
            </a:r>
          </a:p>
          <a:p>
            <a:r>
              <a:rPr lang="en-CH" sz="1600" dirty="0"/>
              <a:t>11</a:t>
            </a:r>
          </a:p>
          <a:p>
            <a:r>
              <a:rPr lang="en-CH" sz="1600" dirty="0"/>
              <a:t>12</a:t>
            </a:r>
          </a:p>
          <a:p>
            <a:r>
              <a:rPr lang="en-CH" sz="1600" dirty="0"/>
              <a:t>13</a:t>
            </a:r>
          </a:p>
          <a:p>
            <a:r>
              <a:rPr lang="en-CH" sz="1600" dirty="0"/>
              <a:t>14</a:t>
            </a:r>
          </a:p>
          <a:p>
            <a:r>
              <a:rPr lang="en-CH" sz="1600" dirty="0"/>
              <a:t>15</a:t>
            </a:r>
          </a:p>
          <a:p>
            <a:r>
              <a:rPr lang="en-CH" sz="1600" dirty="0"/>
              <a:t>16</a:t>
            </a:r>
          </a:p>
          <a:p>
            <a:r>
              <a:rPr lang="en-CH" sz="1600" dirty="0"/>
              <a:t>17</a:t>
            </a:r>
          </a:p>
          <a:p>
            <a:r>
              <a:rPr lang="en-CH" sz="1600" dirty="0"/>
              <a:t>18</a:t>
            </a:r>
          </a:p>
          <a:p>
            <a:r>
              <a:rPr lang="en-CH" sz="1600" dirty="0"/>
              <a:t>19</a:t>
            </a:r>
            <a:endParaRPr lang="en-GB" sz="1600" dirty="0"/>
          </a:p>
          <a:p>
            <a:r>
              <a:rPr lang="en-GB" sz="1600" dirty="0"/>
              <a:t>20</a:t>
            </a:r>
          </a:p>
          <a:p>
            <a:r>
              <a:rPr lang="en-GB" sz="1600" dirty="0"/>
              <a:t>21</a:t>
            </a:r>
          </a:p>
          <a:p>
            <a:r>
              <a:rPr lang="en-GB" sz="1600" dirty="0"/>
              <a:t>22</a:t>
            </a:r>
          </a:p>
          <a:p>
            <a:r>
              <a:rPr lang="en-GB" sz="1600" dirty="0"/>
              <a:t>23</a:t>
            </a:r>
            <a:endParaRPr lang="en-CH" sz="1600" dirty="0"/>
          </a:p>
          <a:p>
            <a:r>
              <a:rPr lang="en-GB" sz="1600" dirty="0"/>
              <a:t>24</a:t>
            </a:r>
            <a:endParaRPr lang="en-CH" sz="1600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D2B8E48-21D0-7B03-D830-B5CBA196E98A}"/>
              </a:ext>
            </a:extLst>
          </p:cNvPr>
          <p:cNvCxnSpPr>
            <a:cxnSpLocks/>
          </p:cNvCxnSpPr>
          <p:nvPr/>
        </p:nvCxnSpPr>
        <p:spPr>
          <a:xfrm>
            <a:off x="6355943" y="402259"/>
            <a:ext cx="0" cy="5919029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403C750C-D7CB-9689-37A6-6F759899472C}"/>
              </a:ext>
            </a:extLst>
          </p:cNvPr>
          <p:cNvSpPr/>
          <p:nvPr/>
        </p:nvSpPr>
        <p:spPr>
          <a:xfrm>
            <a:off x="6818243" y="3349487"/>
            <a:ext cx="3478687" cy="308113"/>
          </a:xfrm>
          <a:prstGeom prst="rect">
            <a:avLst/>
          </a:prstGeom>
          <a:noFill/>
          <a:ln w="635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2551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7" grpId="0" animBg="1"/>
      <p:bldP spid="17" grpId="1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987A4-CB18-E221-C674-DF4E29E1D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Algebraic Data Types</a:t>
            </a:r>
            <a:r>
              <a:rPr lang="en-GB" sz="3600" dirty="0">
                <a:solidFill>
                  <a:schemeClr val="tx2"/>
                </a:solidFill>
              </a:rPr>
              <a:t> (ADTs)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7830FA-DAEA-DD69-905A-88711DF92B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Contracts often model state machines</a:t>
            </a:r>
          </a:p>
          <a:p>
            <a:pPr lvl="1">
              <a:buFont typeface="Aptos" panose="020B0004020202020204" pitchFamily="34" charset="0"/>
              <a:buChar char="→"/>
            </a:pPr>
            <a:r>
              <a:rPr lang="en-CH" dirty="0"/>
              <a:t>Perfect application for ADTs</a:t>
            </a:r>
            <a:endParaRPr lang="en-GB" dirty="0"/>
          </a:p>
          <a:p>
            <a:r>
              <a:rPr lang="en-GB" dirty="0"/>
              <a:t>Solidity and </a:t>
            </a:r>
            <a:r>
              <a:rPr lang="en-GB" dirty="0" err="1"/>
              <a:t>Vyper</a:t>
            </a:r>
            <a:r>
              <a:rPr lang="en-GB" dirty="0"/>
              <a:t> </a:t>
            </a:r>
            <a:r>
              <a:rPr lang="en-CH" dirty="0"/>
              <a:t>do not support ADTs</a:t>
            </a:r>
            <a:endParaRPr lang="en-GB" dirty="0"/>
          </a:p>
          <a:p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E5400E-83BE-450A-7A6E-E6E2291F3ED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855415-73DD-8FC9-8CF8-148611EBD9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39BB03-FB2C-D500-1417-95BF45240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22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736947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B548EB-A572-442A-F27A-AF0985402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7F22FD-7612-5B49-D7E1-312D7C6893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Initial goal: Functional language</a:t>
            </a:r>
          </a:p>
          <a:p>
            <a:pPr lvl="1"/>
            <a:r>
              <a:rPr lang="en-CH" dirty="0"/>
              <a:t>Not widely used, difficult to learn</a:t>
            </a:r>
          </a:p>
          <a:p>
            <a:r>
              <a:rPr lang="en-CH" dirty="0"/>
              <a:t>Language syntax closely based on </a:t>
            </a:r>
            <a:r>
              <a:rPr lang="en-CH" dirty="0">
                <a:solidFill>
                  <a:schemeClr val="accent3"/>
                </a:solidFill>
              </a:rPr>
              <a:t>Rust</a:t>
            </a:r>
          </a:p>
          <a:p>
            <a:pPr lvl="1"/>
            <a:r>
              <a:rPr lang="en-CH" dirty="0"/>
              <a:t>Popular → Easier to adopt</a:t>
            </a:r>
          </a:p>
          <a:p>
            <a:pPr lvl="1"/>
            <a:r>
              <a:rPr lang="en-CH" dirty="0"/>
              <a:t>Safety by default</a:t>
            </a:r>
          </a:p>
          <a:p>
            <a:pPr lvl="1"/>
            <a:r>
              <a:rPr lang="en-CH" dirty="0"/>
              <a:t>ADTs, pattern matching</a:t>
            </a:r>
          </a:p>
          <a:p>
            <a:pPr lvl="1"/>
            <a:r>
              <a:rPr lang="en-CH" dirty="0"/>
              <a:t>“Low-level”</a:t>
            </a:r>
            <a:r>
              <a:rPr lang="en-GB" dirty="0"/>
              <a:t> control</a:t>
            </a: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C97E6B-B5EB-954C-2955-F613EC662C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E62AF6-C738-B4D2-E63C-564078CB39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798BFE-A4C2-D161-D034-0B143A113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23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3206407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B6FC9-D41A-BD55-E4C8-A195F7784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Feature 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96BC07-CFC9-0CEE-1E37-BF9696F84F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H" dirty="0"/>
              <a:t>User-defined types as in Rust (</a:t>
            </a:r>
            <a:r>
              <a:rPr lang="en-CH" sz="2400" dirty="0">
                <a:solidFill>
                  <a:schemeClr val="accent2"/>
                </a:solidFill>
                <a:latin typeface="Lucida Console" panose="020B0609040504020204" pitchFamily="49" charset="0"/>
              </a:rPr>
              <a:t>struct</a:t>
            </a:r>
            <a:r>
              <a:rPr lang="en-CH" dirty="0"/>
              <a:t>, </a:t>
            </a:r>
            <a:r>
              <a:rPr lang="en-CH" sz="2400" dirty="0">
                <a:solidFill>
                  <a:schemeClr val="accent2"/>
                </a:solidFill>
                <a:latin typeface="Lucida Console" panose="020B0609040504020204" pitchFamily="49" charset="0"/>
              </a:rPr>
              <a:t>trait</a:t>
            </a:r>
            <a:r>
              <a:rPr lang="en-CH" dirty="0"/>
              <a:t>, etc.)</a:t>
            </a:r>
          </a:p>
          <a:p>
            <a:pPr lvl="1"/>
            <a:r>
              <a:rPr lang="en-CH" dirty="0"/>
              <a:t>Rust “</a:t>
            </a:r>
            <a:r>
              <a:rPr lang="en-CH" sz="2000" dirty="0">
                <a:solidFill>
                  <a:schemeClr val="accent2"/>
                </a:solidFill>
                <a:latin typeface="Lucida Console" panose="020B0609040504020204" pitchFamily="49" charset="0"/>
              </a:rPr>
              <a:t>enum</a:t>
            </a:r>
            <a:r>
              <a:rPr lang="en-CH" dirty="0"/>
              <a:t>” is actually ADT</a:t>
            </a:r>
          </a:p>
          <a:p>
            <a:r>
              <a:rPr lang="en-CH" dirty="0"/>
              <a:t>Generics and trait bounds</a:t>
            </a:r>
          </a:p>
          <a:p>
            <a:pPr lvl="1"/>
            <a:r>
              <a:rPr lang="en-CH" dirty="0"/>
              <a:t>mostly intended for Result types</a:t>
            </a:r>
          </a:p>
          <a:p>
            <a:r>
              <a:rPr lang="en-CH" dirty="0"/>
              <a:t>Type inference (Hindley-Milner)</a:t>
            </a:r>
          </a:p>
          <a:p>
            <a:r>
              <a:rPr lang="en-CH" dirty="0"/>
              <a:t>Side effect checks:</a:t>
            </a:r>
          </a:p>
          <a:p>
            <a:pPr lvl="1"/>
            <a:r>
              <a:rPr lang="en-CH" dirty="0"/>
              <a:t>Default: Function signatures only</a:t>
            </a:r>
          </a:p>
          <a:p>
            <a:pPr lvl="1"/>
            <a:r>
              <a:rPr lang="en-CH" sz="2200" dirty="0">
                <a:latin typeface="Lucida Console" panose="020B0609040504020204" pitchFamily="49" charset="0"/>
              </a:rPr>
              <a:t>--strict</a:t>
            </a:r>
            <a:r>
              <a:rPr lang="en-CH" dirty="0"/>
              <a:t>: </a:t>
            </a:r>
            <a:r>
              <a:rPr lang="en-GB" dirty="0"/>
              <a:t>Inline </a:t>
            </a:r>
            <a:r>
              <a:rPr lang="en-CH" dirty="0"/>
              <a:t>effect annotations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2A1AB0-A82D-0E72-36FD-899895E4F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08FA1-D025-3154-1213-E80FBCD39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E98429-F015-90EA-5E13-B00BF65684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24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222703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420411-70FB-A61F-8B6A-D4D60D2D2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Compiler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48AD4F-AAC6-9DAE-2DF1-9C9819E5A7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974850"/>
          </a:xfrm>
        </p:spPr>
        <p:txBody>
          <a:bodyPr/>
          <a:lstStyle/>
          <a:p>
            <a:r>
              <a:rPr lang="en-GB" dirty="0"/>
              <a:t>Written in Rust, ~30k LoC  </a:t>
            </a:r>
            <a:r>
              <a:rPr lang="en-GB" sz="2400" dirty="0">
                <a:solidFill>
                  <a:schemeClr val="tx2"/>
                </a:solidFill>
              </a:rPr>
              <a:t>+ 10k LoC for tests</a:t>
            </a:r>
            <a:endParaRPr lang="en-GB" dirty="0">
              <a:solidFill>
                <a:schemeClr val="tx2"/>
              </a:solidFill>
            </a:endParaRPr>
          </a:p>
          <a:p>
            <a:r>
              <a:rPr lang="en-GB" dirty="0"/>
              <a:t>Pipeline: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26B21D-3218-EAD6-6687-C2E3505BD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8F2731-3346-457E-1EE4-4F897911D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DC4A1C-7985-41D8-4D38-D2E658960F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25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A290234-9EA6-0E2E-8073-B3D11CA7F1CC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V="1">
            <a:off x="3290888" y="3731881"/>
            <a:ext cx="732236" cy="3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31D9C7C-C72B-5D9A-CB9E-54BC51ABB055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4947049" y="3731881"/>
            <a:ext cx="694135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C923077-A9F3-3766-3F8B-94BEF49C0B83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7053262" y="3731882"/>
            <a:ext cx="6941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2CD30318-0003-7503-87E5-D4971DA194D0}"/>
              </a:ext>
            </a:extLst>
          </p:cNvPr>
          <p:cNvCxnSpPr>
            <a:stCxn id="10" idx="3"/>
            <a:endCxn id="11" idx="0"/>
          </p:cNvCxnSpPr>
          <p:nvPr/>
        </p:nvCxnSpPr>
        <p:spPr>
          <a:xfrm>
            <a:off x="8671322" y="3731882"/>
            <a:ext cx="1134665" cy="514681"/>
          </a:xfrm>
          <a:prstGeom prst="bentConnector2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EC81424C-443E-DA85-8195-6C3DC46934AF}"/>
              </a:ext>
            </a:extLst>
          </p:cNvPr>
          <p:cNvCxnSpPr>
            <a:stCxn id="11" idx="2"/>
            <a:endCxn id="12" idx="3"/>
          </p:cNvCxnSpPr>
          <p:nvPr/>
        </p:nvCxnSpPr>
        <p:spPr>
          <a:xfrm rot="5400000">
            <a:off x="8988987" y="4719474"/>
            <a:ext cx="499337" cy="1134665"/>
          </a:xfrm>
          <a:prstGeom prst="bentConnector2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1008CED7-1995-B02D-1A85-E7EDCA2ECA35}"/>
              </a:ext>
            </a:extLst>
          </p:cNvPr>
          <p:cNvCxnSpPr>
            <a:cxnSpLocks/>
            <a:stCxn id="12" idx="1"/>
            <a:endCxn id="13" idx="3"/>
          </p:cNvCxnSpPr>
          <p:nvPr/>
        </p:nvCxnSpPr>
        <p:spPr>
          <a:xfrm flipH="1">
            <a:off x="6945511" y="5536475"/>
            <a:ext cx="782838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4CA6B81F-9021-100C-921C-5CFDB123FEE2}"/>
              </a:ext>
            </a:extLst>
          </p:cNvPr>
          <p:cNvCxnSpPr>
            <a:cxnSpLocks/>
            <a:stCxn id="13" idx="1"/>
            <a:endCxn id="14" idx="3"/>
          </p:cNvCxnSpPr>
          <p:nvPr/>
        </p:nvCxnSpPr>
        <p:spPr>
          <a:xfrm flipH="1">
            <a:off x="3900485" y="5536475"/>
            <a:ext cx="782838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5B10F4A2-897C-C319-E390-140A808C4985}"/>
              </a:ext>
            </a:extLst>
          </p:cNvPr>
          <p:cNvCxnSpPr>
            <a:cxnSpLocks/>
            <a:stCxn id="52" idx="3"/>
            <a:endCxn id="7" idx="1"/>
          </p:cNvCxnSpPr>
          <p:nvPr/>
        </p:nvCxnSpPr>
        <p:spPr>
          <a:xfrm flipV="1">
            <a:off x="1737226" y="3731884"/>
            <a:ext cx="629737" cy="1984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: Folded Corner 51">
            <a:extLst>
              <a:ext uri="{FF2B5EF4-FFF2-40B4-BE49-F238E27FC236}">
                <a16:creationId xmlns:a16="http://schemas.microsoft.com/office/drawing/2014/main" id="{D4A12ED8-4FE1-BA92-767C-67F0A71D122C}"/>
              </a:ext>
            </a:extLst>
          </p:cNvPr>
          <p:cNvSpPr/>
          <p:nvPr/>
        </p:nvSpPr>
        <p:spPr>
          <a:xfrm>
            <a:off x="657226" y="3013868"/>
            <a:ext cx="1080000" cy="1440000"/>
          </a:xfrm>
          <a:prstGeom prst="foldedCorner">
            <a:avLst/>
          </a:prstGeom>
          <a:solidFill>
            <a:schemeClr val="accent6">
              <a:lumMod val="40000"/>
              <a:lumOff val="60000"/>
            </a:schemeClr>
          </a:solidFill>
          <a:ln w="254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solidFill>
                  <a:schemeClr val="bg1"/>
                </a:solidFill>
                <a:latin typeface="+mj-lt"/>
              </a:rPr>
              <a:t>Source</a:t>
            </a:r>
          </a:p>
          <a:p>
            <a:pPr algn="ctr"/>
            <a:r>
              <a:rPr lang="en-GB" b="1" dirty="0">
                <a:solidFill>
                  <a:schemeClr val="bg1"/>
                </a:solidFill>
                <a:latin typeface="+mj-lt"/>
              </a:rPr>
              <a:t>File</a:t>
            </a:r>
          </a:p>
        </p:txBody>
      </p:sp>
      <p:sp>
        <p:nvSpPr>
          <p:cNvPr id="53" name="Rectangle: Folded Corner 52">
            <a:extLst>
              <a:ext uri="{FF2B5EF4-FFF2-40B4-BE49-F238E27FC236}">
                <a16:creationId xmlns:a16="http://schemas.microsoft.com/office/drawing/2014/main" id="{FD085E1B-38A1-DEDE-CED0-33C21B6BBE23}"/>
              </a:ext>
            </a:extLst>
          </p:cNvPr>
          <p:cNvSpPr/>
          <p:nvPr/>
        </p:nvSpPr>
        <p:spPr>
          <a:xfrm>
            <a:off x="657226" y="4816476"/>
            <a:ext cx="1080000" cy="1440000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 w="254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solidFill>
                  <a:schemeClr val="bg1"/>
                </a:solidFill>
                <a:latin typeface="+mj-lt"/>
              </a:rPr>
              <a:t>Solidity</a:t>
            </a:r>
          </a:p>
          <a:p>
            <a:pPr algn="ctr"/>
            <a:r>
              <a:rPr lang="en-GB" b="1" dirty="0">
                <a:solidFill>
                  <a:schemeClr val="bg1"/>
                </a:solidFill>
                <a:latin typeface="+mj-lt"/>
              </a:rPr>
              <a:t>Contract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6C8EF9EE-167D-CE58-6467-EA668F9D7873}"/>
              </a:ext>
            </a:extLst>
          </p:cNvPr>
          <p:cNvCxnSpPr>
            <a:cxnSpLocks/>
            <a:stCxn id="14" idx="1"/>
            <a:endCxn id="53" idx="3"/>
          </p:cNvCxnSpPr>
          <p:nvPr/>
        </p:nvCxnSpPr>
        <p:spPr>
          <a:xfrm flipH="1">
            <a:off x="1737226" y="5536476"/>
            <a:ext cx="629736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lowchart: Process 6">
            <a:extLst>
              <a:ext uri="{FF2B5EF4-FFF2-40B4-BE49-F238E27FC236}">
                <a16:creationId xmlns:a16="http://schemas.microsoft.com/office/drawing/2014/main" id="{8117E772-2782-114B-380E-6D0D069D08EC}"/>
              </a:ext>
            </a:extLst>
          </p:cNvPr>
          <p:cNvSpPr/>
          <p:nvPr/>
        </p:nvSpPr>
        <p:spPr>
          <a:xfrm>
            <a:off x="2366963" y="3336596"/>
            <a:ext cx="923925" cy="790575"/>
          </a:xfrm>
          <a:prstGeom prst="flowChartProcess">
            <a:avLst/>
          </a:prstGeom>
          <a:solidFill>
            <a:schemeClr val="bg2"/>
          </a:solidFill>
          <a:ln w="38100">
            <a:solidFill>
              <a:schemeClr val="bg2">
                <a:lumMod val="40000"/>
                <a:lumOff val="6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Lexer</a:t>
            </a:r>
          </a:p>
        </p:txBody>
      </p:sp>
      <p:sp>
        <p:nvSpPr>
          <p:cNvPr id="8" name="Flowchart: Process 7">
            <a:extLst>
              <a:ext uri="{FF2B5EF4-FFF2-40B4-BE49-F238E27FC236}">
                <a16:creationId xmlns:a16="http://schemas.microsoft.com/office/drawing/2014/main" id="{D2ECE18D-1945-B035-8230-B24E1C66617B}"/>
              </a:ext>
            </a:extLst>
          </p:cNvPr>
          <p:cNvSpPr/>
          <p:nvPr/>
        </p:nvSpPr>
        <p:spPr>
          <a:xfrm>
            <a:off x="4023124" y="3336593"/>
            <a:ext cx="923925" cy="790575"/>
          </a:xfrm>
          <a:prstGeom prst="flowChartProcess">
            <a:avLst/>
          </a:prstGeom>
          <a:solidFill>
            <a:schemeClr val="bg2"/>
          </a:solidFill>
          <a:ln w="38100">
            <a:solidFill>
              <a:schemeClr val="bg2">
                <a:lumMod val="40000"/>
                <a:lumOff val="6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Parser</a:t>
            </a:r>
          </a:p>
        </p:txBody>
      </p:sp>
      <p:sp>
        <p:nvSpPr>
          <p:cNvPr id="9" name="Flowchart: Process 8">
            <a:extLst>
              <a:ext uri="{FF2B5EF4-FFF2-40B4-BE49-F238E27FC236}">
                <a16:creationId xmlns:a16="http://schemas.microsoft.com/office/drawing/2014/main" id="{B8DC85E6-AC9D-0846-508C-6A7A3BC1B3C3}"/>
              </a:ext>
            </a:extLst>
          </p:cNvPr>
          <p:cNvSpPr/>
          <p:nvPr/>
        </p:nvSpPr>
        <p:spPr>
          <a:xfrm>
            <a:off x="5641184" y="3336594"/>
            <a:ext cx="1412078" cy="790575"/>
          </a:xfrm>
          <a:prstGeom prst="flowChartProcess">
            <a:avLst/>
          </a:prstGeom>
          <a:solidFill>
            <a:schemeClr val="bg2"/>
          </a:solidFill>
          <a:ln w="38100">
            <a:solidFill>
              <a:schemeClr val="bg2">
                <a:lumMod val="40000"/>
                <a:lumOff val="6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Desugaring</a:t>
            </a:r>
          </a:p>
        </p:txBody>
      </p:sp>
      <p:sp>
        <p:nvSpPr>
          <p:cNvPr id="10" name="Flowchart: Process 9">
            <a:extLst>
              <a:ext uri="{FF2B5EF4-FFF2-40B4-BE49-F238E27FC236}">
                <a16:creationId xmlns:a16="http://schemas.microsoft.com/office/drawing/2014/main" id="{C55CCD0E-C183-784F-E95F-2ECF4CCD3054}"/>
              </a:ext>
            </a:extLst>
          </p:cNvPr>
          <p:cNvSpPr/>
          <p:nvPr/>
        </p:nvSpPr>
        <p:spPr>
          <a:xfrm>
            <a:off x="7747397" y="3336594"/>
            <a:ext cx="923925" cy="790575"/>
          </a:xfrm>
          <a:prstGeom prst="flowChartProcess">
            <a:avLst/>
          </a:prstGeom>
          <a:solidFill>
            <a:schemeClr val="bg2"/>
          </a:solidFill>
          <a:ln w="38100">
            <a:solidFill>
              <a:schemeClr val="bg2">
                <a:lumMod val="40000"/>
                <a:lumOff val="6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Linker</a:t>
            </a:r>
          </a:p>
        </p:txBody>
      </p:sp>
      <p:sp>
        <p:nvSpPr>
          <p:cNvPr id="11" name="Flowchart: Process 10">
            <a:extLst>
              <a:ext uri="{FF2B5EF4-FFF2-40B4-BE49-F238E27FC236}">
                <a16:creationId xmlns:a16="http://schemas.microsoft.com/office/drawing/2014/main" id="{E9489989-1E64-1D9E-09C5-70778E715BBC}"/>
              </a:ext>
            </a:extLst>
          </p:cNvPr>
          <p:cNvSpPr/>
          <p:nvPr/>
        </p:nvSpPr>
        <p:spPr>
          <a:xfrm>
            <a:off x="9234488" y="4246563"/>
            <a:ext cx="1142998" cy="790575"/>
          </a:xfrm>
          <a:prstGeom prst="flowChartProcess">
            <a:avLst/>
          </a:prstGeom>
          <a:solidFill>
            <a:schemeClr val="bg2"/>
          </a:solidFill>
          <a:ln w="38100">
            <a:solidFill>
              <a:schemeClr val="bg2">
                <a:lumMod val="40000"/>
                <a:lumOff val="6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Type Inference</a:t>
            </a:r>
          </a:p>
        </p:txBody>
      </p:sp>
      <p:sp>
        <p:nvSpPr>
          <p:cNvPr id="12" name="Flowchart: Process 11">
            <a:extLst>
              <a:ext uri="{FF2B5EF4-FFF2-40B4-BE49-F238E27FC236}">
                <a16:creationId xmlns:a16="http://schemas.microsoft.com/office/drawing/2014/main" id="{9BEF7E25-3E5C-73E9-3E39-CDDB0A770EE8}"/>
              </a:ext>
            </a:extLst>
          </p:cNvPr>
          <p:cNvSpPr/>
          <p:nvPr/>
        </p:nvSpPr>
        <p:spPr>
          <a:xfrm>
            <a:off x="7728349" y="5141187"/>
            <a:ext cx="942973" cy="790575"/>
          </a:xfrm>
          <a:prstGeom prst="flowChartProcess">
            <a:avLst/>
          </a:prstGeom>
          <a:solidFill>
            <a:schemeClr val="bg2"/>
          </a:solidFill>
          <a:ln w="38100">
            <a:solidFill>
              <a:schemeClr val="bg2">
                <a:lumMod val="40000"/>
                <a:lumOff val="6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Effect Checks</a:t>
            </a:r>
          </a:p>
        </p:txBody>
      </p:sp>
      <p:sp>
        <p:nvSpPr>
          <p:cNvPr id="13" name="Flowchart: Process 12">
            <a:extLst>
              <a:ext uri="{FF2B5EF4-FFF2-40B4-BE49-F238E27FC236}">
                <a16:creationId xmlns:a16="http://schemas.microsoft.com/office/drawing/2014/main" id="{A2712935-878C-5EFE-80C5-9D950A51F461}"/>
              </a:ext>
            </a:extLst>
          </p:cNvPr>
          <p:cNvSpPr/>
          <p:nvPr/>
        </p:nvSpPr>
        <p:spPr>
          <a:xfrm>
            <a:off x="4683323" y="5141187"/>
            <a:ext cx="2262188" cy="790575"/>
          </a:xfrm>
          <a:prstGeom prst="flowChartProcess">
            <a:avLst/>
          </a:prstGeom>
          <a:solidFill>
            <a:schemeClr val="bg2"/>
          </a:solidFill>
          <a:ln w="38100">
            <a:solidFill>
              <a:schemeClr val="bg2">
                <a:lumMod val="40000"/>
                <a:lumOff val="6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Monomorphization</a:t>
            </a:r>
          </a:p>
        </p:txBody>
      </p:sp>
      <p:sp>
        <p:nvSpPr>
          <p:cNvPr id="14" name="Flowchart: Process 13">
            <a:extLst>
              <a:ext uri="{FF2B5EF4-FFF2-40B4-BE49-F238E27FC236}">
                <a16:creationId xmlns:a16="http://schemas.microsoft.com/office/drawing/2014/main" id="{CDADA884-6577-6467-CE42-2436872FE515}"/>
              </a:ext>
            </a:extLst>
          </p:cNvPr>
          <p:cNvSpPr/>
          <p:nvPr/>
        </p:nvSpPr>
        <p:spPr>
          <a:xfrm>
            <a:off x="2366962" y="5141188"/>
            <a:ext cx="1533523" cy="790575"/>
          </a:xfrm>
          <a:prstGeom prst="flowChartProcess">
            <a:avLst/>
          </a:prstGeom>
          <a:solidFill>
            <a:schemeClr val="bg2"/>
          </a:solidFill>
          <a:ln w="38100">
            <a:solidFill>
              <a:schemeClr val="bg2">
                <a:lumMod val="40000"/>
                <a:lumOff val="6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Code Generation</a:t>
            </a:r>
          </a:p>
        </p:txBody>
      </p:sp>
    </p:spTree>
    <p:extLst>
      <p:ext uri="{BB962C8B-B14F-4D97-AF65-F5344CB8AC3E}">
        <p14:creationId xmlns:p14="http://schemas.microsoft.com/office/powerpoint/2010/main" val="3070079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2" grpId="0" animBg="1"/>
      <p:bldP spid="53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9B8CB-2377-1A0D-E4B1-8D7C68253B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Solidity?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1B7248-1AA5-4A82-38A4-38D3E00278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Low-level control over </a:t>
            </a:r>
            <a:r>
              <a:rPr lang="en-CH" dirty="0"/>
              <a:t>memory</a:t>
            </a:r>
            <a:endParaRPr lang="en-GB" dirty="0"/>
          </a:p>
          <a:p>
            <a:pPr lvl="1"/>
            <a:r>
              <a:rPr lang="en-CH" dirty="0"/>
              <a:t>“Inline assembly” for specific optimizations</a:t>
            </a:r>
          </a:p>
          <a:p>
            <a:r>
              <a:rPr lang="en-GB" dirty="0"/>
              <a:t>Produces optimized </a:t>
            </a:r>
            <a:r>
              <a:rPr lang="en-CH" dirty="0"/>
              <a:t>bytecode</a:t>
            </a:r>
          </a:p>
          <a:p>
            <a:r>
              <a:rPr lang="en-CH" dirty="0"/>
              <a:t>Guaranteed compatibility with existing contracts</a:t>
            </a:r>
          </a:p>
          <a:p>
            <a:r>
              <a:rPr lang="en-GB" dirty="0"/>
              <a:t>Leverage </a:t>
            </a:r>
            <a:r>
              <a:rPr lang="en-CH" dirty="0"/>
              <a:t>existing tools</a:t>
            </a:r>
            <a:r>
              <a:rPr lang="en-GB" dirty="0"/>
              <a:t> (testing / deployment)</a:t>
            </a:r>
            <a:endParaRPr lang="en-CH" dirty="0"/>
          </a:p>
          <a:p>
            <a:pPr lvl="1"/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7B20A-B1C5-2F73-91AB-F78A0EB1BE5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0CA4FA-19F6-DBA9-F9E0-2CD483526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B62688-47C4-61C2-485F-BC34E504C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26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898306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854303-9C4B-60B6-D791-4093181D4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Evaluation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83892A-D240-3D04-0134-14BF1AB614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CH" sz="3200" dirty="0"/>
              <a:t>Reentrancy:</a:t>
            </a:r>
          </a:p>
          <a:p>
            <a:r>
              <a:rPr lang="en-GB" dirty="0"/>
              <a:t>Safety by default prevents most bugs</a:t>
            </a:r>
            <a:endParaRPr lang="en-CH" dirty="0"/>
          </a:p>
          <a:p>
            <a:r>
              <a:rPr lang="en-CH" dirty="0"/>
              <a:t>When does it not suffice?</a:t>
            </a:r>
          </a:p>
          <a:p>
            <a:pPr lvl="1"/>
            <a:r>
              <a:rPr lang="en-CH" dirty="0"/>
              <a:t>Mandated callbacks in token standards</a:t>
            </a:r>
          </a:p>
          <a:p>
            <a:pPr lvl="1"/>
            <a:r>
              <a:rPr lang="en-CH" dirty="0"/>
              <a:t>Cross-contract reentrancies</a:t>
            </a:r>
            <a:endParaRPr lang="en-GB" dirty="0"/>
          </a:p>
          <a:p>
            <a:pPr lvl="1"/>
            <a:r>
              <a:rPr lang="en-CH" dirty="0"/>
              <a:t>Specific use cases (e.g. flash loans)</a:t>
            </a:r>
            <a:endParaRPr lang="en-GB" dirty="0"/>
          </a:p>
          <a:p>
            <a:endParaRPr lang="en-GB" sz="600" dirty="0"/>
          </a:p>
          <a:p>
            <a:pPr marL="0" indent="0">
              <a:buNone/>
            </a:pPr>
            <a:r>
              <a:rPr lang="en-CH" sz="3200" dirty="0"/>
              <a:t>Effect</a:t>
            </a:r>
            <a:r>
              <a:rPr lang="en-GB" sz="3500" dirty="0"/>
              <a:t>s</a:t>
            </a:r>
            <a:r>
              <a:rPr lang="en-CH" sz="3500" dirty="0"/>
              <a:t>:</a:t>
            </a:r>
          </a:p>
          <a:p>
            <a:r>
              <a:rPr lang="en-CH" dirty="0"/>
              <a:t>Primary goal: enhance auditability</a:t>
            </a:r>
            <a:endParaRPr lang="en-GB" dirty="0"/>
          </a:p>
          <a:p>
            <a:r>
              <a:rPr lang="en-GB" dirty="0"/>
              <a:t>Flags </a:t>
            </a:r>
            <a:r>
              <a:rPr lang="en-CH" dirty="0"/>
              <a:t>unexpected / missing side effects</a:t>
            </a:r>
          </a:p>
          <a:p>
            <a:r>
              <a:rPr lang="en-GB" dirty="0"/>
              <a:t>Propagated </a:t>
            </a:r>
            <a:r>
              <a:rPr lang="en-CH" dirty="0"/>
              <a:t>across reentrant calls</a:t>
            </a:r>
            <a:endParaRPr lang="en-GB" dirty="0"/>
          </a:p>
          <a:p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8B9E4D-228B-1EBF-08D5-75664586585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C6F595-200A-59FE-CC12-BAD8DBE4D0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BC10FA-B9F5-DD7F-06F4-543415478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27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0EE0F8C-0387-1F1A-1134-F624ED621D8C}"/>
              </a:ext>
            </a:extLst>
          </p:cNvPr>
          <p:cNvSpPr txBox="1">
            <a:spLocks/>
          </p:cNvSpPr>
          <p:nvPr/>
        </p:nvSpPr>
        <p:spPr>
          <a:xfrm>
            <a:off x="6819900" y="1822450"/>
            <a:ext cx="5270500" cy="21621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CH" sz="3000" dirty="0"/>
              <a:t>ADTs:</a:t>
            </a:r>
          </a:p>
          <a:p>
            <a:r>
              <a:rPr lang="en-GB" sz="2600" dirty="0"/>
              <a:t>Faithfully model state machines</a:t>
            </a:r>
          </a:p>
          <a:p>
            <a:r>
              <a:rPr lang="en-GB" sz="2600" dirty="0"/>
              <a:t>Machine-checked exhaustiveness of pattern matching</a:t>
            </a:r>
            <a:endParaRPr lang="en-CH" sz="2600" dirty="0"/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67282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9C1ED4-F0C5-E839-0E0F-99DF3B8D1C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1300"/>
            <a:ext cx="11061700" cy="3822699"/>
          </a:xfrm>
          <a:solidFill>
            <a:schemeClr val="bg1"/>
          </a:solidFill>
        </p:spPr>
        <p:txBody>
          <a:bodyPr>
            <a:normAutofit/>
          </a:bodyPr>
          <a:lstStyle/>
          <a:p>
            <a:pPr>
              <a:buFont typeface="Aptos" panose="020B0004020202020204" pitchFamily="34" charset="0"/>
              <a:buChar char="→"/>
            </a:pPr>
            <a:r>
              <a:rPr lang="en-GB" sz="3200" i="1" dirty="0"/>
              <a:t> Can we prevent real-world reentrancies?</a:t>
            </a:r>
          </a:p>
          <a:p>
            <a:pPr>
              <a:buFont typeface="Aptos" panose="020B0004020202020204" pitchFamily="34" charset="0"/>
              <a:buChar char="→"/>
            </a:pPr>
            <a:r>
              <a:rPr lang="en-GB" sz="3200" i="1" dirty="0"/>
              <a:t> Do we need call path specification? </a:t>
            </a:r>
            <a:r>
              <a:rPr lang="en-GB" sz="2400" dirty="0">
                <a:solidFill>
                  <a:schemeClr val="tx2"/>
                </a:solidFill>
              </a:rPr>
              <a:t>or is ‘safety by default’ enough?</a:t>
            </a:r>
            <a:endParaRPr lang="en-GB" sz="2800" dirty="0">
              <a:solidFill>
                <a:schemeClr val="tx2"/>
              </a:solidFill>
            </a:endParaRPr>
          </a:p>
          <a:p>
            <a:pPr lvl="1"/>
            <a:endParaRPr lang="en-GB" sz="2800" dirty="0"/>
          </a:p>
          <a:p>
            <a:r>
              <a:rPr lang="en-GB" sz="3200" dirty="0"/>
              <a:t>Same dataset as earlier</a:t>
            </a:r>
          </a:p>
          <a:p>
            <a:r>
              <a:rPr lang="en-GB" sz="3200" dirty="0"/>
              <a:t>54 reentrancy bugs</a:t>
            </a:r>
          </a:p>
          <a:p>
            <a:r>
              <a:rPr lang="en-GB" sz="3200" dirty="0"/>
              <a:t>37 could have rejected all reentrant calls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4DB1B0D-3F5B-02E8-2AFC-3CC805FB23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0963840"/>
              </p:ext>
            </p:extLst>
          </p:nvPr>
        </p:nvGraphicFramePr>
        <p:xfrm>
          <a:off x="838200" y="2713039"/>
          <a:ext cx="8603974" cy="3561080"/>
        </p:xfrm>
        <a:graphic>
          <a:graphicData uri="http://schemas.openxmlformats.org/drawingml/2006/table">
            <a:tbl>
              <a:tblPr firstRow="1" lastRow="1">
                <a:tableStyleId>{073A0DAA-6AF3-43AB-8588-CEC1D06C72B9}</a:tableStyleId>
              </a:tblPr>
              <a:tblGrid>
                <a:gridCol w="1802435">
                  <a:extLst>
                    <a:ext uri="{9D8B030D-6E8A-4147-A177-3AD203B41FA5}">
                      <a16:colId xmlns:a16="http://schemas.microsoft.com/office/drawing/2014/main" val="894599600"/>
                    </a:ext>
                  </a:extLst>
                </a:gridCol>
                <a:gridCol w="847720">
                  <a:extLst>
                    <a:ext uri="{9D8B030D-6E8A-4147-A177-3AD203B41FA5}">
                      <a16:colId xmlns:a16="http://schemas.microsoft.com/office/drawing/2014/main" val="203540333"/>
                    </a:ext>
                  </a:extLst>
                </a:gridCol>
                <a:gridCol w="1514375">
                  <a:extLst>
                    <a:ext uri="{9D8B030D-6E8A-4147-A177-3AD203B41FA5}">
                      <a16:colId xmlns:a16="http://schemas.microsoft.com/office/drawing/2014/main" val="1149094040"/>
                    </a:ext>
                  </a:extLst>
                </a:gridCol>
                <a:gridCol w="2300862">
                  <a:extLst>
                    <a:ext uri="{9D8B030D-6E8A-4147-A177-3AD203B41FA5}">
                      <a16:colId xmlns:a16="http://schemas.microsoft.com/office/drawing/2014/main" val="733630150"/>
                    </a:ext>
                  </a:extLst>
                </a:gridCol>
                <a:gridCol w="2138582">
                  <a:extLst>
                    <a:ext uri="{9D8B030D-6E8A-4147-A177-3AD203B41FA5}">
                      <a16:colId xmlns:a16="http://schemas.microsoft.com/office/drawing/2014/main" val="25228030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sz="2000" dirty="0"/>
                        <a:t>Category</a:t>
                      </a:r>
                    </a:p>
                  </a:txBody>
                  <a:tcPr marL="54000" marR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2000" dirty="0"/>
                        <a:t>Count</a:t>
                      </a:r>
                    </a:p>
                  </a:txBody>
                  <a:tcPr marL="54000" marR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2000" dirty="0"/>
                        <a:t>Funds Lost</a:t>
                      </a:r>
                    </a:p>
                  </a:txBody>
                  <a:tcPr marL="54000" marR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dirty="0"/>
                        <a:t>Safety by Default</a:t>
                      </a:r>
                      <a:endParaRPr lang="en-CH" sz="2000" dirty="0"/>
                    </a:p>
                  </a:txBody>
                  <a:tcPr marL="54000" marR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2000" dirty="0"/>
                        <a:t>Path-Specific</a:t>
                      </a:r>
                    </a:p>
                  </a:txBody>
                  <a:tcPr marL="54000" marR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768217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Missing Guard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37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$141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Yes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C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09098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Cross-Protocol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6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$9.6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If upstream protocol uses this compiler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CH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8488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Callback Token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6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$57.6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Yes</a:t>
                      </a:r>
                    </a:p>
                    <a:p>
                      <a:pPr algn="ctr"/>
                      <a:r>
                        <a:rPr lang="en-CH" b="1" dirty="0"/>
                        <a:t>(incompatible with the token standard)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Yes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35512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Cross-Function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2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$27.7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No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Yes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4374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Flash Loan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2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$5.7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No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Yes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79327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Compiler Bug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1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$41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Unclear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C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86567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sz="2000" dirty="0"/>
                        <a:t>Total</a:t>
                      </a:r>
                    </a:p>
                  </a:txBody>
                  <a:tcPr marL="54000" marR="5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sz="2000" dirty="0"/>
                        <a:t>54</a:t>
                      </a:r>
                    </a:p>
                  </a:txBody>
                  <a:tcPr marL="54000" marR="5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sz="2000" dirty="0"/>
                        <a:t>$187 million</a:t>
                      </a:r>
                    </a:p>
                  </a:txBody>
                  <a:tcPr marL="54000" marR="5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2000" dirty="0"/>
                        <a:t>49/54</a:t>
                      </a:r>
                    </a:p>
                  </a:txBody>
                  <a:tcPr marL="54000" marR="5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2000" dirty="0"/>
                        <a:t>53/54</a:t>
                      </a:r>
                    </a:p>
                  </a:txBody>
                  <a:tcPr marL="54000" marR="5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1685451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F5D12ED-B89B-47F9-274E-31ACAA128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Evaluation: </a:t>
            </a:r>
            <a:r>
              <a:rPr lang="en-CH" dirty="0"/>
              <a:t>Reentranc</a:t>
            </a:r>
            <a:r>
              <a:rPr lang="en-GB" dirty="0"/>
              <a:t>y</a:t>
            </a: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C29F6C-7D5E-46FB-93AC-F42F14DA59C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8F80E4-61B4-B319-B434-3E89BF70E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18EE6D-E6F0-DF0D-5D9D-679BCC2E2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28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015732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8D1DC-16BA-AC15-FD23-2C9971E34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Evaluation: Performance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1B073C-A903-CA8B-A8CD-3A95B9BAFF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578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H" b="1" dirty="0"/>
              <a:t>Performance:</a:t>
            </a:r>
          </a:p>
          <a:p>
            <a:r>
              <a:rPr lang="en-CH" dirty="0"/>
              <a:t>Main difference:</a:t>
            </a:r>
            <a:br>
              <a:rPr lang="en-GB" dirty="0"/>
            </a:br>
            <a:r>
              <a:rPr lang="en-CH" dirty="0"/>
              <a:t>Reentrancy guard</a:t>
            </a:r>
            <a:r>
              <a:rPr lang="en-GB" dirty="0"/>
              <a:t>s</a:t>
            </a:r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r>
              <a:rPr lang="en-GB" b="1" dirty="0"/>
              <a:t>Metrics</a:t>
            </a:r>
            <a:r>
              <a:rPr lang="en-CH" b="1" dirty="0"/>
              <a:t>:</a:t>
            </a:r>
          </a:p>
          <a:p>
            <a:r>
              <a:rPr lang="en-GB" dirty="0"/>
              <a:t>Instructions consume ‘gas’</a:t>
            </a:r>
          </a:p>
          <a:p>
            <a:r>
              <a:rPr lang="en-GB" dirty="0"/>
              <a:t>Storage slots are cached</a:t>
            </a:r>
          </a:p>
          <a:p>
            <a:pPr lvl="1"/>
            <a:r>
              <a:rPr lang="en-GB" dirty="0"/>
              <a:t>Only first access is expensive</a:t>
            </a:r>
          </a:p>
          <a:p>
            <a:pPr marL="0" indent="0">
              <a:buNone/>
            </a:pPr>
            <a:r>
              <a:rPr lang="en-GB" dirty="0"/>
              <a:t>Base transaction cost: 21k gas </a:t>
            </a:r>
            <a:r>
              <a:rPr lang="en-GB" sz="2400" dirty="0">
                <a:solidFill>
                  <a:schemeClr val="tx2"/>
                </a:solidFill>
              </a:rPr>
              <a:t>~ $0.01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DD343CA-A09C-F4AB-C41A-9F6D2EDF6EE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Setup</a:t>
            </a:r>
            <a:r>
              <a:rPr lang="en-CH" b="1" dirty="0"/>
              <a:t>:</a:t>
            </a:r>
            <a:endParaRPr lang="en-GB" b="1" dirty="0"/>
          </a:p>
          <a:p>
            <a:r>
              <a:rPr lang="en-GB" dirty="0"/>
              <a:t>Simplest real-world contract: ERC20 Token</a:t>
            </a:r>
            <a:endParaRPr lang="en-CH" dirty="0">
              <a:solidFill>
                <a:schemeClr val="tx2"/>
              </a:solidFill>
            </a:endParaRPr>
          </a:p>
          <a:p>
            <a:r>
              <a:rPr lang="en-GB" dirty="0"/>
              <a:t>Measure gas costs of external functions</a:t>
            </a:r>
          </a:p>
          <a:p>
            <a:r>
              <a:rPr lang="en-GB" dirty="0"/>
              <a:t>Compare existing reentrancy guards to ours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724778-0D67-4519-B242-81A385C36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8D67A7-B7A6-9CA1-0C7B-73B8BB9B6B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DF68E6-9AA3-3821-A5A9-671C79982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29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880314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6AB39-B8F8-3BF9-B996-36F31C1F93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E316F4-871F-1733-8D34-4D6E36039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Cost of Reentrancy Guards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A9B25E-0286-FE97-00B2-A4C30194F5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307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Standard Practice:</a:t>
            </a:r>
          </a:p>
          <a:p>
            <a:r>
              <a:rPr lang="en-GB" dirty="0" err="1"/>
              <a:t>ReentrancyGuard</a:t>
            </a:r>
            <a:r>
              <a:rPr lang="en-GB" dirty="0"/>
              <a:t> library contract</a:t>
            </a:r>
          </a:p>
          <a:p>
            <a:r>
              <a:rPr lang="en-GB" dirty="0"/>
              <a:t>Make state-mutating functions  </a:t>
            </a:r>
            <a:r>
              <a:rPr lang="en-GB" sz="2400" dirty="0">
                <a:solidFill>
                  <a:schemeClr val="accent4"/>
                </a:solidFill>
                <a:latin typeface="Lucida Console" panose="020B0609040504020204" pitchFamily="49" charset="0"/>
              </a:rPr>
              <a:t>@nonReentrant</a:t>
            </a:r>
            <a:endParaRPr lang="en-GB" dirty="0">
              <a:solidFill>
                <a:schemeClr val="accent4"/>
              </a:solidFill>
              <a:latin typeface="Lucida Console" panose="020B0609040504020204" pitchFamily="49" charset="0"/>
            </a:endParaRPr>
          </a:p>
          <a:p>
            <a:pPr lvl="1"/>
            <a:r>
              <a:rPr lang="en-GB" dirty="0"/>
              <a:t>Guard itself modifies state → cannot be used on read-only functions</a:t>
            </a:r>
          </a:p>
          <a:p>
            <a:pPr marL="914400" lvl="2" indent="0">
              <a:buNone/>
            </a:pPr>
            <a:r>
              <a:rPr lang="en-GB" dirty="0">
                <a:solidFill>
                  <a:schemeClr val="tx2"/>
                </a:solidFill>
              </a:rPr>
              <a:t>			           →  6 cross-protocol vulnerabilities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b="1" dirty="0"/>
              <a:t>But:</a:t>
            </a:r>
          </a:p>
          <a:p>
            <a:r>
              <a:rPr lang="en-GB" dirty="0"/>
              <a:t>Functions that make no external calls do not need to modify guard</a:t>
            </a:r>
          </a:p>
          <a:p>
            <a:pPr lvl="1">
              <a:buFont typeface="Aptos" panose="020B0004020202020204" pitchFamily="34" charset="0"/>
              <a:buChar char="→"/>
            </a:pPr>
            <a:r>
              <a:rPr lang="en-GB" dirty="0"/>
              <a:t> We can choose best approach at compile-time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C12FCC-6FA0-B742-3A05-0B36A07612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64FA94-9793-B0E0-2403-CB03313DA6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D31972-98DE-F96F-60EF-6B5C022C3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30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454097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9159EB-6C55-B8E4-3060-59896726BA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Cost of Reentrancy Guards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546448-4ADB-24B4-577F-C88398AB8A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22390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400" dirty="0"/>
              <a:t>ERC20 Token Transfer: </a:t>
            </a:r>
            <a:r>
              <a:rPr lang="en-GB" sz="2000" dirty="0">
                <a:solidFill>
                  <a:schemeClr val="tx2"/>
                </a:solidFill>
              </a:rPr>
              <a:t>(no external calls, warm)</a:t>
            </a:r>
          </a:p>
          <a:p>
            <a:r>
              <a:rPr lang="en-GB" sz="2400" dirty="0"/>
              <a:t>Unguarded: 10’621 gas</a:t>
            </a:r>
          </a:p>
          <a:p>
            <a:r>
              <a:rPr lang="en-GB" sz="2400" dirty="0"/>
              <a:t>Standard guard: 10’977 gas</a:t>
            </a:r>
          </a:p>
          <a:p>
            <a:r>
              <a:rPr lang="en-GB" sz="2400" dirty="0"/>
              <a:t>Ours: 10’843 gas</a:t>
            </a:r>
            <a:r>
              <a:rPr lang="en-GB" sz="2400" dirty="0">
                <a:solidFill>
                  <a:schemeClr val="accent6"/>
                </a:solidFill>
              </a:rPr>
              <a:t> -134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en-GB" sz="2400" dirty="0"/>
              <a:t>ERC20 Total Supply: </a:t>
            </a:r>
            <a:r>
              <a:rPr lang="en-GB" sz="2000" dirty="0">
                <a:solidFill>
                  <a:schemeClr val="tx2"/>
                </a:solidFill>
              </a:rPr>
              <a:t>(read-only, cold)</a:t>
            </a:r>
            <a:endParaRPr lang="en-GB" sz="2400" dirty="0">
              <a:solidFill>
                <a:schemeClr val="tx2"/>
              </a:solidFill>
            </a:endParaRPr>
          </a:p>
          <a:p>
            <a:r>
              <a:rPr lang="en-GB" sz="2400" dirty="0"/>
              <a:t>Unguarded: 2248 gas</a:t>
            </a:r>
          </a:p>
          <a:p>
            <a:r>
              <a:rPr lang="en-GB" sz="2400" dirty="0"/>
              <a:t>Ours: 4489 gas </a:t>
            </a:r>
            <a:r>
              <a:rPr lang="en-GB" sz="2400" dirty="0">
                <a:solidFill>
                  <a:schemeClr val="accent1"/>
                </a:solidFill>
              </a:rPr>
              <a:t>+2241</a:t>
            </a:r>
          </a:p>
          <a:p>
            <a:pPr marL="0" indent="0">
              <a:buNone/>
            </a:pPr>
            <a:endParaRPr lang="en-CH" sz="24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5EC1AB-6370-9FD4-956B-ABDD286580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9060E1-89C3-BA1F-21B5-346F6C5D2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BE10FC-33E4-FF06-BB8C-E3F3FCB53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31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E182278-90D1-7429-B210-681FF7FE57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8051758"/>
              </p:ext>
            </p:extLst>
          </p:nvPr>
        </p:nvGraphicFramePr>
        <p:xfrm>
          <a:off x="5635000" y="2351290"/>
          <a:ext cx="5951200" cy="3698240"/>
        </p:xfrm>
        <a:graphic>
          <a:graphicData uri="http://schemas.openxmlformats.org/drawingml/2006/table">
            <a:tbl>
              <a:tblPr firstRow="1" firstCol="1" bandRow="1">
                <a:tableStyleId>{073A0DAA-6AF3-43AB-8588-CEC1D06C72B9}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391336633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3531957712"/>
                    </a:ext>
                  </a:extLst>
                </a:gridCol>
                <a:gridCol w="1244600">
                  <a:extLst>
                    <a:ext uri="{9D8B030D-6E8A-4147-A177-3AD203B41FA5}">
                      <a16:colId xmlns:a16="http://schemas.microsoft.com/office/drawing/2014/main" val="1010579451"/>
                    </a:ext>
                  </a:extLst>
                </a:gridCol>
                <a:gridCol w="784000">
                  <a:extLst>
                    <a:ext uri="{9D8B030D-6E8A-4147-A177-3AD203B41FA5}">
                      <a16:colId xmlns:a16="http://schemas.microsoft.com/office/drawing/2014/main" val="2180995196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5639125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sz="2000" dirty="0"/>
                        <a:t>Cache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CH" sz="2000" dirty="0"/>
                        <a:t>Scenario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Standard</a:t>
                      </a:r>
                      <a:endParaRPr lang="en-CH" sz="20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CH" sz="2000" dirty="0"/>
                        <a:t>Ours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CH" sz="2000" dirty="0"/>
                        <a:t>Delta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7760648"/>
                  </a:ext>
                </a:extLst>
              </a:tr>
              <a:tr h="370840">
                <a:tc rowSpan="3"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Warm Slot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b="1" dirty="0"/>
                        <a:t>Default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300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300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5818381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b="1" dirty="0"/>
                        <a:t>No external calls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300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100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-200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9001220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b="1" dirty="0"/>
                        <a:t>Read-only function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100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100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9555795"/>
                  </a:ext>
                </a:extLst>
              </a:tr>
              <a:tr h="370840">
                <a:tc rowSpan="3"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Cold Slot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b="1" dirty="0"/>
                        <a:t>Default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2300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2300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9820351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b="1" dirty="0"/>
                        <a:t>No external calls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2300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2100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-200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6696184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b="1" dirty="0"/>
                        <a:t>Read-only function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2100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2100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539574"/>
                  </a:ext>
                </a:extLst>
              </a:tr>
            </a:tbl>
          </a:graphicData>
        </a:graphic>
      </p:graphicFrame>
      <p:grpSp>
        <p:nvGrpSpPr>
          <p:cNvPr id="15" name="Group 14">
            <a:extLst>
              <a:ext uri="{FF2B5EF4-FFF2-40B4-BE49-F238E27FC236}">
                <a16:creationId xmlns:a16="http://schemas.microsoft.com/office/drawing/2014/main" id="{D9611184-612F-CA5E-B912-D85A4BB9EF45}"/>
              </a:ext>
            </a:extLst>
          </p:cNvPr>
          <p:cNvGrpSpPr/>
          <p:nvPr/>
        </p:nvGrpSpPr>
        <p:grpSpPr>
          <a:xfrm>
            <a:off x="5635000" y="2746800"/>
            <a:ext cx="5951200" cy="3302730"/>
            <a:chOff x="5635000" y="2746800"/>
            <a:chExt cx="5951200" cy="330273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E78FB08-EC6C-D15B-94E3-A3C7EEE19581}"/>
                </a:ext>
              </a:extLst>
            </p:cNvPr>
            <p:cNvSpPr/>
            <p:nvPr/>
          </p:nvSpPr>
          <p:spPr>
            <a:xfrm>
              <a:off x="7264400" y="3746500"/>
              <a:ext cx="4321800" cy="2303030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7499E0F-54C2-2EB0-1733-4FB0B654C188}"/>
                </a:ext>
              </a:extLst>
            </p:cNvPr>
            <p:cNvSpPr/>
            <p:nvPr/>
          </p:nvSpPr>
          <p:spPr>
            <a:xfrm>
              <a:off x="5635000" y="4406900"/>
              <a:ext cx="1629400" cy="1642630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2A13C14-18E2-A9AB-EC1A-50BD61D72152}"/>
                </a:ext>
              </a:extLst>
            </p:cNvPr>
            <p:cNvSpPr/>
            <p:nvPr/>
          </p:nvSpPr>
          <p:spPr>
            <a:xfrm>
              <a:off x="7264400" y="2746800"/>
              <a:ext cx="4321800" cy="377262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569FF6D-48A3-267F-6422-ABC38D5D124C}"/>
              </a:ext>
            </a:extLst>
          </p:cNvPr>
          <p:cNvGrpSpPr/>
          <p:nvPr/>
        </p:nvGrpSpPr>
        <p:grpSpPr>
          <a:xfrm>
            <a:off x="5635000" y="2746800"/>
            <a:ext cx="5951200" cy="2670026"/>
            <a:chOff x="5635000" y="3429000"/>
            <a:chExt cx="5951200" cy="2670026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74D21D37-F82C-2F40-0260-9EE91D7FADE5}"/>
                </a:ext>
              </a:extLst>
            </p:cNvPr>
            <p:cNvSpPr/>
            <p:nvPr/>
          </p:nvSpPr>
          <p:spPr>
            <a:xfrm>
              <a:off x="7264400" y="3429000"/>
              <a:ext cx="4321800" cy="2670026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D892CAEC-9E53-E18E-33EC-EF89909C06D6}"/>
                </a:ext>
              </a:extLst>
            </p:cNvPr>
            <p:cNvSpPr/>
            <p:nvPr/>
          </p:nvSpPr>
          <p:spPr>
            <a:xfrm>
              <a:off x="5635000" y="3429000"/>
              <a:ext cx="1629400" cy="1642630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F54A60C-3E22-7B89-190D-4FB25799FB29}"/>
              </a:ext>
            </a:extLst>
          </p:cNvPr>
          <p:cNvSpPr txBox="1"/>
          <p:nvPr/>
        </p:nvSpPr>
        <p:spPr>
          <a:xfrm>
            <a:off x="838200" y="5605335"/>
            <a:ext cx="5112513" cy="461665"/>
          </a:xfrm>
          <a:prstGeom prst="rect">
            <a:avLst/>
          </a:prstGeom>
          <a:solidFill>
            <a:schemeClr val="bg2"/>
          </a:solidFill>
          <a:ln w="25400">
            <a:solidFill>
              <a:schemeClr val="tx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GB" sz="2400" b="1" i="1" dirty="0">
                <a:solidFill>
                  <a:schemeClr val="accent5"/>
                </a:solidFill>
              </a:rPr>
              <a:t>Worst-case scenario: 10% extra gas</a:t>
            </a:r>
          </a:p>
        </p:txBody>
      </p:sp>
    </p:spTree>
    <p:extLst>
      <p:ext uri="{BB962C8B-B14F-4D97-AF65-F5344CB8AC3E}">
        <p14:creationId xmlns:p14="http://schemas.microsoft.com/office/powerpoint/2010/main" val="7589050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40FCEF-7C79-F266-529D-50A1021DF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A0B1C-9F32-F303-13AB-62061B9EE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Evaluation: Overhead of Effect Annotations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3A83A9-25EE-164D-610E-C5F3BA5FB9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Developers</a:t>
            </a:r>
            <a:r>
              <a:rPr lang="en-CH" b="1" dirty="0"/>
              <a:t>:</a:t>
            </a:r>
            <a:endParaRPr lang="en-GB" b="1" dirty="0"/>
          </a:p>
          <a:p>
            <a:r>
              <a:rPr lang="en-GB" dirty="0"/>
              <a:t>How many additional LoC?</a:t>
            </a:r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endParaRPr lang="en-CH" b="1" dirty="0"/>
          </a:p>
          <a:p>
            <a:pPr marL="0" indent="0">
              <a:buNone/>
            </a:pPr>
            <a:r>
              <a:rPr lang="en-GB" b="1" dirty="0"/>
              <a:t>Auditors</a:t>
            </a:r>
            <a:r>
              <a:rPr lang="en-CH" b="1" dirty="0"/>
              <a:t>:</a:t>
            </a:r>
            <a:endParaRPr lang="en-GB" b="1" dirty="0"/>
          </a:p>
          <a:p>
            <a:r>
              <a:rPr lang="en-GB" dirty="0"/>
              <a:t>How much effort is saved?</a:t>
            </a:r>
          </a:p>
          <a:p>
            <a:r>
              <a:rPr lang="en-GB" dirty="0"/>
              <a:t>Can more bugs be found?</a:t>
            </a:r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972CFB-5493-563E-14C3-A984E57B344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F92E53-DF42-76C4-AEC8-C7A50AFE3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75A2BA-5091-A440-4CA2-D25029702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32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9FBDC41-CCEC-6986-A3EC-5597B24020D4}"/>
              </a:ext>
            </a:extLst>
          </p:cNvPr>
          <p:cNvSpPr txBox="1">
            <a:spLocks/>
          </p:cNvSpPr>
          <p:nvPr/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b="1" dirty="0"/>
              <a:t>Setup</a:t>
            </a:r>
            <a:r>
              <a:rPr lang="en-CH" b="1" dirty="0"/>
              <a:t>:</a:t>
            </a:r>
            <a:endParaRPr lang="en-GB" b="1" dirty="0"/>
          </a:p>
          <a:p>
            <a:r>
              <a:rPr lang="en-GB" dirty="0"/>
              <a:t>ERC20 Token </a:t>
            </a:r>
            <a:r>
              <a:rPr lang="en-GB" sz="2400" dirty="0">
                <a:solidFill>
                  <a:schemeClr val="tx2"/>
                </a:solidFill>
              </a:rPr>
              <a:t>~50 LoC</a:t>
            </a:r>
            <a:endParaRPr lang="en-CH" dirty="0">
              <a:solidFill>
                <a:schemeClr val="tx2"/>
              </a:solidFill>
            </a:endParaRPr>
          </a:p>
          <a:p>
            <a:r>
              <a:rPr lang="en-GB" dirty="0"/>
              <a:t>Token Exchange </a:t>
            </a:r>
            <a:r>
              <a:rPr lang="en-GB" sz="2400" dirty="0">
                <a:solidFill>
                  <a:schemeClr val="tx2"/>
                </a:solidFill>
              </a:rPr>
              <a:t>~300 LoC</a:t>
            </a:r>
            <a:endParaRPr lang="en-GB" dirty="0">
              <a:solidFill>
                <a:schemeClr val="tx2"/>
              </a:solidFill>
            </a:endParaRPr>
          </a:p>
          <a:p>
            <a:r>
              <a:rPr lang="en-GB" dirty="0"/>
              <a:t>AAVE Lending Pool </a:t>
            </a:r>
            <a:r>
              <a:rPr lang="en-GB" sz="2400" dirty="0">
                <a:solidFill>
                  <a:schemeClr val="tx2"/>
                </a:solidFill>
              </a:rPr>
              <a:t>~1100 LoC</a:t>
            </a:r>
            <a:endParaRPr lang="en-GB" dirty="0"/>
          </a:p>
          <a:p>
            <a:r>
              <a:rPr lang="en-GB" dirty="0"/>
              <a:t>Curve </a:t>
            </a:r>
            <a:r>
              <a:rPr lang="en-GB" dirty="0" err="1"/>
              <a:t>Tricrypto</a:t>
            </a:r>
            <a:r>
              <a:rPr lang="en-GB" dirty="0"/>
              <a:t> </a:t>
            </a:r>
            <a:r>
              <a:rPr lang="en-GB" sz="2400" dirty="0">
                <a:solidFill>
                  <a:schemeClr val="tx2"/>
                </a:solidFill>
              </a:rPr>
              <a:t>~1500 LoC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343970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2F0D9A-7662-E0D9-0BCC-FD119209F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1486F-287A-F68D-C44C-CD394DFB19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Evaluation: Overhead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544298-81E6-0024-73CE-1ED23C896E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Developers</a:t>
            </a:r>
            <a:r>
              <a:rPr lang="en-CH" b="1" dirty="0"/>
              <a:t>:</a:t>
            </a:r>
            <a:endParaRPr lang="en-GB" b="1" dirty="0"/>
          </a:p>
          <a:p>
            <a:r>
              <a:rPr lang="en-GB" dirty="0"/>
              <a:t>How many additional LoC?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pPr>
              <a:buFont typeface="Aptos" panose="020B0004020202020204" pitchFamily="34" charset="0"/>
              <a:buChar char="→"/>
            </a:pPr>
            <a:r>
              <a:rPr lang="en-GB" dirty="0"/>
              <a:t> </a:t>
            </a:r>
            <a:r>
              <a:rPr lang="en-GB" i="1" dirty="0"/>
              <a:t>Overhead shrinks as contract size increases!</a:t>
            </a:r>
          </a:p>
          <a:p>
            <a:pPr marL="0" indent="0">
              <a:buNone/>
            </a:pP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D44591-B9DB-253B-53DD-48E50006888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B967EB-A7A5-9AD3-F637-F3CF27B94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B52762-01E3-9C7B-DF0E-14D6290E7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33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06ACECE-3890-6C72-69D3-D5E069725C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7274556"/>
              </p:ext>
            </p:extLst>
          </p:nvPr>
        </p:nvGraphicFramePr>
        <p:xfrm>
          <a:off x="838200" y="2939574"/>
          <a:ext cx="7200000" cy="2123440"/>
        </p:xfrm>
        <a:graphic>
          <a:graphicData uri="http://schemas.openxmlformats.org/drawingml/2006/table">
            <a:tbl>
              <a:tblPr firstRow="1" firstCol="1" bandRow="1">
                <a:tableStyleId>{073A0DAA-6AF3-43AB-8588-CEC1D06C72B9}</a:tableStyleId>
              </a:tblPr>
              <a:tblGrid>
                <a:gridCol w="2124000">
                  <a:extLst>
                    <a:ext uri="{9D8B030D-6E8A-4147-A177-3AD203B41FA5}">
                      <a16:colId xmlns:a16="http://schemas.microsoft.com/office/drawing/2014/main" val="2755551792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1949588284"/>
                    </a:ext>
                  </a:extLst>
                </a:gridCol>
                <a:gridCol w="828000">
                  <a:extLst>
                    <a:ext uri="{9D8B030D-6E8A-4147-A177-3AD203B41FA5}">
                      <a16:colId xmlns:a16="http://schemas.microsoft.com/office/drawing/2014/main" val="2857384281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2320543094"/>
                    </a:ext>
                  </a:extLst>
                </a:gridCol>
                <a:gridCol w="1008000">
                  <a:extLst>
                    <a:ext uri="{9D8B030D-6E8A-4147-A177-3AD203B41FA5}">
                      <a16:colId xmlns:a16="http://schemas.microsoft.com/office/drawing/2014/main" val="2674435153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14396012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/>
                        <a:t>Contract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State vars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LoC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Effectful</a:t>
                      </a:r>
                      <a:br>
                        <a:rPr lang="en-GB" dirty="0"/>
                      </a:br>
                      <a:r>
                        <a:rPr lang="en-CH" dirty="0"/>
                        <a:t>Function</a:t>
                      </a:r>
                      <a:r>
                        <a:rPr lang="en-GB" dirty="0"/>
                        <a:t>s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In</a:t>
                      </a:r>
                      <a:r>
                        <a:rPr lang="en-GB" dirty="0"/>
                        <a:t>direct</a:t>
                      </a:r>
                      <a:r>
                        <a:rPr lang="en-CH" dirty="0"/>
                        <a:t> </a:t>
                      </a:r>
                      <a:r>
                        <a:rPr lang="en-GB" dirty="0"/>
                        <a:t>E</a:t>
                      </a:r>
                      <a:r>
                        <a:rPr lang="en-CH" dirty="0"/>
                        <a:t>ffects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Additional LoC %</a:t>
                      </a:r>
                      <a:endParaRPr lang="en-CH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88764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/>
                        <a:t>ERC20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dirty="0"/>
                        <a:t>3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~50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6</a:t>
                      </a:r>
                      <a:r>
                        <a:rPr lang="en-GB" dirty="0"/>
                        <a:t> / 9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dirty="0"/>
                        <a:t>16.67%</a:t>
                      </a:r>
                      <a:endParaRPr lang="en-CH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4177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Token Exchange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dirty="0"/>
                        <a:t>8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~100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7</a:t>
                      </a:r>
                      <a:r>
                        <a:rPr lang="en-GB" dirty="0"/>
                        <a:t> / 16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dirty="0"/>
                        <a:t>9%</a:t>
                      </a:r>
                      <a:endParaRPr lang="en-CH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7189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AAVE Lending Pool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dirty="0"/>
                        <a:t>5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dirty="0"/>
                        <a:t>~1100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dirty="0"/>
                        <a:t>42 / 88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dirty="0"/>
                        <a:t>32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dirty="0"/>
                        <a:t>6.73%</a:t>
                      </a:r>
                      <a:endParaRPr lang="en-CH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26688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/>
                        <a:t>Curve </a:t>
                      </a:r>
                      <a:r>
                        <a:rPr lang="en-CH" dirty="0" err="1"/>
                        <a:t>Tricrypto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~1500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33</a:t>
                      </a:r>
                      <a:r>
                        <a:rPr lang="en-GB" dirty="0"/>
                        <a:t> / 90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dirty="0"/>
                        <a:t>3.8%</a:t>
                      </a:r>
                      <a:endParaRPr lang="en-CH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28193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38371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D2330-E480-E739-C8CD-39532A585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A319489-E7AA-9087-D14F-3DC446BE342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52288" y="1530521"/>
            <a:ext cx="438016" cy="2853380"/>
          </a:xfrm>
        </p:spPr>
        <p:txBody>
          <a:bodyPr>
            <a:noAutofit/>
          </a:bodyPr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3DF9379D-5DD9-5400-C7A9-F34BBE6D08A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190303" y="1530521"/>
            <a:ext cx="10163497" cy="2853380"/>
          </a:xfrm>
        </p:spPr>
        <p:txBody>
          <a:bodyPr/>
          <a:lstStyle/>
          <a:p>
            <a:r>
              <a:rPr lang="en-US" dirty="0">
                <a:solidFill>
                  <a:schemeClr val="accent5"/>
                </a:solidFill>
              </a:rPr>
              <a:t># _transfer_in updates self.balances here:</a:t>
            </a:r>
          </a:p>
          <a:p>
            <a:r>
              <a:rPr lang="en-US" dirty="0"/>
              <a:t>dx_received</a:t>
            </a:r>
            <a:r>
              <a:rPr lang="en-US" dirty="0">
                <a:solidFill>
                  <a:schemeClr val="accent1"/>
                </a:solidFill>
              </a:rPr>
              <a:t>:</a:t>
            </a:r>
            <a:r>
              <a:rPr lang="en-US" dirty="0"/>
              <a:t>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  <a:r>
              <a:rPr lang="en-US" dirty="0"/>
              <a:t> </a:t>
            </a:r>
            <a:r>
              <a:rPr lang="en-US" dirty="0">
                <a:solidFill>
                  <a:schemeClr val="accent1"/>
                </a:solidFill>
              </a:rPr>
              <a:t>=</a:t>
            </a:r>
            <a:r>
              <a:rPr lang="en-US" dirty="0"/>
              <a:t> </a:t>
            </a:r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>
                <a:solidFill>
                  <a:schemeClr val="accent6"/>
                </a:solidFill>
              </a:rPr>
              <a:t>_transfer_in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/>
              <a:t>i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/>
              <a:t>dx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>
                <a:solidFill>
                  <a:schemeClr val="accent3"/>
                </a:solidFill>
              </a:rPr>
              <a:t>msg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>
                <a:solidFill>
                  <a:schemeClr val="accent3"/>
                </a:solidFill>
              </a:rPr>
              <a:t>sender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/>
              <a:t>False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endParaRPr lang="en-US" dirty="0">
              <a:solidFill>
                <a:schemeClr val="accent1"/>
              </a:solidFill>
            </a:endParaRPr>
          </a:p>
          <a:p>
            <a:endParaRPr lang="en-US" dirty="0"/>
          </a:p>
          <a:p>
            <a:r>
              <a:rPr lang="en-US" dirty="0">
                <a:solidFill>
                  <a:schemeClr val="accent5"/>
                </a:solidFill>
              </a:rPr>
              <a:t># No ERC20 token transfers occur here:</a:t>
            </a:r>
          </a:p>
          <a:p>
            <a:r>
              <a:rPr lang="en-US" dirty="0"/>
              <a:t>out</a:t>
            </a:r>
            <a:r>
              <a:rPr lang="en-US" dirty="0">
                <a:solidFill>
                  <a:schemeClr val="accent1"/>
                </a:solidFill>
              </a:rPr>
              <a:t>:</a:t>
            </a:r>
            <a:r>
              <a:rPr lang="en-US" dirty="0"/>
              <a:t>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  <a:r>
              <a:rPr lang="en-US" dirty="0">
                <a:solidFill>
                  <a:schemeClr val="accent1"/>
                </a:solidFill>
              </a:rPr>
              <a:t>[</a:t>
            </a:r>
            <a:r>
              <a:rPr lang="en-US" dirty="0">
                <a:solidFill>
                  <a:schemeClr val="accent4"/>
                </a:solidFill>
              </a:rPr>
              <a:t>3</a:t>
            </a:r>
            <a:r>
              <a:rPr lang="en-US" dirty="0">
                <a:solidFill>
                  <a:schemeClr val="accent1"/>
                </a:solidFill>
              </a:rPr>
              <a:t>]</a:t>
            </a:r>
            <a:r>
              <a:rPr lang="en-US" dirty="0"/>
              <a:t> = </a:t>
            </a:r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>
                <a:solidFill>
                  <a:schemeClr val="accent6"/>
                </a:solidFill>
              </a:rPr>
              <a:t>_exchange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/>
              <a:t>i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/>
              <a:t>j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US" dirty="0"/>
              <a:t> dx_received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/>
              <a:t>min_dy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br>
              <a:rPr lang="en-US" dirty="0"/>
            </a:br>
            <a:endParaRPr lang="en-US" dirty="0"/>
          </a:p>
          <a:p>
            <a:r>
              <a:rPr lang="en-US" dirty="0">
                <a:solidFill>
                  <a:schemeClr val="accent5"/>
                </a:solidFill>
              </a:rPr>
              <a:t># _transfer_out updates self.balances here.</a:t>
            </a:r>
            <a:endParaRPr lang="en-CH" dirty="0">
              <a:solidFill>
                <a:schemeClr val="accent5"/>
              </a:solidFill>
            </a:endParaRPr>
          </a:p>
          <a:p>
            <a:r>
              <a:rPr lang="en-CH" dirty="0">
                <a:solidFill>
                  <a:schemeClr val="accent5"/>
                </a:solidFill>
              </a:rPr>
              <a:t># </a:t>
            </a:r>
            <a:r>
              <a:rPr lang="en-US" dirty="0">
                <a:solidFill>
                  <a:schemeClr val="accent5"/>
                </a:solidFill>
              </a:rPr>
              <a:t>Update to state occurs before</a:t>
            </a:r>
            <a:r>
              <a:rPr lang="en-CH" dirty="0">
                <a:solidFill>
                  <a:schemeClr val="accent5"/>
                </a:solidFill>
              </a:rPr>
              <a:t> </a:t>
            </a:r>
            <a:r>
              <a:rPr lang="en-US" dirty="0">
                <a:solidFill>
                  <a:schemeClr val="accent5"/>
                </a:solidFill>
              </a:rPr>
              <a:t>external calls:</a:t>
            </a:r>
          </a:p>
          <a:p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>
                <a:solidFill>
                  <a:schemeClr val="accent6"/>
                </a:solidFill>
              </a:rPr>
              <a:t>_transfer_out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/>
              <a:t>j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US" dirty="0"/>
              <a:t> out</a:t>
            </a:r>
            <a:r>
              <a:rPr lang="en-US" dirty="0">
                <a:solidFill>
                  <a:schemeClr val="accent1"/>
                </a:solidFill>
              </a:rPr>
              <a:t>[</a:t>
            </a:r>
            <a:r>
              <a:rPr lang="en-US" dirty="0">
                <a:solidFill>
                  <a:schemeClr val="accent4"/>
                </a:solidFill>
              </a:rPr>
              <a:t>0</a:t>
            </a:r>
            <a:r>
              <a:rPr lang="en-US" dirty="0">
                <a:solidFill>
                  <a:schemeClr val="accent1"/>
                </a:solidFill>
              </a:rPr>
              <a:t>]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US" dirty="0"/>
              <a:t> receiver</a:t>
            </a:r>
            <a:r>
              <a:rPr lang="en-US" dirty="0">
                <a:solidFill>
                  <a:schemeClr val="accent1"/>
                </a:solidFill>
              </a:rPr>
              <a:t>)</a:t>
            </a:r>
          </a:p>
        </p:txBody>
      </p:sp>
      <p:sp>
        <p:nvSpPr>
          <p:cNvPr id="17" name="Title 16">
            <a:extLst>
              <a:ext uri="{FF2B5EF4-FFF2-40B4-BE49-F238E27FC236}">
                <a16:creationId xmlns:a16="http://schemas.microsoft.com/office/drawing/2014/main" id="{BB56C908-A974-C5D8-488B-6DEBEFAD1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Curve </a:t>
            </a:r>
            <a:r>
              <a:rPr lang="en-GB" dirty="0" err="1"/>
              <a:t>Tricrypto</a:t>
            </a:r>
            <a:endParaRPr lang="en-CH" dirty="0"/>
          </a:p>
        </p:txBody>
      </p: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361755B4-05DE-6909-723F-8EFD26BE6B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30/03/2026</a:t>
            </a:r>
            <a:endParaRPr lang="en-CH" dirty="0"/>
          </a:p>
        </p:txBody>
      </p:sp>
      <p:sp>
        <p:nvSpPr>
          <p:cNvPr id="27" name="Footer Placeholder 26">
            <a:extLst>
              <a:ext uri="{FF2B5EF4-FFF2-40B4-BE49-F238E27FC236}">
                <a16:creationId xmlns:a16="http://schemas.microsoft.com/office/drawing/2014/main" id="{E9B65B31-CA88-22D3-CA9C-65F2B8547F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>
                <a:solidFill>
                  <a:schemeClr val="tx2"/>
                </a:solidFill>
              </a:rPr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00A7A0F2-A11A-F475-B024-94FB92A8E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34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4D3E8F1-8F54-75B7-DE89-A0197686F3CD}"/>
              </a:ext>
            </a:extLst>
          </p:cNvPr>
          <p:cNvCxnSpPr>
            <a:cxnSpLocks/>
          </p:cNvCxnSpPr>
          <p:nvPr/>
        </p:nvCxnSpPr>
        <p:spPr>
          <a:xfrm>
            <a:off x="1190438" y="1530521"/>
            <a:ext cx="0" cy="285338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C0FD2225-2CEE-5858-C4F6-0C7168224764}"/>
              </a:ext>
            </a:extLst>
          </p:cNvPr>
          <p:cNvSpPr/>
          <p:nvPr/>
        </p:nvSpPr>
        <p:spPr>
          <a:xfrm>
            <a:off x="752158" y="1867071"/>
            <a:ext cx="10601636" cy="61912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C8AB44A-6074-DE63-6264-A702104880D9}"/>
              </a:ext>
            </a:extLst>
          </p:cNvPr>
          <p:cNvSpPr/>
          <p:nvPr/>
        </p:nvSpPr>
        <p:spPr>
          <a:xfrm>
            <a:off x="666252" y="2763366"/>
            <a:ext cx="10601636" cy="61912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FFA47A-AC46-0996-E624-BD6931FF5B69}"/>
              </a:ext>
            </a:extLst>
          </p:cNvPr>
          <p:cNvSpPr/>
          <p:nvPr/>
        </p:nvSpPr>
        <p:spPr>
          <a:xfrm>
            <a:off x="752158" y="4018776"/>
            <a:ext cx="10601636" cy="36512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962CA02-BF63-7BBD-C803-CD61CD5D91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4" y="4560283"/>
            <a:ext cx="10515600" cy="1796067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i="1" dirty="0"/>
              <a:t>Many developers already annotate effects!</a:t>
            </a:r>
          </a:p>
          <a:p>
            <a:pPr>
              <a:buFont typeface="Aptos" panose="020B0004020202020204" pitchFamily="34" charset="0"/>
              <a:buChar char="→"/>
            </a:pPr>
            <a:r>
              <a:rPr lang="en-GB" i="1" dirty="0"/>
              <a:t> </a:t>
            </a:r>
            <a:r>
              <a:rPr lang="en-GB" dirty="0"/>
              <a:t>Little additional overhead</a:t>
            </a:r>
          </a:p>
          <a:p>
            <a:pPr>
              <a:buFont typeface="Aptos" panose="020B0004020202020204" pitchFamily="34" charset="0"/>
              <a:buChar char="→"/>
            </a:pPr>
            <a:r>
              <a:rPr lang="en-GB" dirty="0"/>
              <a:t> ‘Enforce’ good practices</a:t>
            </a:r>
          </a:p>
          <a:p>
            <a:pPr>
              <a:buFont typeface="Aptos" panose="020B0004020202020204" pitchFamily="34" charset="0"/>
              <a:buChar char="→"/>
            </a:pPr>
            <a:r>
              <a:rPr lang="en-GB" dirty="0"/>
              <a:t> Improve auditability</a:t>
            </a:r>
          </a:p>
        </p:txBody>
      </p:sp>
    </p:spTree>
    <p:extLst>
      <p:ext uri="{BB962C8B-B14F-4D97-AF65-F5344CB8AC3E}">
        <p14:creationId xmlns:p14="http://schemas.microsoft.com/office/powerpoint/2010/main" val="869178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947EC-EB1C-BC69-7E50-52FFCCB1A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D7C26E-7BAD-5716-276D-F04B66678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Language design effectively prevents reentrancy bugs</a:t>
            </a:r>
          </a:p>
          <a:p>
            <a:pPr lvl="1"/>
            <a:r>
              <a:rPr lang="en-CH" dirty="0"/>
              <a:t>Facilitates (static) analysis across reentrant call paths</a:t>
            </a:r>
          </a:p>
          <a:p>
            <a:pPr marL="0" indent="0">
              <a:buNone/>
            </a:pPr>
            <a:endParaRPr lang="en-GB" dirty="0"/>
          </a:p>
          <a:p>
            <a:r>
              <a:rPr lang="en-CH" dirty="0"/>
              <a:t>Effect annotations result in </a:t>
            </a:r>
            <a:r>
              <a:rPr lang="en-GB" dirty="0"/>
              <a:t>reasonable </a:t>
            </a:r>
            <a:r>
              <a:rPr lang="en-CH" dirty="0"/>
              <a:t>coding overhead</a:t>
            </a:r>
          </a:p>
          <a:p>
            <a:pPr lvl="1"/>
            <a:r>
              <a:rPr lang="en-GB" dirty="0"/>
              <a:t>I</a:t>
            </a:r>
            <a:r>
              <a:rPr lang="en-CH" dirty="0"/>
              <a:t>mprove auditability</a:t>
            </a:r>
          </a:p>
          <a:p>
            <a:pPr lvl="1"/>
            <a:r>
              <a:rPr lang="en-CH" dirty="0"/>
              <a:t>Flag unexpected or missing side effects</a:t>
            </a:r>
            <a:endParaRPr lang="en-GB" dirty="0"/>
          </a:p>
          <a:p>
            <a:pPr lvl="1"/>
            <a:r>
              <a:rPr lang="en-GB" dirty="0"/>
              <a:t>Many projects already follow similar patterns</a:t>
            </a:r>
            <a:endParaRPr lang="en-CH" dirty="0"/>
          </a:p>
          <a:p>
            <a:endParaRPr lang="en-GB" dirty="0"/>
          </a:p>
          <a:p>
            <a:r>
              <a:rPr lang="en-CH" dirty="0"/>
              <a:t>ADTs enable type-safe modelling of state machines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E12BED-04BB-8575-8B88-E8EA465D1C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742E54-657E-E7FD-76E9-46F0F6885B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84E785-551C-D29A-65C4-AB6B27FEB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35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238107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893ECD-B222-140F-0CF6-39096498F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Future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A6F952-40A4-519A-DE97-003D3E3CF19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EVM Safety</a:t>
            </a:r>
            <a:r>
              <a:rPr lang="en-GB" dirty="0"/>
              <a:t>:</a:t>
            </a:r>
          </a:p>
          <a:p>
            <a:r>
              <a:rPr lang="en-GB" dirty="0"/>
              <a:t>Multi-contract systems</a:t>
            </a:r>
          </a:p>
          <a:p>
            <a:r>
              <a:rPr lang="en-GB" dirty="0"/>
              <a:t>Access Control primitives</a:t>
            </a:r>
          </a:p>
          <a:p>
            <a:r>
              <a:rPr lang="en-GB" dirty="0"/>
              <a:t>Recent trend</a:t>
            </a:r>
            <a:r>
              <a:rPr lang="en-CH" dirty="0"/>
              <a:t>:</a:t>
            </a:r>
            <a:r>
              <a:rPr lang="en-GB" dirty="0"/>
              <a:t> Exploits taking advantage of precision loss</a:t>
            </a:r>
          </a:p>
          <a:p>
            <a:pPr lvl="1"/>
            <a:r>
              <a:rPr lang="en-GB" dirty="0"/>
              <a:t>Even in audited projects</a:t>
            </a:r>
            <a:endParaRPr lang="en-CH" dirty="0"/>
          </a:p>
          <a:p>
            <a:pPr marL="0" indent="0">
              <a:buNone/>
            </a:pPr>
            <a:endParaRPr lang="en-CH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0C5272F-270B-8F01-1127-F98F45E446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539740" cy="4351338"/>
          </a:xfrm>
        </p:spPr>
        <p:txBody>
          <a:bodyPr>
            <a:normAutofit/>
          </a:bodyPr>
          <a:lstStyle/>
          <a:p>
            <a:r>
              <a:rPr lang="en-CH" dirty="0"/>
              <a:t>Codegen:</a:t>
            </a:r>
            <a:endParaRPr lang="en-GB" dirty="0"/>
          </a:p>
          <a:p>
            <a:pPr lvl="1"/>
            <a:r>
              <a:rPr lang="en-CH" dirty="0"/>
              <a:t>Optimize memory allocations</a:t>
            </a:r>
            <a:endParaRPr lang="en-GB" dirty="0"/>
          </a:p>
          <a:p>
            <a:pPr lvl="1"/>
            <a:r>
              <a:rPr lang="en-CH" dirty="0"/>
              <a:t>Rely less on Solidity</a:t>
            </a:r>
          </a:p>
          <a:p>
            <a:pPr lvl="1"/>
            <a:r>
              <a:rPr lang="en-CH" dirty="0"/>
              <a:t>Generate Yul IR directly</a:t>
            </a:r>
          </a:p>
          <a:p>
            <a:pPr marL="0" indent="0">
              <a:buNone/>
            </a:pPr>
            <a:endParaRPr lang="en-CH" dirty="0"/>
          </a:p>
          <a:p>
            <a:r>
              <a:rPr lang="en-CH" dirty="0"/>
              <a:t>User Studies</a:t>
            </a:r>
            <a:endParaRPr lang="en-GB" dirty="0"/>
          </a:p>
          <a:p>
            <a:pPr lvl="1"/>
            <a:r>
              <a:rPr lang="en-GB" dirty="0"/>
              <a:t>Especially for effect syntax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7066AD-3315-1E5B-6CD1-9E23E8A10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811F5F-A0C9-1FDB-1685-2E450D9ACE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3370B4-B3A9-2302-C6D8-6448BE289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36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6894620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uiExpand="1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842AB2-2ADC-F734-0542-7602AB1E0E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6800"/>
            <a:ext cx="10515600" cy="1788836"/>
          </a:xfrm>
        </p:spPr>
        <p:txBody>
          <a:bodyPr/>
          <a:lstStyle/>
          <a:p>
            <a:r>
              <a:rPr lang="en-GB" dirty="0"/>
              <a:t>Taming Reentrancy with Auditable Language Design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11AF25-A2E8-B876-B465-B0D8781F2A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3071191"/>
            <a:ext cx="10515600" cy="328515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sz="2800" b="1" dirty="0"/>
              <a:t>Key features: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800" dirty="0"/>
              <a:t>Path-Specific Reentrancy Protection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800" dirty="0"/>
              <a:t>Effect Tracking System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800" dirty="0"/>
              <a:t>Algebraic Data Types</a:t>
            </a:r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Thanks for your attention!</a:t>
            </a:r>
          </a:p>
        </p:txBody>
      </p:sp>
    </p:spTree>
    <p:extLst>
      <p:ext uri="{BB962C8B-B14F-4D97-AF65-F5344CB8AC3E}">
        <p14:creationId xmlns:p14="http://schemas.microsoft.com/office/powerpoint/2010/main" val="208357979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0B2BA41-457C-144F-2B8D-A631E4F5314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200" y="2433638"/>
            <a:ext cx="438016" cy="3743325"/>
          </a:xfrm>
        </p:spPr>
        <p:txBody>
          <a:bodyPr>
            <a:noAutofit/>
          </a:bodyPr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CE8F401-762D-755D-D69E-EC3696C3A26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76215" y="2433638"/>
            <a:ext cx="6921633" cy="3743325"/>
          </a:xfrm>
        </p:spPr>
        <p:txBody>
          <a:bodyPr/>
          <a:lstStyle/>
          <a:p>
            <a:r>
              <a:rPr lang="en-CH" dirty="0"/>
              <a:t>  </a:t>
            </a:r>
            <a:r>
              <a:rPr lang="en-US" dirty="0">
                <a:solidFill>
                  <a:schemeClr val="accent1"/>
                </a:solidFill>
              </a:rPr>
              <a:t>fn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transfer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/>
              <a:t>to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US" dirty="0"/>
              <a:t> amount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  </a:t>
            </a:r>
            <a:r>
              <a:rPr lang="en-US" dirty="0">
                <a:solidFill>
                  <a:schemeClr val="accent4"/>
                </a:solidFill>
              </a:rPr>
              <a:t>modifies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/>
              <a:t>balances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</a:t>
            </a:r>
            <a:r>
              <a:rPr lang="en-US" dirty="0">
                <a:solidFill>
                  <a:schemeClr val="accent1"/>
                </a:solidFill>
              </a:rPr>
              <a:t>{</a:t>
            </a:r>
            <a:r>
              <a:rPr lang="en-CH" dirty="0"/>
              <a:t> </a:t>
            </a:r>
            <a:r>
              <a:rPr lang="en-CH" dirty="0">
                <a:solidFill>
                  <a:schemeClr val="tx2"/>
                </a:solidFill>
              </a:rPr>
              <a:t>…</a:t>
            </a:r>
            <a:r>
              <a:rPr lang="en-CH" dirty="0"/>
              <a:t> </a:t>
            </a:r>
            <a:r>
              <a:rPr lang="en-US" dirty="0">
                <a:solidFill>
                  <a:schemeClr val="accent1"/>
                </a:solidFill>
              </a:rPr>
              <a:t>}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>
                <a:solidFill>
                  <a:schemeClr val="tx2"/>
                </a:solidFill>
              </a:rPr>
              <a:t>//</a:t>
            </a:r>
            <a:r>
              <a:rPr lang="en-CH" dirty="0">
                <a:solidFill>
                  <a:schemeClr val="accent6"/>
                </a:solidFill>
              </a:rPr>
              <a:t> but NOT </a:t>
            </a:r>
            <a:r>
              <a:rPr lang="en-CH" dirty="0">
                <a:solidFill>
                  <a:schemeClr val="accent2"/>
                </a:solidFill>
              </a:rPr>
              <a:t>modifies(</a:t>
            </a:r>
            <a:r>
              <a:rPr lang="en-CH" dirty="0" err="1">
                <a:solidFill>
                  <a:schemeClr val="accent2"/>
                </a:solidFill>
              </a:rPr>
              <a:t>self.fee_growth</a:t>
            </a:r>
            <a:r>
              <a:rPr lang="en-CH" dirty="0">
                <a:solidFill>
                  <a:schemeClr val="accent2"/>
                </a:solidFill>
              </a:rPr>
              <a:t>)</a:t>
            </a:r>
          </a:p>
          <a:p>
            <a:r>
              <a:rPr lang="en-CH" dirty="0">
                <a:solidFill>
                  <a:schemeClr val="tx2"/>
                </a:solidFill>
              </a:rPr>
              <a:t>// </a:t>
            </a:r>
            <a:r>
              <a:rPr lang="en-CH" dirty="0">
                <a:solidFill>
                  <a:schemeClr val="accent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en-CH" dirty="0">
                <a:solidFill>
                  <a:schemeClr val="accent6"/>
                </a:solidFill>
              </a:rPr>
              <a:t> red flag for developer / auditor</a:t>
            </a:r>
            <a:endParaRPr lang="en-CH" dirty="0">
              <a:solidFill>
                <a:schemeClr val="accent1"/>
              </a:solidFill>
            </a:endParaRPr>
          </a:p>
          <a:p>
            <a:endParaRPr lang="en-CH" dirty="0"/>
          </a:p>
          <a:p>
            <a:r>
              <a:rPr lang="en-CH" dirty="0"/>
              <a:t>  </a:t>
            </a:r>
            <a:r>
              <a:rPr lang="en-US" dirty="0">
                <a:solidFill>
                  <a:schemeClr val="accent1"/>
                </a:solidFill>
              </a:rPr>
              <a:t>fn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transfer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/>
              <a:t>to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US" dirty="0"/>
              <a:t> amount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  </a:t>
            </a:r>
            <a:r>
              <a:rPr lang="en-US" dirty="0">
                <a:solidFill>
                  <a:schemeClr val="accent4"/>
                </a:solidFill>
              </a:rPr>
              <a:t>modifies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/>
              <a:t>balances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  </a:t>
            </a:r>
            <a:r>
              <a:rPr lang="en-US" dirty="0">
                <a:solidFill>
                  <a:schemeClr val="accent4"/>
                </a:solidFill>
              </a:rPr>
              <a:t>modifies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CH" dirty="0" err="1"/>
              <a:t>fee_growth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</a:t>
            </a:r>
            <a:r>
              <a:rPr lang="en-US" dirty="0">
                <a:solidFill>
                  <a:schemeClr val="accent1"/>
                </a:solidFill>
              </a:rPr>
              <a:t>{</a:t>
            </a:r>
            <a:r>
              <a:rPr lang="en-CH" dirty="0"/>
              <a:t> </a:t>
            </a:r>
            <a:r>
              <a:rPr lang="en-CH" dirty="0">
                <a:solidFill>
                  <a:schemeClr val="tx2"/>
                </a:solidFill>
              </a:rPr>
              <a:t>…</a:t>
            </a:r>
            <a:r>
              <a:rPr lang="en-CH" dirty="0"/>
              <a:t> </a:t>
            </a:r>
            <a:r>
              <a:rPr lang="en-US" dirty="0">
                <a:solidFill>
                  <a:schemeClr val="accent1"/>
                </a:solidFill>
              </a:rPr>
              <a:t>}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>
                <a:solidFill>
                  <a:schemeClr val="tx2"/>
                </a:solidFill>
              </a:rPr>
              <a:t>//</a:t>
            </a:r>
            <a:r>
              <a:rPr lang="en-CH" dirty="0">
                <a:solidFill>
                  <a:schemeClr val="accent6"/>
                </a:solidFill>
              </a:rPr>
              <a:t> </a:t>
            </a:r>
            <a:r>
              <a:rPr lang="en-CH" dirty="0">
                <a:solidFill>
                  <a:schemeClr val="accent2"/>
                </a:solidFill>
              </a:rPr>
              <a:t>^^^</a:t>
            </a:r>
            <a:r>
              <a:rPr lang="en-CH" dirty="0">
                <a:solidFill>
                  <a:schemeClr val="accent6"/>
                </a:solidFill>
              </a:rPr>
              <a:t> does not actually modify </a:t>
            </a:r>
            <a:r>
              <a:rPr lang="en-CH" dirty="0" err="1">
                <a:solidFill>
                  <a:schemeClr val="accent2"/>
                </a:solidFill>
              </a:rPr>
              <a:t>fee_growth</a:t>
            </a:r>
            <a:endParaRPr lang="en-CH" dirty="0">
              <a:solidFill>
                <a:schemeClr val="accent2"/>
              </a:solidFill>
            </a:endParaRPr>
          </a:p>
          <a:p>
            <a:r>
              <a:rPr lang="en-CH" dirty="0">
                <a:solidFill>
                  <a:schemeClr val="tx2"/>
                </a:solidFill>
              </a:rPr>
              <a:t>//</a:t>
            </a:r>
            <a:r>
              <a:rPr lang="en-CH" dirty="0">
                <a:solidFill>
                  <a:schemeClr val="accent6"/>
                </a:solidFill>
              </a:rPr>
              <a:t> </a:t>
            </a:r>
            <a:r>
              <a:rPr lang="en-CH" dirty="0">
                <a:solidFill>
                  <a:schemeClr val="accent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en-CH" dirty="0">
                <a:solidFill>
                  <a:schemeClr val="accent6"/>
                </a:solidFill>
              </a:rPr>
              <a:t> compiler should emit warning</a:t>
            </a:r>
          </a:p>
        </p:txBody>
      </p:sp>
      <p:sp>
        <p:nvSpPr>
          <p:cNvPr id="17" name="Title 16">
            <a:extLst>
              <a:ext uri="{FF2B5EF4-FFF2-40B4-BE49-F238E27FC236}">
                <a16:creationId xmlns:a16="http://schemas.microsoft.com/office/drawing/2014/main" id="{C68CB506-7E0F-8EEE-AA27-A6377D0052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Popsicle Finance</a:t>
            </a:r>
            <a:r>
              <a:rPr lang="en-CH" dirty="0"/>
              <a:t>   </a:t>
            </a:r>
            <a:r>
              <a:rPr lang="en-CH" sz="2800" dirty="0">
                <a:solidFill>
                  <a:schemeClr val="tx2"/>
                </a:solidFill>
              </a:rPr>
              <a:t>2021-08, $20 million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0FDAB16F-6A9B-B245-B411-56AFA1B31D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508760"/>
            <a:ext cx="10690862" cy="92487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CH" dirty="0"/>
              <a:t>Issue: transferring funds did not transfer reward debt</a:t>
            </a:r>
          </a:p>
          <a:p>
            <a:pPr>
              <a:buFont typeface="Aptos" panose="020B0004020202020204" pitchFamily="34" charset="0"/>
              <a:buChar char="→"/>
            </a:pPr>
            <a:r>
              <a:rPr lang="en-CH" dirty="0"/>
              <a:t> Calculating earned rewards gave too large value</a:t>
            </a:r>
          </a:p>
        </p:txBody>
      </p: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529FE5D4-896E-D496-31D2-8545C93D9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27" name="Footer Placeholder 26">
            <a:extLst>
              <a:ext uri="{FF2B5EF4-FFF2-40B4-BE49-F238E27FC236}">
                <a16:creationId xmlns:a16="http://schemas.microsoft.com/office/drawing/2014/main" id="{488D3D0B-5802-F6A4-EF42-C6BE948F44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>
                <a:solidFill>
                  <a:schemeClr val="tx2"/>
                </a:solidFill>
              </a:rPr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668E2340-6A77-0F3F-E35A-EE5221F36FF5}"/>
              </a:ext>
            </a:extLst>
          </p:cNvPr>
          <p:cNvCxnSpPr>
            <a:cxnSpLocks/>
          </p:cNvCxnSpPr>
          <p:nvPr/>
        </p:nvCxnSpPr>
        <p:spPr>
          <a:xfrm>
            <a:off x="1276216" y="2433638"/>
            <a:ext cx="0" cy="3743325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241255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5B261-6134-D3FB-682A-794D8253E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EDD0220C-BD82-35A6-D4B4-F540E57C4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Super Sushi Samurai   </a:t>
            </a:r>
            <a:r>
              <a:rPr lang="en-CH" sz="2800" dirty="0">
                <a:solidFill>
                  <a:schemeClr val="tx2"/>
                </a:solidFill>
              </a:rPr>
              <a:t>2024-03, $4.8 million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82E6FC09-D335-302F-612E-9147E72A617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41381" y="1515260"/>
            <a:ext cx="374648" cy="2232026"/>
          </a:xfrm>
        </p:spPr>
        <p:txBody>
          <a:bodyPr/>
          <a:lstStyle/>
          <a:p>
            <a:r>
              <a:rPr lang="en-CH" sz="1600" dirty="0"/>
              <a:t> 1</a:t>
            </a:r>
          </a:p>
          <a:p>
            <a:r>
              <a:rPr lang="en-CH" sz="1600" dirty="0"/>
              <a:t> 2</a:t>
            </a:r>
          </a:p>
          <a:p>
            <a:r>
              <a:rPr lang="en-CH" sz="1600" dirty="0"/>
              <a:t> 3</a:t>
            </a:r>
          </a:p>
          <a:p>
            <a:r>
              <a:rPr lang="en-CH" sz="1600" dirty="0"/>
              <a:t> 4</a:t>
            </a:r>
          </a:p>
          <a:p>
            <a:r>
              <a:rPr lang="en-CH" sz="1600" dirty="0"/>
              <a:t> 5</a:t>
            </a:r>
          </a:p>
          <a:p>
            <a:r>
              <a:rPr lang="en-CH" sz="1600" dirty="0"/>
              <a:t> 6</a:t>
            </a:r>
          </a:p>
          <a:p>
            <a:r>
              <a:rPr lang="en-CH" sz="1600" dirty="0"/>
              <a:t> 7</a:t>
            </a:r>
          </a:p>
          <a:p>
            <a:r>
              <a:rPr lang="en-CH" sz="1600" dirty="0"/>
              <a:t> 8</a:t>
            </a:r>
          </a:p>
          <a:p>
            <a:r>
              <a:rPr lang="en-CH" sz="1600" dirty="0"/>
              <a:t> 9</a:t>
            </a:r>
          </a:p>
          <a:p>
            <a:r>
              <a:rPr lang="en-CH" sz="1600" dirty="0"/>
              <a:t> 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D5CCCE8-8A0D-C909-A4C5-6472F885948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12848" y="1515260"/>
            <a:ext cx="7706673" cy="2232026"/>
          </a:xfrm>
        </p:spPr>
        <p:txBody>
          <a:bodyPr/>
          <a:lstStyle/>
          <a:p>
            <a:r>
              <a:rPr lang="en-US" sz="1600" dirty="0">
                <a:solidFill>
                  <a:schemeClr val="accent2"/>
                </a:solidFill>
              </a:rPr>
              <a:t>function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6"/>
                </a:solidFill>
              </a:rPr>
              <a:t>_transfer</a:t>
            </a:r>
            <a:r>
              <a:rPr lang="en-US" sz="1600" dirty="0">
                <a:solidFill>
                  <a:schemeClr val="accent1"/>
                </a:solidFill>
              </a:rPr>
              <a:t>(</a:t>
            </a:r>
            <a:r>
              <a:rPr lang="en-US" sz="1600" dirty="0">
                <a:solidFill>
                  <a:schemeClr val="accent2"/>
                </a:solidFill>
              </a:rPr>
              <a:t>address</a:t>
            </a:r>
            <a:r>
              <a:rPr lang="en-US" sz="1600" dirty="0"/>
              <a:t> from</a:t>
            </a:r>
            <a:r>
              <a:rPr lang="en-US" sz="1600" dirty="0">
                <a:solidFill>
                  <a:schemeClr val="tx2"/>
                </a:solidFill>
              </a:rPr>
              <a:t>,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2"/>
                </a:solidFill>
              </a:rPr>
              <a:t>address</a:t>
            </a:r>
            <a:r>
              <a:rPr lang="en-US" sz="1600" dirty="0"/>
              <a:t> to</a:t>
            </a:r>
            <a:r>
              <a:rPr lang="en-US" sz="1600" dirty="0">
                <a:solidFill>
                  <a:schemeClr val="tx2"/>
                </a:solidFill>
              </a:rPr>
              <a:t>,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2"/>
                </a:solidFill>
              </a:rPr>
              <a:t>uint256</a:t>
            </a:r>
            <a:r>
              <a:rPr lang="en-US" sz="1600" dirty="0"/>
              <a:t> amount</a:t>
            </a:r>
            <a:r>
              <a:rPr lang="en-US" sz="1600" dirty="0">
                <a:solidFill>
                  <a:schemeClr val="accent1"/>
                </a:solidFill>
              </a:rPr>
              <a:t>) {</a:t>
            </a:r>
          </a:p>
          <a:p>
            <a:r>
              <a:rPr lang="en-US" sz="1600" dirty="0"/>
              <a:t>  </a:t>
            </a:r>
            <a:r>
              <a:rPr lang="en-US" sz="1600" dirty="0">
                <a:solidFill>
                  <a:schemeClr val="accent2"/>
                </a:solidFill>
              </a:rPr>
              <a:t>uint256</a:t>
            </a:r>
            <a:r>
              <a:rPr lang="en-US" sz="1600" dirty="0"/>
              <a:t> fromBalance </a:t>
            </a:r>
            <a:r>
              <a:rPr lang="en-US" sz="1600" dirty="0">
                <a:solidFill>
                  <a:schemeClr val="accent1"/>
                </a:solidFill>
              </a:rPr>
              <a:t>=</a:t>
            </a:r>
            <a:r>
              <a:rPr lang="en-US" sz="1600" dirty="0"/>
              <a:t> _balances</a:t>
            </a:r>
            <a:r>
              <a:rPr lang="en-US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from</a:t>
            </a:r>
            <a:r>
              <a:rPr lang="en-US" sz="1600" dirty="0">
                <a:solidFill>
                  <a:schemeClr val="accent1"/>
                </a:solidFill>
              </a:rPr>
              <a:t>]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</a:p>
          <a:p>
            <a:r>
              <a:rPr lang="en-US" sz="1600" dirty="0"/>
              <a:t>  </a:t>
            </a:r>
            <a:r>
              <a:rPr lang="en-US" sz="1600" dirty="0">
                <a:solidFill>
                  <a:schemeClr val="accent2"/>
                </a:solidFill>
              </a:rPr>
              <a:t>uint256</a:t>
            </a:r>
            <a:r>
              <a:rPr lang="en-US" sz="1600" dirty="0"/>
              <a:t> toBalance </a:t>
            </a:r>
            <a:r>
              <a:rPr lang="en-CH" sz="1600" dirty="0"/>
              <a:t>  </a:t>
            </a:r>
            <a:r>
              <a:rPr lang="en-US" sz="1600" dirty="0">
                <a:solidFill>
                  <a:schemeClr val="accent1"/>
                </a:solidFill>
              </a:rPr>
              <a:t>=</a:t>
            </a:r>
            <a:r>
              <a:rPr lang="en-US" sz="1600" dirty="0"/>
              <a:t> _balances</a:t>
            </a:r>
            <a:r>
              <a:rPr lang="en-US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to</a:t>
            </a:r>
            <a:r>
              <a:rPr lang="en-US" sz="1600" dirty="0">
                <a:solidFill>
                  <a:schemeClr val="accent1"/>
                </a:solidFill>
              </a:rPr>
              <a:t>]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1"/>
                </a:solidFill>
              </a:rPr>
              <a:t>+</a:t>
            </a:r>
            <a:r>
              <a:rPr lang="en-US" sz="1600" dirty="0"/>
              <a:t> amount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</a:p>
          <a:p>
            <a:endParaRPr lang="en-CH" sz="1600" dirty="0"/>
          </a:p>
          <a:p>
            <a:r>
              <a:rPr lang="en-CH" sz="1600" dirty="0"/>
              <a:t>  </a:t>
            </a:r>
            <a:r>
              <a:rPr lang="en-CH" sz="1600" dirty="0">
                <a:solidFill>
                  <a:schemeClr val="tx2"/>
                </a:solidFill>
              </a:rPr>
              <a:t>/* Some safety checks */</a:t>
            </a:r>
          </a:p>
          <a:p>
            <a:endParaRPr lang="en-US" sz="1600" dirty="0">
              <a:solidFill>
                <a:schemeClr val="tx2"/>
              </a:solidFill>
            </a:endParaRPr>
          </a:p>
          <a:p>
            <a:r>
              <a:rPr lang="en-US" sz="1600" dirty="0"/>
              <a:t>  _balances</a:t>
            </a:r>
            <a:r>
              <a:rPr lang="en-US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from</a:t>
            </a:r>
            <a:r>
              <a:rPr lang="en-US" sz="1600" dirty="0">
                <a:solidFill>
                  <a:schemeClr val="accent1"/>
                </a:solidFill>
              </a:rPr>
              <a:t>]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1"/>
                </a:solidFill>
              </a:rPr>
              <a:t>=</a:t>
            </a:r>
            <a:r>
              <a:rPr lang="en-US" sz="1600" dirty="0"/>
              <a:t> fromBalance </a:t>
            </a:r>
            <a:r>
              <a:rPr lang="en-US" sz="1600" dirty="0">
                <a:solidFill>
                  <a:schemeClr val="accent1"/>
                </a:solidFill>
              </a:rPr>
              <a:t>-</a:t>
            </a:r>
            <a:r>
              <a:rPr lang="en-US" sz="1600" dirty="0"/>
              <a:t> amount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</a:p>
          <a:p>
            <a:r>
              <a:rPr lang="en-US" sz="1600" dirty="0"/>
              <a:t>  _balances</a:t>
            </a:r>
            <a:r>
              <a:rPr lang="en-US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to</a:t>
            </a:r>
            <a:r>
              <a:rPr lang="en-US" sz="1600" dirty="0">
                <a:solidFill>
                  <a:schemeClr val="accent1"/>
                </a:solidFill>
              </a:rPr>
              <a:t>]</a:t>
            </a:r>
            <a:r>
              <a:rPr lang="en-US" sz="1600" dirty="0"/>
              <a:t> </a:t>
            </a:r>
            <a:r>
              <a:rPr lang="en-CH" sz="1600" dirty="0"/>
              <a:t>  </a:t>
            </a:r>
            <a:r>
              <a:rPr lang="en-US" sz="1600" dirty="0">
                <a:solidFill>
                  <a:schemeClr val="accent1"/>
                </a:solidFill>
              </a:rPr>
              <a:t>=</a:t>
            </a:r>
            <a:r>
              <a:rPr lang="en-US" sz="1600" dirty="0"/>
              <a:t> toBalance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  <a:endParaRPr lang="en-CH" sz="1600" dirty="0">
              <a:solidFill>
                <a:schemeClr val="accent1"/>
              </a:solidFill>
            </a:endParaRPr>
          </a:p>
          <a:p>
            <a:r>
              <a:rPr lang="en-US" sz="1600" dirty="0">
                <a:solidFill>
                  <a:schemeClr val="accent1"/>
                </a:solidFill>
              </a:rPr>
              <a:t>}</a:t>
            </a:r>
            <a:endParaRPr lang="en-CH" dirty="0">
              <a:solidFill>
                <a:schemeClr val="accent1"/>
              </a:solidFill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BB4811B6-5734-4E2E-1E0D-CE925041951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8200" y="3872965"/>
            <a:ext cx="374648" cy="2483385"/>
          </a:xfrm>
        </p:spPr>
        <p:txBody>
          <a:bodyPr/>
          <a:lstStyle/>
          <a:p>
            <a:r>
              <a:rPr lang="en-CH" sz="1600" dirty="0"/>
              <a:t> 1</a:t>
            </a:r>
          </a:p>
          <a:p>
            <a:r>
              <a:rPr lang="en-CH" sz="1600" dirty="0"/>
              <a:t> 2</a:t>
            </a:r>
          </a:p>
          <a:p>
            <a:r>
              <a:rPr lang="en-CH" sz="1600" dirty="0"/>
              <a:t> 3</a:t>
            </a:r>
          </a:p>
          <a:p>
            <a:r>
              <a:rPr lang="en-CH" sz="1600" dirty="0"/>
              <a:t> 4</a:t>
            </a:r>
          </a:p>
          <a:p>
            <a:r>
              <a:rPr lang="en-CH" sz="1600" dirty="0"/>
              <a:t> 5</a:t>
            </a:r>
          </a:p>
          <a:p>
            <a:r>
              <a:rPr lang="en-CH" sz="1600" dirty="0"/>
              <a:t> 6</a:t>
            </a:r>
          </a:p>
          <a:p>
            <a:r>
              <a:rPr lang="en-CH" sz="1600" dirty="0"/>
              <a:t> 7</a:t>
            </a:r>
          </a:p>
          <a:p>
            <a:r>
              <a:rPr lang="en-CH" sz="1600" dirty="0"/>
              <a:t> 8</a:t>
            </a:r>
          </a:p>
          <a:p>
            <a:r>
              <a:rPr lang="en-CH" sz="1600" dirty="0"/>
              <a:t> 9</a:t>
            </a:r>
          </a:p>
          <a:p>
            <a:r>
              <a:rPr lang="en-CH" sz="1600" dirty="0"/>
              <a:t>10</a:t>
            </a:r>
          </a:p>
          <a:p>
            <a:endParaRPr lang="en-CH" sz="1600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75DAD6D-7D37-1335-7E1A-C54FA1471AF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212848" y="3872968"/>
            <a:ext cx="7706673" cy="2483382"/>
          </a:xfrm>
        </p:spPr>
        <p:txBody>
          <a:bodyPr/>
          <a:lstStyle/>
          <a:p>
            <a:r>
              <a:rPr lang="en-US" sz="1600" dirty="0">
                <a:solidFill>
                  <a:schemeClr val="accent1"/>
                </a:solidFill>
              </a:rPr>
              <a:t>fn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6"/>
                </a:solidFill>
              </a:rPr>
              <a:t>transfer</a:t>
            </a:r>
            <a:r>
              <a:rPr lang="en-US" sz="1600" dirty="0">
                <a:solidFill>
                  <a:schemeClr val="accent1"/>
                </a:solidFill>
              </a:rPr>
              <a:t>(</a:t>
            </a:r>
            <a:r>
              <a:rPr lang="en-US" sz="1600" dirty="0">
                <a:solidFill>
                  <a:schemeClr val="accent3"/>
                </a:solidFill>
              </a:rPr>
              <a:t>self</a:t>
            </a:r>
            <a:r>
              <a:rPr lang="en-US" sz="1600" dirty="0">
                <a:solidFill>
                  <a:schemeClr val="tx2"/>
                </a:solidFill>
              </a:rPr>
              <a:t>,</a:t>
            </a:r>
            <a:r>
              <a:rPr lang="en-US" sz="1600" dirty="0"/>
              <a:t> from</a:t>
            </a:r>
            <a:r>
              <a:rPr lang="en-US" sz="1600" dirty="0">
                <a:solidFill>
                  <a:schemeClr val="accent1"/>
                </a:solidFill>
              </a:rPr>
              <a:t>: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2"/>
                </a:solidFill>
              </a:rPr>
              <a:t>Address</a:t>
            </a:r>
            <a:r>
              <a:rPr lang="en-US" sz="1600" dirty="0">
                <a:solidFill>
                  <a:schemeClr val="tx2"/>
                </a:solidFill>
              </a:rPr>
              <a:t>,</a:t>
            </a:r>
            <a:r>
              <a:rPr lang="en-US" sz="1600" dirty="0"/>
              <a:t> to</a:t>
            </a:r>
            <a:r>
              <a:rPr lang="en-US" sz="1600" dirty="0">
                <a:solidFill>
                  <a:schemeClr val="accent1"/>
                </a:solidFill>
              </a:rPr>
              <a:t>: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2"/>
                </a:solidFill>
              </a:rPr>
              <a:t>Address</a:t>
            </a:r>
            <a:r>
              <a:rPr lang="en-US" sz="1600" dirty="0">
                <a:solidFill>
                  <a:schemeClr val="tx2"/>
                </a:solidFill>
              </a:rPr>
              <a:t>,</a:t>
            </a:r>
            <a:r>
              <a:rPr lang="en-US" sz="1600" dirty="0"/>
              <a:t> amount</a:t>
            </a:r>
            <a:r>
              <a:rPr lang="en-US" sz="1600" dirty="0">
                <a:solidFill>
                  <a:schemeClr val="accent1"/>
                </a:solidFill>
              </a:rPr>
              <a:t>: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2"/>
                </a:solidFill>
              </a:rPr>
              <a:t>u256</a:t>
            </a:r>
            <a:r>
              <a:rPr lang="en-US" sz="1600" dirty="0">
                <a:solidFill>
                  <a:schemeClr val="accent1"/>
                </a:solidFill>
              </a:rPr>
              <a:t>)</a:t>
            </a:r>
            <a:endParaRPr lang="en-CH" sz="1600" dirty="0">
              <a:solidFill>
                <a:schemeClr val="accent1"/>
              </a:solidFill>
            </a:endParaRPr>
          </a:p>
          <a:p>
            <a:r>
              <a:rPr lang="en-CH" sz="1600" dirty="0"/>
              <a:t> 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4"/>
                </a:solidFill>
              </a:rPr>
              <a:t>modifies</a:t>
            </a:r>
            <a:r>
              <a:rPr lang="en-US" sz="1600" dirty="0">
                <a:solidFill>
                  <a:schemeClr val="accent1"/>
                </a:solidFill>
              </a:rPr>
              <a:t>(</a:t>
            </a:r>
            <a:r>
              <a:rPr lang="en-US" sz="1600" dirty="0">
                <a:solidFill>
                  <a:schemeClr val="accent3"/>
                </a:solidFill>
              </a:rPr>
              <a:t>self</a:t>
            </a:r>
            <a:r>
              <a:rPr lang="en-US" sz="1600" dirty="0">
                <a:solidFill>
                  <a:schemeClr val="accent1"/>
                </a:solidFill>
              </a:rPr>
              <a:t>.</a:t>
            </a:r>
            <a:r>
              <a:rPr lang="en-US" sz="1600" dirty="0"/>
              <a:t>balances</a:t>
            </a:r>
            <a:r>
              <a:rPr lang="en-CH" sz="1600" dirty="0">
                <a:solidFill>
                  <a:schemeClr val="accent1"/>
                </a:solidFill>
              </a:rPr>
              <a:t>[</a:t>
            </a:r>
            <a:r>
              <a:rPr lang="en-CH" sz="1600" dirty="0"/>
              <a:t>from</a:t>
            </a:r>
            <a:r>
              <a:rPr lang="en-CH" sz="1600" dirty="0">
                <a:solidFill>
                  <a:schemeClr val="accent1"/>
                </a:solidFill>
              </a:rPr>
              <a:t>]</a:t>
            </a:r>
            <a:r>
              <a:rPr lang="en-US" sz="1600" dirty="0">
                <a:solidFill>
                  <a:schemeClr val="accent1"/>
                </a:solidFill>
              </a:rPr>
              <a:t>)</a:t>
            </a:r>
            <a:endParaRPr lang="en-CH" sz="1600" dirty="0">
              <a:solidFill>
                <a:schemeClr val="accent1"/>
              </a:solidFill>
            </a:endParaRPr>
          </a:p>
          <a:p>
            <a:r>
              <a:rPr lang="en-CH" sz="1600" dirty="0"/>
              <a:t>  </a:t>
            </a:r>
            <a:r>
              <a:rPr lang="en-CH" sz="1600" dirty="0">
                <a:solidFill>
                  <a:schemeClr val="accent4"/>
                </a:solidFill>
              </a:rPr>
              <a:t>modifies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CH" sz="1600" dirty="0">
                <a:solidFill>
                  <a:schemeClr val="accent3"/>
                </a:solidFill>
              </a:rPr>
              <a:t>self</a:t>
            </a:r>
            <a:r>
              <a:rPr lang="en-CH" sz="1600" dirty="0">
                <a:solidFill>
                  <a:schemeClr val="accent1"/>
                </a:solidFill>
              </a:rPr>
              <a:t>.</a:t>
            </a:r>
            <a:r>
              <a:rPr lang="en-CH" sz="1600" dirty="0"/>
              <a:t>balances</a:t>
            </a:r>
            <a:r>
              <a:rPr lang="en-CH" sz="1600" dirty="0">
                <a:solidFill>
                  <a:schemeClr val="accent1"/>
                </a:solidFill>
              </a:rPr>
              <a:t>[</a:t>
            </a:r>
            <a:r>
              <a:rPr lang="en-CH" sz="1600" dirty="0"/>
              <a:t>to</a:t>
            </a:r>
            <a:r>
              <a:rPr lang="en-CH" sz="1600" dirty="0">
                <a:solidFill>
                  <a:schemeClr val="accent1"/>
                </a:solidFill>
              </a:rPr>
              <a:t>])</a:t>
            </a:r>
          </a:p>
          <a:p>
            <a:r>
              <a:rPr lang="en-US" sz="1600" dirty="0">
                <a:solidFill>
                  <a:schemeClr val="accent1"/>
                </a:solidFill>
              </a:rPr>
              <a:t>{</a:t>
            </a:r>
          </a:p>
          <a:p>
            <a:r>
              <a:rPr lang="en-US" sz="1600" dirty="0"/>
              <a:t>  </a:t>
            </a:r>
            <a:r>
              <a:rPr lang="en-US" sz="1600" dirty="0">
                <a:solidFill>
                  <a:schemeClr val="accent1"/>
                </a:solidFill>
              </a:rPr>
              <a:t>let</a:t>
            </a:r>
            <a:r>
              <a:rPr lang="en-US" sz="1600" dirty="0"/>
              <a:t> from_balance </a:t>
            </a:r>
            <a:r>
              <a:rPr lang="en-US" sz="1600" dirty="0">
                <a:solidFill>
                  <a:schemeClr val="accent1"/>
                </a:solidFill>
              </a:rPr>
              <a:t>=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3"/>
                </a:solidFill>
              </a:rPr>
              <a:t>self</a:t>
            </a:r>
            <a:r>
              <a:rPr lang="en-US" sz="1600" dirty="0">
                <a:solidFill>
                  <a:schemeClr val="accent1"/>
                </a:solidFill>
              </a:rPr>
              <a:t>.</a:t>
            </a:r>
            <a:r>
              <a:rPr lang="en-US" sz="1600" dirty="0"/>
              <a:t>balances</a:t>
            </a:r>
            <a:r>
              <a:rPr lang="en-US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from</a:t>
            </a:r>
            <a:r>
              <a:rPr lang="en-US" sz="1600" dirty="0">
                <a:solidFill>
                  <a:schemeClr val="accent1"/>
                </a:solidFill>
              </a:rPr>
              <a:t>]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  <a:endParaRPr lang="en-CH" sz="1600" dirty="0">
              <a:solidFill>
                <a:schemeClr val="tx2"/>
              </a:solidFill>
            </a:endParaRPr>
          </a:p>
          <a:p>
            <a:r>
              <a:rPr lang="en-CH" sz="1600" dirty="0"/>
              <a:t> 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1"/>
                </a:solidFill>
              </a:rPr>
              <a:t>let</a:t>
            </a:r>
            <a:r>
              <a:rPr lang="en-US" sz="1600" dirty="0"/>
              <a:t> to_balance </a:t>
            </a:r>
            <a:r>
              <a:rPr lang="en-CH" sz="1600" dirty="0"/>
              <a:t>  </a:t>
            </a:r>
            <a:r>
              <a:rPr lang="en-US" sz="1600" dirty="0">
                <a:solidFill>
                  <a:schemeClr val="accent1"/>
                </a:solidFill>
              </a:rPr>
              <a:t>=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3"/>
                </a:solidFill>
              </a:rPr>
              <a:t>self</a:t>
            </a:r>
            <a:r>
              <a:rPr lang="en-US" sz="1600" dirty="0">
                <a:solidFill>
                  <a:schemeClr val="accent1"/>
                </a:solidFill>
              </a:rPr>
              <a:t>.</a:t>
            </a:r>
            <a:r>
              <a:rPr lang="en-US" sz="1600" dirty="0"/>
              <a:t>balances</a:t>
            </a:r>
            <a:r>
              <a:rPr lang="en-US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to</a:t>
            </a:r>
            <a:r>
              <a:rPr lang="en-US" sz="1600" dirty="0">
                <a:solidFill>
                  <a:schemeClr val="accent1"/>
                </a:solidFill>
              </a:rPr>
              <a:t>]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  <a:endParaRPr lang="en-CH" sz="1600" dirty="0">
              <a:solidFill>
                <a:schemeClr val="tx2"/>
              </a:solidFill>
            </a:endParaRPr>
          </a:p>
          <a:p>
            <a:r>
              <a:rPr lang="en-CH" sz="1600" dirty="0">
                <a:solidFill>
                  <a:schemeClr val="accent3"/>
                </a:solidFill>
              </a:rPr>
              <a:t>  </a:t>
            </a:r>
          </a:p>
          <a:p>
            <a:r>
              <a:rPr lang="en-CH" sz="1600" dirty="0">
                <a:solidFill>
                  <a:schemeClr val="accent3"/>
                </a:solidFill>
              </a:rPr>
              <a:t>  </a:t>
            </a:r>
            <a:r>
              <a:rPr lang="en-US" sz="1600" dirty="0">
                <a:solidFill>
                  <a:schemeClr val="accent3"/>
                </a:solidFill>
              </a:rPr>
              <a:t>self</a:t>
            </a:r>
            <a:r>
              <a:rPr lang="en-US" sz="1600" dirty="0">
                <a:solidFill>
                  <a:schemeClr val="accent1"/>
                </a:solidFill>
              </a:rPr>
              <a:t>.</a:t>
            </a:r>
            <a:r>
              <a:rPr lang="en-US" sz="1600" dirty="0"/>
              <a:t>balances</a:t>
            </a:r>
            <a:r>
              <a:rPr lang="en-CH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from</a:t>
            </a:r>
            <a:r>
              <a:rPr lang="en-CH" sz="1600" dirty="0">
                <a:solidFill>
                  <a:schemeClr val="accent1"/>
                </a:solidFill>
              </a:rPr>
              <a:t>] =</a:t>
            </a:r>
            <a:r>
              <a:rPr lang="en-US" sz="1600" dirty="0"/>
              <a:t> from_balance </a:t>
            </a:r>
            <a:r>
              <a:rPr lang="en-US" sz="1600" dirty="0">
                <a:solidFill>
                  <a:schemeClr val="accent1"/>
                </a:solidFill>
              </a:rPr>
              <a:t>-</a:t>
            </a:r>
            <a:r>
              <a:rPr lang="en-US" sz="1600" dirty="0"/>
              <a:t> amount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  <a:endParaRPr lang="en-CH" sz="1600" dirty="0">
              <a:solidFill>
                <a:schemeClr val="tx2"/>
              </a:solidFill>
            </a:endParaRPr>
          </a:p>
          <a:p>
            <a:r>
              <a:rPr lang="en-CH" sz="1600" dirty="0">
                <a:solidFill>
                  <a:schemeClr val="accent3"/>
                </a:solidFill>
              </a:rPr>
              <a:t>  </a:t>
            </a:r>
            <a:r>
              <a:rPr lang="en-US" sz="1600" dirty="0">
                <a:solidFill>
                  <a:schemeClr val="accent3"/>
                </a:solidFill>
              </a:rPr>
              <a:t>self</a:t>
            </a:r>
            <a:r>
              <a:rPr lang="en-US" sz="1600" dirty="0">
                <a:solidFill>
                  <a:schemeClr val="accent1"/>
                </a:solidFill>
              </a:rPr>
              <a:t>.</a:t>
            </a:r>
            <a:r>
              <a:rPr lang="en-US" sz="1600" dirty="0"/>
              <a:t>balances</a:t>
            </a:r>
            <a:r>
              <a:rPr lang="en-CH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to</a:t>
            </a:r>
            <a:r>
              <a:rPr lang="en-CH" sz="1600" dirty="0">
                <a:solidFill>
                  <a:schemeClr val="accent1"/>
                </a:solidFill>
              </a:rPr>
              <a:t>]   =</a:t>
            </a:r>
            <a:r>
              <a:rPr lang="en-US" sz="1600" dirty="0"/>
              <a:t> to_balance </a:t>
            </a:r>
            <a:r>
              <a:rPr lang="en-US" sz="1600" dirty="0">
                <a:solidFill>
                  <a:schemeClr val="accent1"/>
                </a:solidFill>
              </a:rPr>
              <a:t>+</a:t>
            </a:r>
            <a:r>
              <a:rPr lang="en-US" sz="1600" dirty="0"/>
              <a:t> amount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  <a:endParaRPr lang="en-CH" sz="1600" dirty="0">
              <a:solidFill>
                <a:schemeClr val="tx2"/>
              </a:solidFill>
            </a:endParaRPr>
          </a:p>
          <a:p>
            <a:r>
              <a:rPr lang="en-US" sz="1600" dirty="0">
                <a:solidFill>
                  <a:schemeClr val="accent1"/>
                </a:solidFill>
              </a:rPr>
              <a:t>}</a:t>
            </a:r>
            <a:endParaRPr lang="en-CH" sz="1600" dirty="0">
              <a:solidFill>
                <a:schemeClr val="accent1"/>
              </a:solidFill>
            </a:endParaRPr>
          </a:p>
        </p:txBody>
      </p:sp>
      <p:sp>
        <p:nvSpPr>
          <p:cNvPr id="22" name="Date Placeholder 21">
            <a:extLst>
              <a:ext uri="{FF2B5EF4-FFF2-40B4-BE49-F238E27FC236}">
                <a16:creationId xmlns:a16="http://schemas.microsoft.com/office/drawing/2014/main" id="{6EF33627-EF6F-F33F-01AB-4FD7DB6A0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328E4A4C-9388-3AA4-7A64-E5DF13A86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>
                <a:solidFill>
                  <a:schemeClr val="tx2"/>
                </a:solidFill>
              </a:rPr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78BFDE1-3340-0959-981B-CB9B09E2D0EC}"/>
              </a:ext>
            </a:extLst>
          </p:cNvPr>
          <p:cNvCxnSpPr>
            <a:cxnSpLocks/>
          </p:cNvCxnSpPr>
          <p:nvPr/>
        </p:nvCxnSpPr>
        <p:spPr>
          <a:xfrm>
            <a:off x="1214438" y="1515260"/>
            <a:ext cx="1591" cy="2232026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C024968-62CC-7D2A-7D5E-5C75F5A516C6}"/>
              </a:ext>
            </a:extLst>
          </p:cNvPr>
          <p:cNvCxnSpPr>
            <a:cxnSpLocks/>
          </p:cNvCxnSpPr>
          <p:nvPr/>
        </p:nvCxnSpPr>
        <p:spPr>
          <a:xfrm>
            <a:off x="1209667" y="3872965"/>
            <a:ext cx="0" cy="2483385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637B062-74A0-A7D9-78EB-23249118CDCA}"/>
              </a:ext>
            </a:extLst>
          </p:cNvPr>
          <p:cNvGrpSpPr/>
          <p:nvPr/>
        </p:nvGrpSpPr>
        <p:grpSpPr>
          <a:xfrm>
            <a:off x="1425596" y="2946289"/>
            <a:ext cx="7521385" cy="646331"/>
            <a:chOff x="1425596" y="2946289"/>
            <a:chExt cx="7521385" cy="646331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67B8BCF-BF21-7013-F1FD-4B112C182992}"/>
                </a:ext>
              </a:extLst>
            </p:cNvPr>
            <p:cNvSpPr/>
            <p:nvPr/>
          </p:nvSpPr>
          <p:spPr>
            <a:xfrm>
              <a:off x="1425596" y="3000374"/>
              <a:ext cx="4987904" cy="538163"/>
            </a:xfrm>
            <a:prstGeom prst="rect">
              <a:avLst/>
            </a:prstGeom>
            <a:noFill/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B2B67BD-F734-8E08-36C2-E292803A5F37}"/>
                </a:ext>
              </a:extLst>
            </p:cNvPr>
            <p:cNvSpPr txBox="1"/>
            <p:nvPr/>
          </p:nvSpPr>
          <p:spPr>
            <a:xfrm>
              <a:off x="6495881" y="2946289"/>
              <a:ext cx="24511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H" dirty="0">
                  <a:solidFill>
                    <a:schemeClr val="accent5"/>
                  </a:solidFill>
                </a:rPr>
                <a:t>Incorrect state update when  </a:t>
              </a:r>
              <a:r>
                <a:rPr lang="en-CH" sz="1600" dirty="0">
                  <a:solidFill>
                    <a:schemeClr val="accent1"/>
                  </a:solidFill>
                  <a:latin typeface="Lucida Console" panose="020B0609040504020204" pitchFamily="49" charset="0"/>
                </a:rPr>
                <a:t>from == to</a:t>
              </a:r>
              <a:endParaRPr lang="en-CH" dirty="0">
                <a:solidFill>
                  <a:schemeClr val="accent1"/>
                </a:solidFill>
                <a:latin typeface="Lucida Console" panose="020B0609040504020204" pitchFamily="49" charset="0"/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C4A81C5-C985-D15E-7A10-D9B8BF5896C2}"/>
              </a:ext>
            </a:extLst>
          </p:cNvPr>
          <p:cNvGrpSpPr/>
          <p:nvPr/>
        </p:nvGrpSpPr>
        <p:grpSpPr>
          <a:xfrm>
            <a:off x="1524000" y="5429671"/>
            <a:ext cx="7480131" cy="646331"/>
            <a:chOff x="1524000" y="5429671"/>
            <a:chExt cx="7480131" cy="646331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810D8EB-8D64-B524-C78B-04AB90AAC487}"/>
                </a:ext>
              </a:extLst>
            </p:cNvPr>
            <p:cNvSpPr/>
            <p:nvPr/>
          </p:nvSpPr>
          <p:spPr>
            <a:xfrm>
              <a:off x="1524000" y="5626100"/>
              <a:ext cx="5448300" cy="260350"/>
            </a:xfrm>
            <a:prstGeom prst="rect">
              <a:avLst/>
            </a:prstGeom>
            <a:noFill/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C7444F2-6834-DF4F-BE66-C92755CA100A}"/>
                </a:ext>
              </a:extLst>
            </p:cNvPr>
            <p:cNvSpPr txBox="1"/>
            <p:nvPr/>
          </p:nvSpPr>
          <p:spPr>
            <a:xfrm>
              <a:off x="7035631" y="5429671"/>
              <a:ext cx="19685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H" dirty="0">
                  <a:solidFill>
                    <a:schemeClr val="accent5"/>
                  </a:solidFill>
                </a:rPr>
                <a:t>Value overwritten when</a:t>
              </a:r>
              <a:r>
                <a:rPr lang="en-CH" dirty="0"/>
                <a:t>  </a:t>
              </a:r>
              <a:r>
                <a:rPr lang="en-CH" sz="1600" dirty="0">
                  <a:solidFill>
                    <a:schemeClr val="accent1"/>
                  </a:solidFill>
                </a:rPr>
                <a:t>from == to</a:t>
              </a:r>
              <a:endParaRPr lang="en-CH" dirty="0">
                <a:solidFill>
                  <a:schemeClr val="accent1"/>
                </a:solidFill>
              </a:endParaRPr>
            </a:p>
          </p:txBody>
        </p: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F189D546-E94F-175E-9F40-62411F496A46}"/>
              </a:ext>
            </a:extLst>
          </p:cNvPr>
          <p:cNvSpPr/>
          <p:nvPr/>
        </p:nvSpPr>
        <p:spPr>
          <a:xfrm>
            <a:off x="1524000" y="4174070"/>
            <a:ext cx="3587750" cy="49318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8201567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1206B-7346-72AF-4514-E2F5B0E07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Future Work:</a:t>
            </a:r>
            <a:r>
              <a:rPr lang="en-GB" dirty="0"/>
              <a:t> Language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B406FC-A085-DB12-6D86-EB47A829326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72200" y="1690688"/>
            <a:ext cx="5181600" cy="4351338"/>
          </a:xfrm>
        </p:spPr>
        <p:txBody>
          <a:bodyPr>
            <a:normAutofit fontScale="92500" lnSpcReduction="20000"/>
          </a:bodyPr>
          <a:lstStyle/>
          <a:p>
            <a:r>
              <a:rPr lang="en-CH" dirty="0"/>
              <a:t>Interpreter:</a:t>
            </a:r>
          </a:p>
          <a:p>
            <a:pPr lvl="1"/>
            <a:r>
              <a:rPr lang="en-CH" dirty="0"/>
              <a:t>Testing tools deploy mock blockchain, simulate full VM execution</a:t>
            </a:r>
          </a:p>
          <a:p>
            <a:pPr lvl="2">
              <a:buFont typeface="Aptos" panose="020B0004020202020204" pitchFamily="34" charset="0"/>
              <a:buChar char="→"/>
            </a:pPr>
            <a:r>
              <a:rPr lang="en-CH" dirty="0"/>
              <a:t>huge overhead, bad performance</a:t>
            </a:r>
          </a:p>
          <a:p>
            <a:pPr lvl="2">
              <a:buFont typeface="Aptos" panose="020B0004020202020204" pitchFamily="34" charset="0"/>
              <a:buChar char="→"/>
            </a:pPr>
            <a:r>
              <a:rPr lang="en-CH" dirty="0"/>
              <a:t>debugging tools are not great</a:t>
            </a:r>
          </a:p>
          <a:p>
            <a:pPr lvl="1"/>
            <a:r>
              <a:rPr lang="en-CH" dirty="0"/>
              <a:t>Performance greatly impacts fuzz testing</a:t>
            </a:r>
          </a:p>
          <a:p>
            <a:pPr lvl="1"/>
            <a:r>
              <a:rPr lang="en-CH" dirty="0"/>
              <a:t>Unit tests, step-by-step debugging for internal functions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8841C8-1090-73BD-8612-E494B8001B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1690688"/>
            <a:ext cx="5181600" cy="4351338"/>
          </a:xfrm>
        </p:spPr>
        <p:txBody>
          <a:bodyPr>
            <a:normAutofit fontScale="92500" lnSpcReduction="20000"/>
          </a:bodyPr>
          <a:lstStyle/>
          <a:p>
            <a:r>
              <a:rPr lang="en-CH" dirty="0"/>
              <a:t>Adoption Road-Blocks:</a:t>
            </a:r>
          </a:p>
          <a:p>
            <a:pPr lvl="1"/>
            <a:r>
              <a:rPr lang="en-CH" dirty="0"/>
              <a:t>EVM features:</a:t>
            </a:r>
          </a:p>
          <a:p>
            <a:pPr lvl="2"/>
            <a:r>
              <a:rPr lang="en-CH" dirty="0"/>
              <a:t>events</a:t>
            </a:r>
          </a:p>
          <a:p>
            <a:pPr lvl="2"/>
            <a:r>
              <a:rPr lang="en-CH" dirty="0"/>
              <a:t>special call types</a:t>
            </a:r>
          </a:p>
          <a:p>
            <a:pPr lvl="2"/>
            <a:r>
              <a:rPr lang="en-CH" dirty="0"/>
              <a:t>programmatic contract creation</a:t>
            </a:r>
          </a:p>
          <a:p>
            <a:pPr lvl="1"/>
            <a:r>
              <a:rPr lang="en-CH" dirty="0"/>
              <a:t>Improve effect syntax</a:t>
            </a:r>
          </a:p>
          <a:p>
            <a:pPr lvl="2"/>
            <a:r>
              <a:rPr lang="en-CH" dirty="0"/>
              <a:t>rigorous handling of variable mutability</a:t>
            </a:r>
          </a:p>
          <a:p>
            <a:pPr lvl="1"/>
            <a:r>
              <a:rPr lang="en-CH" dirty="0"/>
              <a:t>Auto-generate effect annotations</a:t>
            </a:r>
          </a:p>
          <a:p>
            <a:pPr lvl="2"/>
            <a:r>
              <a:rPr lang="en-CH" dirty="0"/>
              <a:t>to reduce overhead</a:t>
            </a:r>
          </a:p>
          <a:p>
            <a:pPr lvl="1"/>
            <a:r>
              <a:rPr lang="en-CH" dirty="0"/>
              <a:t>Memory-efficient ADTs</a:t>
            </a:r>
          </a:p>
          <a:p>
            <a:pPr lvl="1"/>
            <a:r>
              <a:rPr lang="en-CH" dirty="0"/>
              <a:t>Modularity </a:t>
            </a:r>
            <a:r>
              <a:rPr lang="en-CH" sz="1900" dirty="0"/>
              <a:t>(libraries, contract composition)</a:t>
            </a:r>
            <a:endParaRPr lang="en-CH" dirty="0"/>
          </a:p>
          <a:p>
            <a:pPr lvl="1"/>
            <a:r>
              <a:rPr lang="en-CH" dirty="0"/>
              <a:t>Documentation</a:t>
            </a:r>
          </a:p>
          <a:p>
            <a:pPr lvl="1"/>
            <a:r>
              <a:rPr lang="en-CH" dirty="0"/>
              <a:t>Tooling</a:t>
            </a:r>
          </a:p>
          <a:p>
            <a:pPr marL="0" indent="0">
              <a:buNone/>
            </a:pPr>
            <a:endParaRPr lang="en-CH" dirty="0"/>
          </a:p>
          <a:p>
            <a:endParaRPr lang="en-CH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EC5EDA-4793-93D4-A820-F643F2D6FD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860437-8E73-31B9-4ABA-36AA6E6E72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0190236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D4A9B-35EC-779C-7650-9ABA7E223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7164E-219C-24EE-606B-B716273E0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Common Vulnerabilities (Count)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59D83CE-53CA-71AB-E631-5E1719CB745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66103347"/>
              </p:ext>
            </p:extLst>
          </p:nvPr>
        </p:nvGraphicFramePr>
        <p:xfrm>
          <a:off x="838200" y="1385888"/>
          <a:ext cx="10515602" cy="4514022"/>
        </p:xfrm>
        <a:graphic>
          <a:graphicData uri="http://schemas.openxmlformats.org/drawingml/2006/table">
            <a:tbl>
              <a:tblPr firstRow="1" firstCol="1" bandRow="1">
                <a:tableStyleId>{073A0DAA-6AF3-43AB-8588-CEC1D06C72B9}</a:tableStyleId>
              </a:tblPr>
              <a:tblGrid>
                <a:gridCol w="1894114">
                  <a:extLst>
                    <a:ext uri="{9D8B030D-6E8A-4147-A177-3AD203B41FA5}">
                      <a16:colId xmlns:a16="http://schemas.microsoft.com/office/drawing/2014/main" val="2890287269"/>
                    </a:ext>
                  </a:extLst>
                </a:gridCol>
                <a:gridCol w="1110343">
                  <a:extLst>
                    <a:ext uri="{9D8B030D-6E8A-4147-A177-3AD203B41FA5}">
                      <a16:colId xmlns:a16="http://schemas.microsoft.com/office/drawing/2014/main" val="6528435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854450669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85667650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563197904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143271123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2315891655"/>
                    </a:ext>
                  </a:extLst>
                </a:gridCol>
              </a:tblGrid>
              <a:tr h="324514">
                <a:tc>
                  <a:txBody>
                    <a:bodyPr/>
                    <a:lstStyle/>
                    <a:p>
                      <a:r>
                        <a:rPr lang="en-CH" dirty="0"/>
                        <a:t>Vulnerability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5791428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Business Logic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27.5%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719852116"/>
                  </a:ext>
                </a:extLst>
              </a:tr>
              <a:tr h="54326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Price Manipulation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19.7%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755323156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Access Control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16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76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13.8%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495396341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Reentrancy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17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9.84%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69322149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Input Validation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6.92%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1962660056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Precision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7.29%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1772808413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Arbitrary Call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26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4.74%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3441782785"/>
                  </a:ext>
                </a:extLst>
              </a:tr>
              <a:tr h="5601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Token Design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5.1%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3932290842"/>
                  </a:ext>
                </a:extLst>
              </a:tr>
              <a:tr h="54326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Slippage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2.37%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317046057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Other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2.73%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3099475387"/>
                  </a:ext>
                </a:extLst>
              </a:tr>
            </a:tbl>
          </a:graphicData>
        </a:graphic>
      </p:graphicFrame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F45B2709-65EB-8F4F-6D1F-C51F05B1578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E9EF16B0-EF7F-C7EA-6239-45BD6796D2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DFC27C2-599F-21C2-9A23-9A561AB21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41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76949888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A6AE7C-F699-93CC-8B40-D2CAE4E37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BF207-A58A-3A2C-7F32-C722272CE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Common Vulnerabilities (Funds Lost, in $M)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08081DF-AE4A-C3E8-B5EE-829C98A3699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32307690"/>
              </p:ext>
            </p:extLst>
          </p:nvPr>
        </p:nvGraphicFramePr>
        <p:xfrm>
          <a:off x="838200" y="1385888"/>
          <a:ext cx="10515602" cy="4514022"/>
        </p:xfrm>
        <a:graphic>
          <a:graphicData uri="http://schemas.openxmlformats.org/drawingml/2006/table">
            <a:tbl>
              <a:tblPr firstRow="1" firstCol="1" bandRow="1">
                <a:tableStyleId>{073A0DAA-6AF3-43AB-8588-CEC1D06C72B9}</a:tableStyleId>
              </a:tblPr>
              <a:tblGrid>
                <a:gridCol w="1894114">
                  <a:extLst>
                    <a:ext uri="{9D8B030D-6E8A-4147-A177-3AD203B41FA5}">
                      <a16:colId xmlns:a16="http://schemas.microsoft.com/office/drawing/2014/main" val="2890287269"/>
                    </a:ext>
                  </a:extLst>
                </a:gridCol>
                <a:gridCol w="1110343">
                  <a:extLst>
                    <a:ext uri="{9D8B030D-6E8A-4147-A177-3AD203B41FA5}">
                      <a16:colId xmlns:a16="http://schemas.microsoft.com/office/drawing/2014/main" val="6528435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854450669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85667650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563197904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143271123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2315891655"/>
                    </a:ext>
                  </a:extLst>
                </a:gridCol>
              </a:tblGrid>
              <a:tr h="324514">
                <a:tc>
                  <a:txBody>
                    <a:bodyPr/>
                    <a:lstStyle/>
                    <a:p>
                      <a:r>
                        <a:rPr lang="en-CH" dirty="0"/>
                        <a:t>Vulnerability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5791428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Business Logic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178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223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524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31.355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719852116"/>
                  </a:ext>
                </a:extLst>
              </a:tr>
              <a:tr h="54326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Price Manipulation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215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115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422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25.25154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755323156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Access Control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26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15.5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60.5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3.620186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495396341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Reentrancy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87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284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16.99393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69322149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Input Validation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10.6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141.5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8.467046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1962660056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Precision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3.7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151.7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9.077391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1772808413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Arbitrary Call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4.3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15.7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0.939453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3441782785"/>
                  </a:ext>
                </a:extLst>
              </a:tr>
              <a:tr h="5601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Token Design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0.076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0.355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5.631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0.336947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3932290842"/>
                  </a:ext>
                </a:extLst>
              </a:tr>
              <a:tr h="54326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Slippage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0.663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0.091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11.754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0.703333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317046057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Other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54.4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3.255175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3099475387"/>
                  </a:ext>
                </a:extLst>
              </a:tr>
            </a:tbl>
          </a:graphicData>
        </a:graphic>
      </p:graphicFrame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02885CBF-F704-A3FE-3C82-E9DB07FD98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EAAC4EB0-26C0-C7E6-C47E-0A485135E8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9392738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2BA5C-1E19-CCED-313E-750CB5F76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F5F0FC6-D728-8EA4-A5EF-7120DC81821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6749045" y="365123"/>
            <a:ext cx="489953" cy="5834063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r>
              <a:rPr lang="en-CH" dirty="0"/>
              <a:t>18</a:t>
            </a:r>
          </a:p>
          <a:p>
            <a:r>
              <a:rPr lang="en-CH" dirty="0"/>
              <a:t>19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13717F5-109E-5A5D-2D2E-55D1AB09BE6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3"/>
          </p:nvPr>
        </p:nvSpPr>
        <p:spPr>
          <a:xfrm>
            <a:off x="7238998" y="365125"/>
            <a:ext cx="4114801" cy="5834063"/>
          </a:xfrm>
        </p:spPr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pragma solidity </a:t>
            </a:r>
            <a:r>
              <a:rPr lang="en-US" dirty="0">
                <a:solidFill>
                  <a:schemeClr val="accent3"/>
                </a:solidFill>
              </a:rPr>
              <a:t>^</a:t>
            </a:r>
            <a:r>
              <a:rPr lang="en-US" dirty="0">
                <a:solidFill>
                  <a:schemeClr val="accent4"/>
                </a:solidFill>
              </a:rPr>
              <a:t>0</a:t>
            </a:r>
            <a:r>
              <a:rPr lang="en-US" dirty="0">
                <a:solidFill>
                  <a:schemeClr val="accent3"/>
                </a:solidFill>
              </a:rPr>
              <a:t>.</a:t>
            </a:r>
            <a:r>
              <a:rPr lang="en-US" dirty="0">
                <a:solidFill>
                  <a:schemeClr val="accent4"/>
                </a:solidFill>
              </a:rPr>
              <a:t>8</a:t>
            </a:r>
            <a:r>
              <a:rPr lang="en-US" dirty="0">
                <a:solidFill>
                  <a:schemeClr val="accent3"/>
                </a:solidFill>
              </a:rPr>
              <a:t>.</a:t>
            </a:r>
            <a:r>
              <a:rPr lang="en-US" dirty="0">
                <a:solidFill>
                  <a:schemeClr val="accent4"/>
                </a:solidFill>
              </a:rPr>
              <a:t>31</a:t>
            </a:r>
            <a:r>
              <a:rPr lang="en-US" dirty="0">
                <a:solidFill>
                  <a:schemeClr val="accent3"/>
                </a:solidFill>
              </a:rPr>
              <a:t>;</a:t>
            </a:r>
          </a:p>
          <a:p>
            <a:endParaRPr lang="en-CH" dirty="0"/>
          </a:p>
          <a:p>
            <a:r>
              <a:rPr lang="en-CH" dirty="0">
                <a:solidFill>
                  <a:schemeClr val="accent2"/>
                </a:solidFill>
              </a:rPr>
              <a:t>contract</a:t>
            </a:r>
            <a:r>
              <a:rPr lang="en-CH" dirty="0"/>
              <a:t> Counter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2"/>
                </a:solidFill>
              </a:rPr>
              <a:t>uint256 </a:t>
            </a:r>
            <a:r>
              <a:rPr lang="en-CH" dirty="0">
                <a:solidFill>
                  <a:schemeClr val="accent1"/>
                </a:solidFill>
              </a:rPr>
              <a:t>private</a:t>
            </a:r>
            <a:r>
              <a:rPr lang="en-CH" dirty="0">
                <a:solidFill>
                  <a:schemeClr val="accent2"/>
                </a:solidFill>
              </a:rPr>
              <a:t> </a:t>
            </a:r>
            <a:r>
              <a:rPr lang="en-CH" dirty="0"/>
              <a:t>value</a:t>
            </a:r>
            <a:r>
              <a:rPr lang="en-CH" dirty="0">
                <a:solidFill>
                  <a:schemeClr val="accent3"/>
                </a:solidFill>
              </a:rPr>
              <a:t>;</a:t>
            </a:r>
          </a:p>
          <a:p>
            <a:endParaRPr lang="en-CH" dirty="0">
              <a:solidFill>
                <a:schemeClr val="accent2"/>
              </a:solidFill>
            </a:endParaRPr>
          </a:p>
          <a:p>
            <a:r>
              <a:rPr lang="en-CH" dirty="0">
                <a:solidFill>
                  <a:schemeClr val="accent2"/>
                </a:solidFill>
              </a:rPr>
              <a:t>  constructor</a:t>
            </a:r>
            <a:r>
              <a:rPr lang="en-CH" dirty="0">
                <a:solidFill>
                  <a:schemeClr val="accent3"/>
                </a:solidFill>
              </a:rPr>
              <a:t>(</a:t>
            </a:r>
            <a:r>
              <a:rPr lang="en-CH" dirty="0">
                <a:solidFill>
                  <a:schemeClr val="accent2"/>
                </a:solidFill>
              </a:rPr>
              <a:t>uint256 </a:t>
            </a:r>
            <a:r>
              <a:rPr lang="en-CH" dirty="0"/>
              <a:t>x</a:t>
            </a:r>
            <a:r>
              <a:rPr lang="en-CH" dirty="0">
                <a:solidFill>
                  <a:schemeClr val="accent3"/>
                </a:solidFill>
              </a:rPr>
              <a:t>) {</a:t>
            </a:r>
          </a:p>
          <a:p>
            <a:r>
              <a:rPr lang="en-CH" dirty="0">
                <a:solidFill>
                  <a:schemeClr val="accent3"/>
                </a:solidFill>
              </a:rPr>
              <a:t>    </a:t>
            </a:r>
            <a:r>
              <a:rPr lang="en-CH" dirty="0"/>
              <a:t>value </a:t>
            </a:r>
            <a:r>
              <a:rPr lang="en-CH" dirty="0">
                <a:solidFill>
                  <a:schemeClr val="accent3"/>
                </a:solidFill>
              </a:rPr>
              <a:t>=</a:t>
            </a:r>
            <a:r>
              <a:rPr lang="en-CH" dirty="0"/>
              <a:t> x</a:t>
            </a:r>
            <a:r>
              <a:rPr lang="en-CH" dirty="0">
                <a:solidFill>
                  <a:schemeClr val="accent3"/>
                </a:solidFill>
              </a:rPr>
              <a:t>;</a:t>
            </a:r>
          </a:p>
          <a:p>
            <a:r>
              <a:rPr lang="en-CH" dirty="0">
                <a:solidFill>
                  <a:schemeClr val="accent3"/>
                </a:solidFill>
              </a:rPr>
              <a:t>  }</a:t>
            </a:r>
          </a:p>
          <a:p>
            <a:endParaRPr lang="en-CH" dirty="0">
              <a:solidFill>
                <a:schemeClr val="accent3"/>
              </a:solidFill>
            </a:endParaRPr>
          </a:p>
          <a:p>
            <a:r>
              <a:rPr lang="en-CH" dirty="0">
                <a:solidFill>
                  <a:schemeClr val="accent3"/>
                </a:solidFill>
              </a:rPr>
              <a:t>  </a:t>
            </a:r>
            <a:r>
              <a:rPr lang="en-CH" dirty="0">
                <a:solidFill>
                  <a:schemeClr val="accent2"/>
                </a:solidFill>
              </a:rPr>
              <a:t>function </a:t>
            </a:r>
            <a:r>
              <a:rPr lang="en-CH" dirty="0">
                <a:solidFill>
                  <a:schemeClr val="accent6"/>
                </a:solidFill>
              </a:rPr>
              <a:t>get</a:t>
            </a:r>
            <a:r>
              <a:rPr lang="en-CH" dirty="0">
                <a:solidFill>
                  <a:schemeClr val="accent3"/>
                </a:solidFill>
              </a:rPr>
              <a:t>()</a:t>
            </a:r>
          </a:p>
          <a:p>
            <a:r>
              <a:rPr lang="en-CH" dirty="0">
                <a:solidFill>
                  <a:schemeClr val="accent3"/>
                </a:solidFill>
              </a:rPr>
              <a:t>	</a:t>
            </a:r>
            <a:r>
              <a:rPr lang="en-CH" dirty="0">
                <a:solidFill>
                  <a:schemeClr val="accent1"/>
                </a:solidFill>
              </a:rPr>
              <a:t>returns</a:t>
            </a:r>
            <a:r>
              <a:rPr lang="en-CH" dirty="0">
                <a:solidFill>
                  <a:schemeClr val="accent3"/>
                </a:solidFill>
              </a:rPr>
              <a:t> (</a:t>
            </a:r>
            <a:r>
              <a:rPr lang="en-CH" dirty="0">
                <a:solidFill>
                  <a:schemeClr val="accent2"/>
                </a:solidFill>
              </a:rPr>
              <a:t>uint256</a:t>
            </a:r>
            <a:r>
              <a:rPr lang="en-CH" dirty="0">
                <a:solidFill>
                  <a:schemeClr val="accent3"/>
                </a:solidFill>
              </a:rPr>
              <a:t>)</a:t>
            </a:r>
          </a:p>
          <a:p>
            <a:r>
              <a:rPr lang="en-CH" dirty="0">
                <a:solidFill>
                  <a:schemeClr val="accent3"/>
                </a:solidFill>
              </a:rPr>
              <a:t>  {</a:t>
            </a:r>
          </a:p>
          <a:p>
            <a:r>
              <a:rPr lang="en-CH" dirty="0">
                <a:solidFill>
                  <a:schemeClr val="accent3"/>
                </a:solidFill>
              </a:rPr>
              <a:t>    </a:t>
            </a:r>
            <a:r>
              <a:rPr lang="en-CH" dirty="0">
                <a:solidFill>
                  <a:schemeClr val="accent1"/>
                </a:solidFill>
              </a:rPr>
              <a:t>return </a:t>
            </a:r>
            <a:r>
              <a:rPr lang="en-CH" dirty="0"/>
              <a:t>value</a:t>
            </a:r>
            <a:r>
              <a:rPr lang="en-CH" dirty="0">
                <a:solidFill>
                  <a:schemeClr val="accent3"/>
                </a:solidFill>
              </a:rPr>
              <a:t>;</a:t>
            </a:r>
          </a:p>
          <a:p>
            <a:r>
              <a:rPr lang="en-CH" dirty="0">
                <a:solidFill>
                  <a:schemeClr val="accent3"/>
                </a:solidFill>
              </a:rPr>
              <a:t>  }</a:t>
            </a:r>
          </a:p>
          <a:p>
            <a:endParaRPr lang="en-CH" dirty="0">
              <a:solidFill>
                <a:schemeClr val="accent3"/>
              </a:solidFill>
            </a:endParaRPr>
          </a:p>
          <a:p>
            <a:r>
              <a:rPr lang="en-CH" dirty="0">
                <a:solidFill>
                  <a:schemeClr val="accent3"/>
                </a:solidFill>
              </a:rPr>
              <a:t>  </a:t>
            </a:r>
            <a:r>
              <a:rPr lang="en-CH" dirty="0">
                <a:solidFill>
                  <a:schemeClr val="accent2"/>
                </a:solidFill>
              </a:rPr>
              <a:t>function 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3"/>
                </a:solidFill>
              </a:rPr>
              <a:t>() {</a:t>
            </a:r>
          </a:p>
          <a:p>
            <a:r>
              <a:rPr lang="en-CH" dirty="0">
                <a:solidFill>
                  <a:schemeClr val="accent3"/>
                </a:solidFill>
              </a:rPr>
              <a:t>    </a:t>
            </a:r>
            <a:r>
              <a:rPr lang="en-CH" dirty="0"/>
              <a:t>value </a:t>
            </a:r>
            <a:r>
              <a:rPr lang="en-CH" dirty="0">
                <a:solidFill>
                  <a:schemeClr val="accent3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accent3"/>
                </a:solidFill>
              </a:rPr>
              <a:t>;</a:t>
            </a:r>
          </a:p>
          <a:p>
            <a:r>
              <a:rPr lang="en-CH" dirty="0">
                <a:solidFill>
                  <a:schemeClr val="accent3"/>
                </a:solidFill>
              </a:rPr>
              <a:t>  }</a:t>
            </a:r>
            <a:endParaRPr lang="en-CH" dirty="0"/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EE9E4B5-C066-8ADD-373C-11BE5995C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Solidity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6CE8613E-4733-3F18-4138-B38FF35A25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C72105C7-A833-4BBE-84F9-4F3BB5CA7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75963B-8667-6CA9-7CB5-983A2C4225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47850"/>
            <a:ext cx="5236398" cy="4351338"/>
          </a:xfrm>
        </p:spPr>
        <p:txBody>
          <a:bodyPr>
            <a:normAutofit/>
          </a:bodyPr>
          <a:lstStyle/>
          <a:p>
            <a:r>
              <a:rPr lang="en-CH" dirty="0"/>
              <a:t>Inspired by OOP</a:t>
            </a:r>
          </a:p>
          <a:p>
            <a:pPr lvl="1"/>
            <a:r>
              <a:rPr lang="en-CH" dirty="0"/>
              <a:t>Contracts </a:t>
            </a:r>
            <a:r>
              <a:rPr lang="en-CH" dirty="0">
                <a:latin typeface="Calibri" panose="020F0502020204030204" pitchFamily="34" charset="0"/>
                <a:cs typeface="Calibri" panose="020F0502020204030204" pitchFamily="34" charset="0"/>
              </a:rPr>
              <a:t>↔</a:t>
            </a:r>
            <a:r>
              <a:rPr lang="en-CH" dirty="0"/>
              <a:t> Objects</a:t>
            </a:r>
          </a:p>
          <a:p>
            <a:r>
              <a:rPr lang="en-CH" dirty="0"/>
              <a:t>Complex type system</a:t>
            </a:r>
          </a:p>
          <a:p>
            <a:pPr lvl="1"/>
            <a:r>
              <a:rPr lang="en-CH" dirty="0"/>
              <a:t>Inheritance</a:t>
            </a:r>
          </a:p>
          <a:p>
            <a:pPr lvl="1"/>
            <a:r>
              <a:rPr lang="en-CH" dirty="0"/>
              <a:t>Function Pointers</a:t>
            </a:r>
          </a:p>
          <a:p>
            <a:pPr lvl="1"/>
            <a:r>
              <a:rPr lang="en-CH" dirty="0"/>
              <a:t>Storage Pointers</a:t>
            </a:r>
          </a:p>
          <a:p>
            <a:r>
              <a:rPr lang="en-CH" dirty="0"/>
              <a:t>Few protection mechanisms</a:t>
            </a:r>
          </a:p>
          <a:p>
            <a:r>
              <a:rPr lang="en-CH" dirty="0"/>
              <a:t>Large library of contracts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AFE5C9-E905-7396-A5F9-6F9161F338FE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flipH="1">
            <a:off x="7238998" y="365124"/>
            <a:ext cx="479" cy="583406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554296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E3B7E-F9E9-6F6A-8B18-DF3F1C217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AA68216-E563-600F-9EAA-ACF32BAEE37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r>
              <a:rPr lang="en-CH" dirty="0"/>
              <a:t>18</a:t>
            </a:r>
          </a:p>
          <a:p>
            <a:r>
              <a:rPr lang="en-CH" dirty="0"/>
              <a:t>19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7EACB6-3E80-3F73-5329-0C125D94C76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value: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</a:p>
          <a:p>
            <a:endParaRPr lang="en-US" dirty="0"/>
          </a:p>
          <a:p>
            <a:r>
              <a:rPr lang="en-US" dirty="0">
                <a:solidFill>
                  <a:schemeClr val="accent1"/>
                </a:solidFill>
              </a:rPr>
              <a:t>@public</a:t>
            </a:r>
          </a:p>
          <a:p>
            <a:r>
              <a:rPr lang="en-US" dirty="0">
                <a:solidFill>
                  <a:schemeClr val="accent2"/>
                </a:solidFill>
              </a:rPr>
              <a:t>def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__</a:t>
            </a:r>
            <a:r>
              <a:rPr lang="en-US" dirty="0" err="1">
                <a:solidFill>
                  <a:schemeClr val="accent6"/>
                </a:solidFill>
              </a:rPr>
              <a:t>init</a:t>
            </a:r>
            <a:r>
              <a:rPr lang="en-US" dirty="0">
                <a:solidFill>
                  <a:schemeClr val="accent6"/>
                </a:solidFill>
              </a:rPr>
              <a:t>__</a:t>
            </a:r>
            <a:r>
              <a:rPr lang="en-US" dirty="0">
                <a:solidFill>
                  <a:schemeClr val="accent3"/>
                </a:solidFill>
              </a:rPr>
              <a:t>(</a:t>
            </a:r>
            <a:r>
              <a:rPr lang="en-US" dirty="0"/>
              <a:t>x</a:t>
            </a:r>
            <a:r>
              <a:rPr lang="en-US" dirty="0">
                <a:solidFill>
                  <a:schemeClr val="accent3"/>
                </a:solidFill>
              </a:rPr>
              <a:t>:</a:t>
            </a:r>
            <a:r>
              <a:rPr lang="en-US" dirty="0"/>
              <a:t>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  <a:r>
              <a:rPr lang="en-US" dirty="0">
                <a:solidFill>
                  <a:schemeClr val="accent3"/>
                </a:solidFill>
              </a:rPr>
              <a:t>):</a:t>
            </a:r>
          </a:p>
          <a:p>
            <a:r>
              <a:rPr lang="en-US" dirty="0"/>
              <a:t>    </a:t>
            </a:r>
            <a:r>
              <a:rPr lang="en-US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self</a:t>
            </a:r>
            <a:r>
              <a:rPr lang="en-US" dirty="0" err="1">
                <a:solidFill>
                  <a:schemeClr val="accent3"/>
                </a:solidFill>
              </a:rPr>
              <a:t>.</a:t>
            </a:r>
            <a:r>
              <a:rPr lang="en-US" dirty="0" err="1"/>
              <a:t>value</a:t>
            </a:r>
            <a:r>
              <a:rPr lang="en-US" dirty="0"/>
              <a:t> </a:t>
            </a:r>
            <a:r>
              <a:rPr lang="en-US" dirty="0">
                <a:solidFill>
                  <a:schemeClr val="accent3"/>
                </a:solidFill>
              </a:rPr>
              <a:t>=</a:t>
            </a:r>
            <a:r>
              <a:rPr lang="en-US" dirty="0"/>
              <a:t> x</a:t>
            </a:r>
          </a:p>
          <a:p>
            <a:endParaRPr lang="en-US" dirty="0"/>
          </a:p>
          <a:p>
            <a:r>
              <a:rPr lang="en-US" dirty="0">
                <a:solidFill>
                  <a:schemeClr val="accent1"/>
                </a:solidFill>
              </a:rPr>
              <a:t>@public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@constant</a:t>
            </a:r>
          </a:p>
          <a:p>
            <a:r>
              <a:rPr lang="en-US" dirty="0">
                <a:solidFill>
                  <a:schemeClr val="accent2"/>
                </a:solidFill>
              </a:rPr>
              <a:t>def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get</a:t>
            </a:r>
            <a:r>
              <a:rPr lang="en-US" dirty="0">
                <a:solidFill>
                  <a:schemeClr val="accent3"/>
                </a:solidFill>
              </a:rPr>
              <a:t>() -&gt;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  <a:r>
              <a:rPr lang="en-US" dirty="0">
                <a:solidFill>
                  <a:schemeClr val="accent3"/>
                </a:solidFill>
              </a:rPr>
              <a:t>:</a:t>
            </a:r>
          </a:p>
          <a:p>
            <a:r>
              <a:rPr lang="en-US" dirty="0"/>
              <a:t>    </a:t>
            </a:r>
            <a:r>
              <a:rPr lang="en-US" dirty="0">
                <a:solidFill>
                  <a:schemeClr val="accent1"/>
                </a:solidFill>
              </a:rPr>
              <a:t>return</a:t>
            </a:r>
            <a:r>
              <a:rPr lang="en-US" dirty="0"/>
              <a:t> </a:t>
            </a:r>
            <a:r>
              <a:rPr lang="en-US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self</a:t>
            </a:r>
            <a:r>
              <a:rPr lang="en-US" dirty="0" err="1">
                <a:solidFill>
                  <a:schemeClr val="accent3"/>
                </a:solidFill>
              </a:rPr>
              <a:t>.</a:t>
            </a:r>
            <a:r>
              <a:rPr lang="en-US" dirty="0" err="1"/>
              <a:t>value</a:t>
            </a:r>
            <a:endParaRPr lang="en-US" dirty="0"/>
          </a:p>
          <a:p>
            <a:endParaRPr lang="en-CH" dirty="0"/>
          </a:p>
          <a:p>
            <a:r>
              <a:rPr lang="en-US" dirty="0">
                <a:solidFill>
                  <a:schemeClr val="accent1"/>
                </a:solidFill>
              </a:rPr>
              <a:t>@public</a:t>
            </a:r>
          </a:p>
          <a:p>
            <a:r>
              <a:rPr lang="en-US" dirty="0">
                <a:solidFill>
                  <a:schemeClr val="accent2"/>
                </a:solidFill>
              </a:rPr>
              <a:t>def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increment</a:t>
            </a:r>
            <a:r>
              <a:rPr lang="en-US" dirty="0">
                <a:solidFill>
                  <a:schemeClr val="accent3"/>
                </a:solidFill>
              </a:rPr>
              <a:t>() -&gt; </a:t>
            </a:r>
            <a:r>
              <a:rPr lang="en-US" dirty="0">
                <a:solidFill>
                  <a:schemeClr val="accent2"/>
                </a:solidFill>
              </a:rPr>
              <a:t>bool</a:t>
            </a:r>
            <a:r>
              <a:rPr lang="en-US" dirty="0">
                <a:solidFill>
                  <a:schemeClr val="accent3"/>
                </a:solidFill>
              </a:rPr>
              <a:t>:</a:t>
            </a:r>
          </a:p>
          <a:p>
            <a:r>
              <a:rPr lang="en-US" dirty="0"/>
              <a:t>    </a:t>
            </a:r>
            <a:r>
              <a:rPr lang="en-US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self</a:t>
            </a:r>
            <a:r>
              <a:rPr lang="en-US" dirty="0" err="1">
                <a:solidFill>
                  <a:schemeClr val="accent3"/>
                </a:solidFill>
              </a:rPr>
              <a:t>.</a:t>
            </a:r>
            <a:r>
              <a:rPr lang="en-US" dirty="0" err="1"/>
              <a:t>value</a:t>
            </a:r>
            <a:r>
              <a:rPr lang="en-US" dirty="0"/>
              <a:t> </a:t>
            </a:r>
            <a:r>
              <a:rPr lang="en-US" dirty="0">
                <a:solidFill>
                  <a:schemeClr val="accent3"/>
                </a:solidFill>
              </a:rPr>
              <a:t>+=</a:t>
            </a:r>
            <a:r>
              <a:rPr lang="en-US" dirty="0"/>
              <a:t> </a:t>
            </a:r>
            <a:r>
              <a:rPr lang="en-US" dirty="0">
                <a:solidFill>
                  <a:schemeClr val="accent4"/>
                </a:solidFill>
              </a:rPr>
              <a:t>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D5A23A-9662-73FA-26E9-8D09089E38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 err="1"/>
              <a:t>Vyper</a:t>
            </a:r>
            <a:endParaRPr lang="en-CH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731F4A06-C5FC-B9B4-BE00-556C9CB0B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EEFEF207-BB3F-794D-350F-1FF6506ABF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81C632-3841-6AE3-E8E8-952B80C045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4678680" cy="4351338"/>
          </a:xfrm>
        </p:spPr>
        <p:txBody>
          <a:bodyPr/>
          <a:lstStyle/>
          <a:p>
            <a:r>
              <a:rPr lang="en-CH" dirty="0"/>
              <a:t>Closely based on Python</a:t>
            </a:r>
          </a:p>
          <a:p>
            <a:r>
              <a:rPr lang="en-CH" dirty="0"/>
              <a:t>Strives to be simple</a:t>
            </a:r>
          </a:p>
          <a:p>
            <a:r>
              <a:rPr lang="en-CH" dirty="0"/>
              <a:t>No low-level control</a:t>
            </a:r>
          </a:p>
          <a:p>
            <a:pPr lvl="1"/>
            <a:r>
              <a:rPr lang="en-CH" dirty="0"/>
              <a:t>e.g. of memory allocations</a:t>
            </a:r>
          </a:p>
          <a:p>
            <a:pPr lvl="1"/>
            <a:r>
              <a:rPr lang="en-CH" dirty="0"/>
              <a:t>large memory footprint</a:t>
            </a:r>
          </a:p>
          <a:p>
            <a:r>
              <a:rPr lang="en-CH" dirty="0"/>
              <a:t>Some opt-in protection mechanisms</a:t>
            </a:r>
          </a:p>
          <a:p>
            <a:endParaRPr lang="en-CH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700617D-25EC-F043-3B29-EA91FE056D59}"/>
              </a:ext>
            </a:extLst>
          </p:cNvPr>
          <p:cNvCxnSpPr>
            <a:cxnSpLocks/>
          </p:cNvCxnSpPr>
          <p:nvPr/>
        </p:nvCxnSpPr>
        <p:spPr>
          <a:xfrm>
            <a:off x="6534016" y="365125"/>
            <a:ext cx="0" cy="583406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407189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350B536-15EB-CDC9-E363-CF086A8FA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D445A5D-994C-DD71-6059-BDAC409E129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200" y="1825625"/>
            <a:ext cx="438016" cy="4351338"/>
          </a:xfrm>
        </p:spPr>
        <p:txBody>
          <a:bodyPr>
            <a:noAutofit/>
          </a:bodyPr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38311F1A-5227-F6DB-7606-9FAB1A963F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</p:txBody>
      </p:sp>
      <p:sp>
        <p:nvSpPr>
          <p:cNvPr id="17" name="Title 16">
            <a:extLst>
              <a:ext uri="{FF2B5EF4-FFF2-40B4-BE49-F238E27FC236}">
                <a16:creationId xmlns:a16="http://schemas.microsoft.com/office/drawing/2014/main" id="{03642A92-A577-25B5-C204-FEE78D9AF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7196E183-CDEB-AA96-871F-8342B3EFF0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B2916C20-EAD8-8801-B753-97DB59AB1F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27" name="Footer Placeholder 26">
            <a:extLst>
              <a:ext uri="{FF2B5EF4-FFF2-40B4-BE49-F238E27FC236}">
                <a16:creationId xmlns:a16="http://schemas.microsoft.com/office/drawing/2014/main" id="{67DAD489-FCF2-5285-ABD9-C2FCD51FB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>
                <a:solidFill>
                  <a:schemeClr val="tx2"/>
                </a:solidFill>
              </a:rPr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A1F90BC2-2486-7C67-402F-D09D58308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45</a:t>
            </a:fld>
            <a:r>
              <a:rPr lang="en-CH"/>
              <a:t> / XX</a:t>
            </a:r>
            <a:endParaRPr lang="en-CH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6AB48C2-D667-A383-F890-60ED45F33E06}"/>
              </a:ext>
            </a:extLst>
          </p:cNvPr>
          <p:cNvCxnSpPr>
            <a:cxnSpLocks/>
          </p:cNvCxnSpPr>
          <p:nvPr/>
        </p:nvCxnSpPr>
        <p:spPr>
          <a:xfrm>
            <a:off x="1276350" y="1825625"/>
            <a:ext cx="21268" cy="435133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229714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CCC1372-F495-5EC4-740B-2C126C2FC3D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r>
              <a:rPr lang="en-CH" dirty="0"/>
              <a:t>18</a:t>
            </a:r>
          </a:p>
          <a:p>
            <a:r>
              <a:rPr lang="en-CH" dirty="0"/>
              <a:t>19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BC5658D-FE08-69A0-8EC6-45B505BC155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  <a:p>
            <a:endParaRPr lang="en-CH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847FC2BC-C8B1-A2FD-2987-048ED4996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5E6B07-0814-1DA8-8A28-2EB5E7E875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E6E24E-9936-DAE5-7DAB-7429B0485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>
                <a:solidFill>
                  <a:schemeClr val="tx2"/>
                </a:solidFill>
              </a:rPr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823819-EC99-8CA7-9D41-7929FFDE7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46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A8967E6-A9D3-9023-6D88-B376528B1C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668B88C-EC9D-096D-B673-1C6E18D103D6}"/>
              </a:ext>
            </a:extLst>
          </p:cNvPr>
          <p:cNvCxnSpPr>
            <a:cxnSpLocks/>
          </p:cNvCxnSpPr>
          <p:nvPr/>
        </p:nvCxnSpPr>
        <p:spPr>
          <a:xfrm>
            <a:off x="6534016" y="365125"/>
            <a:ext cx="21402" cy="583406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278719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6FCE3678-D598-DDA3-9D3A-B7F7A268A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AFCAC067-CC95-3E51-04B8-59F0F43826B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8DB33A7-45E8-155D-7AAA-434D0E797D7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190982A-BE62-4B84-7775-6D12D344153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92647" y="1825625"/>
            <a:ext cx="468527" cy="4351338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endParaRPr lang="en-CH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E3DA6294-FC13-CE89-F983-6CEC7D852F8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761174" y="1825625"/>
            <a:ext cx="4592626" cy="4351338"/>
          </a:xfrm>
        </p:spPr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</p:txBody>
      </p:sp>
      <p:sp>
        <p:nvSpPr>
          <p:cNvPr id="22" name="Date Placeholder 21">
            <a:extLst>
              <a:ext uri="{FF2B5EF4-FFF2-40B4-BE49-F238E27FC236}">
                <a16:creationId xmlns:a16="http://schemas.microsoft.com/office/drawing/2014/main" id="{AB63CEBD-402C-AEFD-5FB7-47B07160D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83EAD083-0D1E-41EE-0229-235558B8B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>
                <a:solidFill>
                  <a:schemeClr val="tx2"/>
                </a:solidFill>
              </a:rPr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B0FEEE78-AF41-0A60-32BB-A452CD410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47</a:t>
            </a:fld>
            <a:r>
              <a:rPr lang="en-CH"/>
              <a:t> / XX</a:t>
            </a:r>
            <a:endParaRPr lang="en-CH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704BEA1-F220-3026-1FBC-16B095228CCD}"/>
              </a:ext>
            </a:extLst>
          </p:cNvPr>
          <p:cNvCxnSpPr>
            <a:cxnSpLocks/>
          </p:cNvCxnSpPr>
          <p:nvPr/>
        </p:nvCxnSpPr>
        <p:spPr>
          <a:xfrm>
            <a:off x="1287459" y="1825625"/>
            <a:ext cx="0" cy="435133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DB949FF-D8C4-6603-E53E-BAB8AC6F5278}"/>
              </a:ext>
            </a:extLst>
          </p:cNvPr>
          <p:cNvCxnSpPr>
            <a:cxnSpLocks/>
          </p:cNvCxnSpPr>
          <p:nvPr/>
        </p:nvCxnSpPr>
        <p:spPr>
          <a:xfrm>
            <a:off x="6750983" y="1825625"/>
            <a:ext cx="0" cy="435133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434097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074BE98-84A9-7DFF-37F6-1B1093669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EB9597F-69A4-FAC5-5038-B13F415FD3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40A1191E-C6DC-30EE-B654-72CC829E074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endParaRPr lang="en-CH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6373646-76A8-FD19-F402-609BEB0DA5E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7EEEE2D-77AC-FF15-F712-26E479381F8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</p:txBody>
      </p:sp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C3B17799-3278-1AE2-C335-16EF57F08FE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376EA8B3-9CEF-2F06-A2EF-86859C05D76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>
                <a:solidFill>
                  <a:schemeClr val="tx2"/>
                </a:solidFill>
              </a:rPr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2915003B-178C-DA2B-6778-E37AB817251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48</a:t>
            </a:fld>
            <a:r>
              <a:rPr lang="en-CH"/>
              <a:t> / XX</a:t>
            </a:r>
            <a:endParaRPr lang="en-CH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17242968-8321-2187-40B0-41B261011E1E}"/>
              </a:ext>
            </a:extLst>
          </p:cNvPr>
          <p:cNvCxnSpPr>
            <a:cxnSpLocks/>
          </p:cNvCxnSpPr>
          <p:nvPr/>
        </p:nvCxnSpPr>
        <p:spPr>
          <a:xfrm>
            <a:off x="1287458" y="1825625"/>
            <a:ext cx="0" cy="435133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6973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hesis Dark">
      <a:dk1>
        <a:srgbClr val="16191F"/>
      </a:dk1>
      <a:lt1>
        <a:srgbClr val="E7E7E7"/>
      </a:lt1>
      <a:dk2>
        <a:srgbClr val="2E323B"/>
      </a:dk2>
      <a:lt2>
        <a:srgbClr val="707070"/>
      </a:lt2>
      <a:accent1>
        <a:srgbClr val="F3608D"/>
      </a:accent1>
      <a:accent2>
        <a:srgbClr val="6ED4E7"/>
      </a:accent2>
      <a:accent3>
        <a:srgbClr val="F58437"/>
      </a:accent3>
      <a:accent4>
        <a:srgbClr val="958BE6"/>
      </a:accent4>
      <a:accent5>
        <a:srgbClr val="F9E45B"/>
      </a:accent5>
      <a:accent6>
        <a:srgbClr val="86D88C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2219</TotalTime>
  <Words>3953</Words>
  <Application>Microsoft Office PowerPoint</Application>
  <PresentationFormat>Widescreen</PresentationFormat>
  <Paragraphs>1232</Paragraphs>
  <Slides>48</Slides>
  <Notes>13</Notes>
  <HiddenSlides>4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4" baseType="lpstr">
      <vt:lpstr>Aptos</vt:lpstr>
      <vt:lpstr>Aptos Display</vt:lpstr>
      <vt:lpstr>Arial</vt:lpstr>
      <vt:lpstr>Calibri</vt:lpstr>
      <vt:lpstr>Lucida Console</vt:lpstr>
      <vt:lpstr>Office Theme</vt:lpstr>
      <vt:lpstr>Taming Reentrancy with Auditable Language Design</vt:lpstr>
      <vt:lpstr>Introduction</vt:lpstr>
      <vt:lpstr>Smart Contract</vt:lpstr>
      <vt:lpstr>Reentrancy</vt:lpstr>
      <vt:lpstr>Reentrancy</vt:lpstr>
      <vt:lpstr>Smart Contract Vulnerabilities</vt:lpstr>
      <vt:lpstr>Smart Contract Development</vt:lpstr>
      <vt:lpstr>Auditability: Side Effects</vt:lpstr>
      <vt:lpstr>Problem Statement</vt:lpstr>
      <vt:lpstr>Reentrancy Protection</vt:lpstr>
      <vt:lpstr>Entry-Point Annotation</vt:lpstr>
      <vt:lpstr>Entry-Point Annotation</vt:lpstr>
      <vt:lpstr>Call Path Specification</vt:lpstr>
      <vt:lpstr>Side Effects</vt:lpstr>
      <vt:lpstr>AAVE Lending Pool</vt:lpstr>
      <vt:lpstr>Curve Tricrypto</vt:lpstr>
      <vt:lpstr>PowerPoint Presentation</vt:lpstr>
      <vt:lpstr>PowerPoint Presentation</vt:lpstr>
      <vt:lpstr>PowerPoint Presentation</vt:lpstr>
      <vt:lpstr>Effects in Calls</vt:lpstr>
      <vt:lpstr>Effects in Calls</vt:lpstr>
      <vt:lpstr>Algebraic Data Types (ADTs)</vt:lpstr>
      <vt:lpstr>Implementation</vt:lpstr>
      <vt:lpstr>Feature Set</vt:lpstr>
      <vt:lpstr>Compiler</vt:lpstr>
      <vt:lpstr>Why Solidity?</vt:lpstr>
      <vt:lpstr>Evaluation</vt:lpstr>
      <vt:lpstr>Evaluation: Reentrancy</vt:lpstr>
      <vt:lpstr>Evaluation: Performance</vt:lpstr>
      <vt:lpstr>Cost of Reentrancy Guards</vt:lpstr>
      <vt:lpstr>Cost of Reentrancy Guards</vt:lpstr>
      <vt:lpstr>Evaluation: Overhead of Effect Annotations</vt:lpstr>
      <vt:lpstr>Evaluation: Overhead</vt:lpstr>
      <vt:lpstr>Curve Tricrypto</vt:lpstr>
      <vt:lpstr>Conclusion</vt:lpstr>
      <vt:lpstr>Future Work</vt:lpstr>
      <vt:lpstr>Taming Reentrancy with Auditable Language Design</vt:lpstr>
      <vt:lpstr>Popsicle Finance   2021-08, $20 million</vt:lpstr>
      <vt:lpstr>Super Sushi Samurai   2024-03, $4.8 million</vt:lpstr>
      <vt:lpstr>Future Work: Language</vt:lpstr>
      <vt:lpstr>Common Vulnerabilities (Count)</vt:lpstr>
      <vt:lpstr>Common Vulnerabilities (Funds Lost, in $M)</vt:lpstr>
      <vt:lpstr>Solidity</vt:lpstr>
      <vt:lpstr>Vyper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Richards  Tynan</dc:creator>
  <cp:lastModifiedBy>Richards  Tynan</cp:lastModifiedBy>
  <cp:revision>1503</cp:revision>
  <dcterms:created xsi:type="dcterms:W3CDTF">2026-03-21T11:27:25Z</dcterms:created>
  <dcterms:modified xsi:type="dcterms:W3CDTF">2026-03-30T13:03:30Z</dcterms:modified>
</cp:coreProperties>
</file>
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rawings/drawing1.xml" ContentType="application/vnd.openxmlformats-officedocument.drawingml.chartshape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8"/>
  </p:notesMasterIdLst>
  <p:sldIdLst>
    <p:sldId id="256" r:id="rId2"/>
    <p:sldId id="257" r:id="rId3"/>
    <p:sldId id="293" r:id="rId4"/>
    <p:sldId id="297" r:id="rId5"/>
    <p:sldId id="296" r:id="rId6"/>
    <p:sldId id="295" r:id="rId7"/>
    <p:sldId id="298" r:id="rId8"/>
    <p:sldId id="272" r:id="rId9"/>
    <p:sldId id="273" r:id="rId10"/>
    <p:sldId id="299" r:id="rId11"/>
    <p:sldId id="276" r:id="rId12"/>
    <p:sldId id="286" r:id="rId13"/>
    <p:sldId id="280" r:id="rId14"/>
    <p:sldId id="279" r:id="rId15"/>
    <p:sldId id="282" r:id="rId16"/>
    <p:sldId id="284" r:id="rId17"/>
    <p:sldId id="263" r:id="rId18"/>
    <p:sldId id="285" r:id="rId19"/>
    <p:sldId id="287" r:id="rId20"/>
    <p:sldId id="288" r:id="rId21"/>
    <p:sldId id="289" r:id="rId22"/>
    <p:sldId id="290" r:id="rId23"/>
    <p:sldId id="291" r:id="rId24"/>
    <p:sldId id="292" r:id="rId25"/>
    <p:sldId id="301" r:id="rId26"/>
    <p:sldId id="308" r:id="rId27"/>
    <p:sldId id="307" r:id="rId28"/>
    <p:sldId id="305" r:id="rId29"/>
    <p:sldId id="310" r:id="rId30"/>
    <p:sldId id="311" r:id="rId31"/>
    <p:sldId id="313" r:id="rId32"/>
    <p:sldId id="300" r:id="rId33"/>
    <p:sldId id="314" r:id="rId34"/>
    <p:sldId id="315" r:id="rId35"/>
    <p:sldId id="316" r:id="rId36"/>
    <p:sldId id="266" r:id="rId37"/>
    <p:sldId id="318" r:id="rId38"/>
    <p:sldId id="267" r:id="rId39"/>
    <p:sldId id="268" r:id="rId40"/>
    <p:sldId id="277" r:id="rId41"/>
    <p:sldId id="269" r:id="rId42"/>
    <p:sldId id="317" r:id="rId43"/>
    <p:sldId id="258" r:id="rId44"/>
    <p:sldId id="274" r:id="rId45"/>
    <p:sldId id="259" r:id="rId46"/>
    <p:sldId id="260" r:id="rId47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D98EED9-A4B4-4F1D-B74F-B7C08A6C0F4F}">
          <p14:sldIdLst>
            <p14:sldId id="256"/>
          </p14:sldIdLst>
        </p14:section>
        <p14:section name="Introduction &amp; Motivation" id="{3A0920A3-7089-4D36-ACD9-7D36A88FA363}">
          <p14:sldIdLst>
            <p14:sldId id="257"/>
            <p14:sldId id="293"/>
          </p14:sldIdLst>
        </p14:section>
        <p14:section name="Background &amp; Related Work" id="{155D24CD-1F67-4B2A-8BBA-6043068973F2}">
          <p14:sldIdLst>
            <p14:sldId id="297"/>
            <p14:sldId id="296"/>
            <p14:sldId id="295"/>
            <p14:sldId id="298"/>
            <p14:sldId id="272"/>
            <p14:sldId id="273"/>
            <p14:sldId id="299"/>
            <p14:sldId id="276"/>
            <p14:sldId id="286"/>
            <p14:sldId id="280"/>
            <p14:sldId id="279"/>
            <p14:sldId id="282"/>
            <p14:sldId id="284"/>
          </p14:sldIdLst>
        </p14:section>
        <p14:section name="Problem Statement" id="{D007D5E9-0273-4A98-8D76-718A668981DA}">
          <p14:sldIdLst>
            <p14:sldId id="263"/>
            <p14:sldId id="285"/>
            <p14:sldId id="287"/>
            <p14:sldId id="288"/>
            <p14:sldId id="289"/>
            <p14:sldId id="290"/>
            <p14:sldId id="291"/>
            <p14:sldId id="292"/>
            <p14:sldId id="301"/>
            <p14:sldId id="308"/>
            <p14:sldId id="307"/>
            <p14:sldId id="305"/>
            <p14:sldId id="310"/>
            <p14:sldId id="311"/>
            <p14:sldId id="313"/>
            <p14:sldId id="300"/>
          </p14:sldIdLst>
        </p14:section>
        <p14:section name="Implementation" id="{7E93AC4F-DCBE-4D35-B88C-49CC76E39595}">
          <p14:sldIdLst>
            <p14:sldId id="314"/>
            <p14:sldId id="315"/>
            <p14:sldId id="316"/>
          </p14:sldIdLst>
        </p14:section>
        <p14:section name="Evaluation &amp; Results" id="{8219F86C-B3AF-4EAA-830F-8DFAE481BD8F}">
          <p14:sldIdLst>
            <p14:sldId id="266"/>
            <p14:sldId id="318"/>
          </p14:sldIdLst>
        </p14:section>
        <p14:section name="Conclusion &amp; Future Work" id="{803E403D-1B92-466A-BE97-26C9AB7892A5}">
          <p14:sldIdLst>
            <p14:sldId id="267"/>
          </p14:sldIdLst>
        </p14:section>
        <p14:section name="Q&amp;A" id="{4132604F-A5FF-4E6F-A51C-CD14EC1306E2}">
          <p14:sldIdLst>
            <p14:sldId id="268"/>
          </p14:sldIdLst>
        </p14:section>
        <p14:section name="Backup / Extra Examples" id="{274778F2-46BC-4298-9911-D5D9332C2A83}">
          <p14:sldIdLst>
            <p14:sldId id="277"/>
            <p14:sldId id="269"/>
            <p14:sldId id="317"/>
          </p14:sldIdLst>
        </p14:section>
        <p14:section name="Templates" id="{7D75C5C1-E226-422F-BC2D-7889BBB961BB}">
          <p14:sldIdLst>
            <p14:sldId id="258"/>
            <p14:sldId id="274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59" autoAdjust="0"/>
    <p:restoredTop sz="94660"/>
  </p:normalViewPr>
  <p:slideViewPr>
    <p:cSldViewPr snapToGrid="0">
      <p:cViewPr>
        <p:scale>
          <a:sx n="100" d="100"/>
          <a:sy n="100" d="100"/>
        </p:scale>
        <p:origin x="494" y="4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chartUserShapes" Target="../drawings/drawing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CH" dirty="0"/>
              <a:t>Common</a:t>
            </a:r>
            <a:r>
              <a:rPr lang="en-CH" baseline="0" dirty="0"/>
              <a:t> Exploit Mechanisms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6312431054813802E-2"/>
          <c:y val="0.12852230739142764"/>
          <c:w val="0.68317861082582065"/>
          <c:h val="0.7879950948420922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Logic Flaw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</c:v>
                </c:pt>
                <c:pt idx="1">
                  <c:v>26</c:v>
                </c:pt>
                <c:pt idx="2">
                  <c:v>75</c:v>
                </c:pt>
                <c:pt idx="3">
                  <c:v>56</c:v>
                </c:pt>
                <c:pt idx="4">
                  <c:v>174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14-4D0D-A8EE-972C953D966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</c:v>
                </c:pt>
                <c:pt idx="1">
                  <c:v>25</c:v>
                </c:pt>
                <c:pt idx="2">
                  <c:v>38</c:v>
                </c:pt>
                <c:pt idx="3">
                  <c:v>28</c:v>
                </c:pt>
                <c:pt idx="4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14-4D0D-A8EE-972C953D966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</c:v>
                </c:pt>
                <c:pt idx="1">
                  <c:v>17</c:v>
                </c:pt>
                <c:pt idx="2">
                  <c:v>19</c:v>
                </c:pt>
                <c:pt idx="3">
                  <c:v>34</c:v>
                </c:pt>
                <c:pt idx="4">
                  <c:v>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114-4D0D-A8EE-972C953D966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</c:v>
                </c:pt>
                <c:pt idx="1">
                  <c:v>15</c:v>
                </c:pt>
                <c:pt idx="2">
                  <c:v>19</c:v>
                </c:pt>
                <c:pt idx="3">
                  <c:v>15</c:v>
                </c:pt>
                <c:pt idx="4">
                  <c:v>60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114-4D0D-A8EE-972C953D966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</c:v>
                </c:pt>
                <c:pt idx="1">
                  <c:v>9</c:v>
                </c:pt>
                <c:pt idx="2">
                  <c:v>8</c:v>
                </c:pt>
                <c:pt idx="3">
                  <c:v>19</c:v>
                </c:pt>
                <c:pt idx="4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114-4D0D-A8EE-972C953D966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Call Injection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8114-4D0D-A8EE-972C953D966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Precision Loss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</c:v>
                </c:pt>
                <c:pt idx="3">
                  <c:v>9</c:v>
                </c:pt>
                <c:pt idx="4">
                  <c:v>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8114-4D0D-A8EE-972C953D966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1</c:v>
                </c:pt>
                <c:pt idx="1">
                  <c:v>0</c:v>
                </c:pt>
                <c:pt idx="2">
                  <c:v>9</c:v>
                </c:pt>
                <c:pt idx="3">
                  <c:v>0</c:v>
                </c:pt>
                <c:pt idx="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8114-4D0D-A8EE-972C953D966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Overflow</c:v>
                </c:pt>
              </c:strCache>
            </c:strRef>
          </c:tx>
          <c:spPr>
            <a:solidFill>
              <a:schemeClr val="accent3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2</c:v>
                </c:pt>
                <c:pt idx="2">
                  <c:v>1</c:v>
                </c:pt>
                <c:pt idx="3">
                  <c:v>3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8114-4D0D-A8EE-972C953D9669}"/>
            </c:ext>
          </c:extLst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accent4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</c:strCache>
            </c:strRef>
          </c:cat>
          <c:val>
            <c:numRef>
              <c:f>Sheet1!$K$2:$K$6</c:f>
              <c:numCache>
                <c:formatCode>General</c:formatCode>
                <c:ptCount val="5"/>
                <c:pt idx="0">
                  <c:v>0</c:v>
                </c:pt>
                <c:pt idx="1">
                  <c:v>4</c:v>
                </c:pt>
                <c:pt idx="2">
                  <c:v>8</c:v>
                </c:pt>
                <c:pt idx="3">
                  <c:v>7</c:v>
                </c:pt>
                <c:pt idx="4">
                  <c:v>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8114-4D0D-A8EE-972C953D96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76808056601620456"/>
          <c:y val="0.13092501662706962"/>
          <c:w val="0.2319194339837955"/>
          <c:h val="0.7869786258847278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just">
            <a:defRPr sz="2000" b="0" i="0" u="none" strike="noStrike" kern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  <c:userShapes r:id="rId4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0.70622</cdr:x>
      <cdr:y>0.14155</cdr:y>
    </cdr:from>
    <cdr:to>
      <cdr:x>0.78399</cdr:x>
      <cdr:y>0.16971</cdr:y>
    </cdr:to>
    <cdr:cxnSp macro="">
      <cdr:nvCxnSpPr>
        <cdr:cNvPr id="29" name="Straight Connector 28">
          <a:extLst xmlns:a="http://schemas.openxmlformats.org/drawingml/2006/main">
            <a:ext uri="{FF2B5EF4-FFF2-40B4-BE49-F238E27FC236}">
              <a16:creationId xmlns:a16="http://schemas.microsoft.com/office/drawing/2014/main" id="{FA86A381-7740-346A-433D-6DD445412B50}"/>
            </a:ext>
          </a:extLst>
        </cdr:cNvPr>
        <cdr:cNvCxnSpPr/>
      </cdr:nvCxnSpPr>
      <cdr:spPr>
        <a:xfrm xmlns:a="http://schemas.openxmlformats.org/drawingml/2006/main">
          <a:off x="7625500" y="615917"/>
          <a:ext cx="839771" cy="122550"/>
        </a:xfrm>
        <a:prstGeom xmlns:a="http://schemas.openxmlformats.org/drawingml/2006/main" prst="line">
          <a:avLst/>
        </a:prstGeom>
        <a:ln xmlns:a="http://schemas.openxmlformats.org/drawingml/2006/main">
          <a:solidFill>
            <a:schemeClr val="accent4">
              <a:lumMod val="50000"/>
            </a:schemeClr>
          </a:solidFill>
        </a:ln>
      </cdr:spPr>
      <cdr:style>
        <a:lnRef xmlns:a="http://schemas.openxmlformats.org/drawingml/2006/main" idx="2">
          <a:schemeClr val="accent4"/>
        </a:lnRef>
        <a:fillRef xmlns:a="http://schemas.openxmlformats.org/drawingml/2006/main" idx="0">
          <a:schemeClr val="accent4"/>
        </a:fillRef>
        <a:effectRef xmlns:a="http://schemas.openxmlformats.org/drawingml/2006/main" idx="1">
          <a:schemeClr val="accent4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0.7036</cdr:x>
      <cdr:y>0.75897</cdr:y>
    </cdr:from>
    <cdr:to>
      <cdr:x>0.78487</cdr:x>
      <cdr:y>0.88029</cdr:y>
    </cdr:to>
    <cdr:cxnSp macro="">
      <cdr:nvCxnSpPr>
        <cdr:cNvPr id="3" name="Straight Connector 2">
          <a:extLst xmlns:a="http://schemas.openxmlformats.org/drawingml/2006/main">
            <a:ext uri="{FF2B5EF4-FFF2-40B4-BE49-F238E27FC236}">
              <a16:creationId xmlns:a16="http://schemas.microsoft.com/office/drawing/2014/main" id="{4BABB67D-12E2-3AEB-F98B-56A40E4E6524}"/>
            </a:ext>
          </a:extLst>
        </cdr:cNvPr>
        <cdr:cNvCxnSpPr/>
      </cdr:nvCxnSpPr>
      <cdr:spPr>
        <a:xfrm xmlns:a="http://schemas.openxmlformats.org/drawingml/2006/main" flipH="1" flipV="1">
          <a:off x="7597219" y="3302556"/>
          <a:ext cx="877478" cy="527901"/>
        </a:xfrm>
        <a:prstGeom xmlns:a="http://schemas.openxmlformats.org/drawingml/2006/main" prst="line">
          <a:avLst/>
        </a:prstGeom>
      </cdr:spPr>
      <cdr:style>
        <a:lnRef xmlns:a="http://schemas.openxmlformats.org/drawingml/2006/main" idx="2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1">
          <a:schemeClr val="accent1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0.7036</cdr:x>
      <cdr:y>0.5705</cdr:y>
    </cdr:from>
    <cdr:to>
      <cdr:x>0.78312</cdr:x>
      <cdr:y>0.79797</cdr:y>
    </cdr:to>
    <cdr:cxnSp macro="">
      <cdr:nvCxnSpPr>
        <cdr:cNvPr id="5" name="Straight Connector 4">
          <a:extLst xmlns:a="http://schemas.openxmlformats.org/drawingml/2006/main">
            <a:ext uri="{FF2B5EF4-FFF2-40B4-BE49-F238E27FC236}">
              <a16:creationId xmlns:a16="http://schemas.microsoft.com/office/drawing/2014/main" id="{3A7B1661-DCC7-C9CF-8462-103D15132469}"/>
            </a:ext>
          </a:extLst>
        </cdr:cNvPr>
        <cdr:cNvCxnSpPr/>
      </cdr:nvCxnSpPr>
      <cdr:spPr>
        <a:xfrm xmlns:a="http://schemas.openxmlformats.org/drawingml/2006/main" flipH="1" flipV="1">
          <a:off x="7597219" y="2482424"/>
          <a:ext cx="858625" cy="989815"/>
        </a:xfrm>
        <a:prstGeom xmlns:a="http://schemas.openxmlformats.org/drawingml/2006/main" prst="line">
          <a:avLst/>
        </a:prstGeom>
      </cdr:spPr>
      <cdr:style>
        <a:lnRef xmlns:a="http://schemas.openxmlformats.org/drawingml/2006/main" idx="2">
          <a:schemeClr val="accent2"/>
        </a:lnRef>
        <a:fillRef xmlns:a="http://schemas.openxmlformats.org/drawingml/2006/main" idx="0">
          <a:schemeClr val="accent2"/>
        </a:fillRef>
        <a:effectRef xmlns:a="http://schemas.openxmlformats.org/drawingml/2006/main" idx="1">
          <a:schemeClr val="accent2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0.7036</cdr:x>
      <cdr:y>0.43835</cdr:y>
    </cdr:from>
    <cdr:to>
      <cdr:x>0.78138</cdr:x>
      <cdr:y>0.71998</cdr:y>
    </cdr:to>
    <cdr:cxnSp macro="">
      <cdr:nvCxnSpPr>
        <cdr:cNvPr id="7" name="Straight Connector 6">
          <a:extLst xmlns:a="http://schemas.openxmlformats.org/drawingml/2006/main">
            <a:ext uri="{FF2B5EF4-FFF2-40B4-BE49-F238E27FC236}">
              <a16:creationId xmlns:a16="http://schemas.microsoft.com/office/drawing/2014/main" id="{CACB513A-484F-B314-A952-5AB194CBEEAD}"/>
            </a:ext>
          </a:extLst>
        </cdr:cNvPr>
        <cdr:cNvCxnSpPr/>
      </cdr:nvCxnSpPr>
      <cdr:spPr>
        <a:xfrm xmlns:a="http://schemas.openxmlformats.org/drawingml/2006/main" flipH="1" flipV="1">
          <a:off x="7597219" y="1907389"/>
          <a:ext cx="839771" cy="1225485"/>
        </a:xfrm>
        <a:prstGeom xmlns:a="http://schemas.openxmlformats.org/drawingml/2006/main" prst="line">
          <a:avLst/>
        </a:prstGeom>
      </cdr:spPr>
      <cdr:style>
        <a:lnRef xmlns:a="http://schemas.openxmlformats.org/drawingml/2006/main" idx="2">
          <a:schemeClr val="accent3"/>
        </a:lnRef>
        <a:fillRef xmlns:a="http://schemas.openxmlformats.org/drawingml/2006/main" idx="0">
          <a:schemeClr val="accent3"/>
        </a:fillRef>
        <a:effectRef xmlns:a="http://schemas.openxmlformats.org/drawingml/2006/main" idx="1">
          <a:schemeClr val="accent3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0.7036</cdr:x>
      <cdr:y>0.34086</cdr:y>
    </cdr:from>
    <cdr:to>
      <cdr:x>0.78138</cdr:x>
      <cdr:y>0.63982</cdr:y>
    </cdr:to>
    <cdr:cxnSp macro="">
      <cdr:nvCxnSpPr>
        <cdr:cNvPr id="10" name="Straight Connector 9">
          <a:extLst xmlns:a="http://schemas.openxmlformats.org/drawingml/2006/main">
            <a:ext uri="{FF2B5EF4-FFF2-40B4-BE49-F238E27FC236}">
              <a16:creationId xmlns:a16="http://schemas.microsoft.com/office/drawing/2014/main" id="{BE3C0216-CEE6-229F-B9FF-A0F69DCFC0CA}"/>
            </a:ext>
          </a:extLst>
        </cdr:cNvPr>
        <cdr:cNvCxnSpPr/>
      </cdr:nvCxnSpPr>
      <cdr:spPr>
        <a:xfrm xmlns:a="http://schemas.openxmlformats.org/drawingml/2006/main" flipH="1" flipV="1">
          <a:off x="7597219" y="1483183"/>
          <a:ext cx="839771" cy="1300899"/>
        </a:xfrm>
        <a:prstGeom xmlns:a="http://schemas.openxmlformats.org/drawingml/2006/main" prst="line">
          <a:avLst/>
        </a:prstGeom>
      </cdr:spPr>
      <cdr:style>
        <a:lnRef xmlns:a="http://schemas.openxmlformats.org/drawingml/2006/main" idx="2">
          <a:schemeClr val="accent4"/>
        </a:lnRef>
        <a:fillRef xmlns:a="http://schemas.openxmlformats.org/drawingml/2006/main" idx="0">
          <a:schemeClr val="accent4"/>
        </a:fillRef>
        <a:effectRef xmlns:a="http://schemas.openxmlformats.org/drawingml/2006/main" idx="1">
          <a:schemeClr val="accent4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0.7036</cdr:x>
      <cdr:y>0.26503</cdr:y>
    </cdr:from>
    <cdr:to>
      <cdr:x>0.78312</cdr:x>
      <cdr:y>0.56833</cdr:y>
    </cdr:to>
    <cdr:cxnSp macro="">
      <cdr:nvCxnSpPr>
        <cdr:cNvPr id="12" name="Straight Connector 11">
          <a:extLst xmlns:a="http://schemas.openxmlformats.org/drawingml/2006/main">
            <a:ext uri="{FF2B5EF4-FFF2-40B4-BE49-F238E27FC236}">
              <a16:creationId xmlns:a16="http://schemas.microsoft.com/office/drawing/2014/main" id="{902E92E2-E259-0EE3-6645-64B4F37D74AC}"/>
            </a:ext>
          </a:extLst>
        </cdr:cNvPr>
        <cdr:cNvCxnSpPr/>
      </cdr:nvCxnSpPr>
      <cdr:spPr>
        <a:xfrm xmlns:a="http://schemas.openxmlformats.org/drawingml/2006/main" flipH="1" flipV="1">
          <a:off x="7597219" y="1153245"/>
          <a:ext cx="858625" cy="1319753"/>
        </a:xfrm>
        <a:prstGeom xmlns:a="http://schemas.openxmlformats.org/drawingml/2006/main" prst="line">
          <a:avLst/>
        </a:prstGeom>
      </cdr:spPr>
      <cdr:style>
        <a:lnRef xmlns:a="http://schemas.openxmlformats.org/drawingml/2006/main" idx="2">
          <a:schemeClr val="accent5"/>
        </a:lnRef>
        <a:fillRef xmlns:a="http://schemas.openxmlformats.org/drawingml/2006/main" idx="0">
          <a:schemeClr val="accent5"/>
        </a:fillRef>
        <a:effectRef xmlns:a="http://schemas.openxmlformats.org/drawingml/2006/main" idx="1">
          <a:schemeClr val="accent5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0.7036</cdr:x>
      <cdr:y>0.21954</cdr:y>
    </cdr:from>
    <cdr:to>
      <cdr:x>0.78312</cdr:x>
      <cdr:y>0.4865</cdr:y>
    </cdr:to>
    <cdr:cxnSp macro="">
      <cdr:nvCxnSpPr>
        <cdr:cNvPr id="14" name="Straight Connector 13">
          <a:extLst xmlns:a="http://schemas.openxmlformats.org/drawingml/2006/main">
            <a:ext uri="{FF2B5EF4-FFF2-40B4-BE49-F238E27FC236}">
              <a16:creationId xmlns:a16="http://schemas.microsoft.com/office/drawing/2014/main" id="{892CDFEC-EAF6-E88F-42E6-113F4156F4FF}"/>
            </a:ext>
          </a:extLst>
        </cdr:cNvPr>
        <cdr:cNvCxnSpPr/>
      </cdr:nvCxnSpPr>
      <cdr:spPr>
        <a:xfrm xmlns:a="http://schemas.openxmlformats.org/drawingml/2006/main" flipH="1" flipV="1">
          <a:off x="7597219" y="955282"/>
          <a:ext cx="858625" cy="1161663"/>
        </a:xfrm>
        <a:prstGeom xmlns:a="http://schemas.openxmlformats.org/drawingml/2006/main" prst="line">
          <a:avLst/>
        </a:prstGeom>
      </cdr:spPr>
      <cdr:style>
        <a:lnRef xmlns:a="http://schemas.openxmlformats.org/drawingml/2006/main" idx="2">
          <a:schemeClr val="accent6"/>
        </a:lnRef>
        <a:fillRef xmlns:a="http://schemas.openxmlformats.org/drawingml/2006/main" idx="0">
          <a:schemeClr val="accent6"/>
        </a:fillRef>
        <a:effectRef xmlns:a="http://schemas.openxmlformats.org/drawingml/2006/main" idx="1">
          <a:schemeClr val="accent6"/>
        </a:effectRef>
        <a:fontRef xmlns:a="http://schemas.openxmlformats.org/drawingml/2006/main" idx="minor">
          <a:schemeClr val="tx1"/>
        </a:fontRef>
      </cdr:style>
    </cdr:cxn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478CE3-0542-442B-AF7E-6DC0ED069798}" type="datetimeFigureOut">
              <a:rPr lang="en-CH" smtClean="0"/>
              <a:t>24/03/2026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26BFD-26FA-41FF-A418-AE5D5C01BD9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657382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mention that there are actual cases where order is not left to right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24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483058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C10EE-955B-04AF-69AE-2C5CBDF4A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47B284-DEDD-C7A1-F677-3C323FC4E6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198D6C-2E65-AD26-CB39-4FF49B5F4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82D3CE-F954-A4FA-D605-E621A4216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EA812F-8EA3-4D23-A7DF-03B878F90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997956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F5BFB-9507-B6A3-5746-77FAFF983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B0633-D3BD-33D1-8738-6D311DDD8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6E26CD-EA3F-22FC-A55E-6A29ED5E7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E4B6B3-33B9-25B9-B3F6-78E57AC7C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BEA4AF-F215-D65C-D2D0-4149398B2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02739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44787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365125"/>
            <a:ext cx="438016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19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55418" y="365125"/>
            <a:ext cx="4798381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36398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5236398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23763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de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B430C50-0CEF-F0E7-8E9D-2ED5CBA2BB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B2A326E5-C8E5-5B4F-170A-369F80F3BB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9" y="1825625"/>
            <a:ext cx="460173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E7CDDD39-E193-8FAF-4873-57128487B2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92647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21" name="Text Placeholder 16">
            <a:extLst>
              <a:ext uri="{FF2B5EF4-FFF2-40B4-BE49-F238E27FC236}">
                <a16:creationId xmlns:a16="http://schemas.microsoft.com/office/drawing/2014/main" id="{0B96D1A9-59BE-6499-F40D-8C8BCAEE7E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52066" y="1825625"/>
            <a:ext cx="459262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</p:spTree>
    <p:extLst>
      <p:ext uri="{BB962C8B-B14F-4D97-AF65-F5344CB8AC3E}">
        <p14:creationId xmlns:p14="http://schemas.microsoft.com/office/powerpoint/2010/main" val="4007544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CA4E993B-59E9-39A7-1375-00EAACC700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Text Placeholder 16">
            <a:extLst>
              <a:ext uri="{FF2B5EF4-FFF2-40B4-BE49-F238E27FC236}">
                <a16:creationId xmlns:a16="http://schemas.microsoft.com/office/drawing/2014/main" id="{F880A9CE-0042-04E4-D124-238A7185F1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A5F3F2E-14C6-586F-9779-032F40027F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10844" y="2694909"/>
            <a:ext cx="4228111" cy="2612769"/>
          </a:xfrm>
          <a:solidFill>
            <a:schemeClr val="bg2"/>
          </a:solidFill>
          <a:ln w="38100">
            <a:solidFill>
              <a:schemeClr val="tx2"/>
            </a:solidFill>
          </a:ln>
          <a:effectLst>
            <a:outerShdw blurRad="127000" dist="127000" dir="2700000" algn="tl" rotWithShape="0">
              <a:schemeClr val="bg1">
                <a:alpha val="75000"/>
              </a:schemeClr>
            </a:outerShdw>
          </a:effectLst>
        </p:spPr>
        <p:txBody>
          <a:bodyPr wrap="non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F8A2BFFD-3002-E2ED-D085-F5BCBD00D54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BB6B5A23-37DC-63DC-60BD-21C1E23891D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9097510C-3AC9-121F-47B0-18D2B0EBBB3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369606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ECC50-C9F0-6580-D9EB-E3E8A8E2C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3AB04-23D0-8CC6-F784-28F661DDEE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91C745-6BB9-2E88-7EFF-11C0DF2AC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9EF702-631B-3EB7-F073-CAD703858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ACD1-2B14-9C0F-718A-C61FB92EE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81521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79E8C-2513-A64C-42E8-95D1492DE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59869-6146-DA1C-CD9E-DE8FB950D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1B0F6-938C-68CA-111C-EE3B59D40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893D23-F675-8E4E-88B3-F5B0FE123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12AAD7-4BDC-D902-DC80-8FCA27B2E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29F38A-FB1A-79E3-AC9F-4A9B2CF15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63604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0C32A-9B1E-490F-18D0-54448E6B8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685BA0-D117-2492-BE56-4EFA823C7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C4E63-C515-1E35-DA8F-37B27A6E1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19DF89-89EB-4F85-6891-8008AF807C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B27893-B9FB-7D74-1694-FA8C1C573E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9CABEE-40B5-9B08-883E-C649FED2D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173C72-3ACF-1CC6-82DC-3A1A60780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CDB9B0-FEC8-16BD-9E2D-E98FD258C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642152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32DE4-D26F-7309-3E72-B7FF4AE6D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0972BD-83A2-E254-6E6E-7E712DFC4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FC5C14-F8A8-982D-0E31-41BFD8DAE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16BAA3-4C7A-76AF-A49F-7361103BC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864896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AE86DC-A25C-6630-A69E-3B888031B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A8AB3-0FD1-3F19-79A7-A50132B24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57896-73F1-A2A4-A208-0B12A01B0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10114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258EE-0ED4-0B80-ACD6-668A6E0E7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88DE2-4455-AF57-269A-AF1954344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48DF25-F96C-722A-111F-295496926C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4CD471-630D-B96C-5F86-2D6A4B09E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69589-EF5E-773A-F859-50EF2115D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E030B6-C8CB-F266-2565-3482BD3F7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1600560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7202B-8314-CC47-028A-B7E6D5801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2037BF-4B10-3289-13E1-1F11193935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FEE7CF-9523-7B45-15F5-CB69D5FC73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C053A-616F-8E94-94E7-43887EAB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3EC473-B889-114B-555C-83C06D203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2F2931-069C-EE45-51E6-9972C2BEB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442031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E594B-0953-2F9B-6468-CF5E07FBD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DBB52-E4A9-B9B8-C153-53157BA5E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AF4A-B667-8098-892F-67F206E13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5C4C00-39BB-B071-BF58-90514816E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7E722-60CE-2C3E-2D31-FC5A81C63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990808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3EA721-914B-C3BD-C5F8-6287B7E606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97ED28-C735-89C7-EE75-C26432039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CA67B6-99E1-AD5D-D86D-A18C331C0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4EC1CB-66F4-5C4C-4EF0-56D6EFD85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9BECED-8C17-DEFC-153F-FD6E6901F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00413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6B6291-F75D-EA52-E49C-138C6F18B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B967E-B845-2A6E-8DFF-9D17FFC34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31623-A0A0-2A8B-E467-88692E37F2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6B48C-DFA7-BDBA-11DA-7A8D38C6A0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443-C510-02CD-B968-B4DC785236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XX</a:t>
            </a:r>
          </a:p>
        </p:txBody>
      </p:sp>
    </p:spTree>
    <p:extLst>
      <p:ext uri="{BB962C8B-B14F-4D97-AF65-F5344CB8AC3E}">
        <p14:creationId xmlns:p14="http://schemas.microsoft.com/office/powerpoint/2010/main" val="17231325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63" r:id="rId4"/>
    <p:sldLayoutId id="2147483661" r:id="rId5"/>
    <p:sldLayoutId id="2147483662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44D3C-CF3D-0DDE-623D-8BE30C417A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H" dirty="0"/>
              <a:t>Title Slide</a:t>
            </a:r>
          </a:p>
        </p:txBody>
      </p:sp>
      <p:sp>
        <p:nvSpPr>
          <p:cNvPr id="18" name="Subtitle 17">
            <a:extLst>
              <a:ext uri="{FF2B5EF4-FFF2-40B4-BE49-F238E27FC236}">
                <a16:creationId xmlns:a16="http://schemas.microsoft.com/office/drawing/2014/main" id="{79441BCA-E9CB-052F-68C9-22AAF8E2A8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560411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EBE25-5A1F-5934-56E8-022A66EB1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CH" dirty="0"/>
              <a:t>Introduction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FFF46-3CC9-1AEA-1B77-04F0A271A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CH" dirty="0"/>
              <a:t>What is the specific application domain?</a:t>
            </a:r>
          </a:p>
          <a:p>
            <a:r>
              <a:rPr lang="en-CH" dirty="0"/>
              <a:t>Why is this area important?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94757EB3-271C-D2F4-1A9F-0E8BEA8AA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57B1F397-42E5-CA4D-236E-DF8AA2836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C01E229F-413A-6EB7-41E5-1AA8675AC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27614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ECA16-4101-C92B-9557-B44E9353F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A7871-6C32-901F-8087-340023C2D7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33A22-3C21-4878-0B96-C0DBAC38C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CAF1A-AD0E-DD62-3DCE-49BC16B7C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38F58-B1EA-B09A-C722-FDEA780C9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889002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C857-CDA9-64C7-79DB-EA10941A2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Ethereum Blockchain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28CBA-D102-52C9-EA2E-465731447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The “blockchain” is not relevant for us</a:t>
            </a:r>
          </a:p>
          <a:p>
            <a:pPr lvl="1"/>
            <a:r>
              <a:rPr lang="en-CH" dirty="0"/>
              <a:t>only its state</a:t>
            </a:r>
          </a:p>
          <a:p>
            <a:r>
              <a:rPr lang="en-CH" dirty="0"/>
              <a:t>Address: 20-byte unique identifier</a:t>
            </a:r>
          </a:p>
          <a:p>
            <a:r>
              <a:rPr lang="en-CH" dirty="0"/>
              <a:t>“State”: hash map Address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/>
              <a:t> Account</a:t>
            </a:r>
          </a:p>
          <a:p>
            <a:r>
              <a:rPr lang="en-CH" dirty="0"/>
              <a:t>“Account”:</a:t>
            </a:r>
          </a:p>
          <a:p>
            <a:pPr lvl="1"/>
            <a:r>
              <a:rPr lang="en-CH" dirty="0"/>
              <a:t>EOA: </a:t>
            </a:r>
            <a:r>
              <a:rPr lang="en-CH" b="1" dirty="0"/>
              <a:t>E</a:t>
            </a:r>
            <a:r>
              <a:rPr lang="en-CH" dirty="0"/>
              <a:t>xternally </a:t>
            </a:r>
            <a:r>
              <a:rPr lang="en-CH" b="1" dirty="0"/>
              <a:t>O</a:t>
            </a:r>
            <a:r>
              <a:rPr lang="en-CH" dirty="0"/>
              <a:t>wned </a:t>
            </a:r>
            <a:r>
              <a:rPr lang="en-CH" b="1" dirty="0"/>
              <a:t>A</a:t>
            </a:r>
            <a:r>
              <a:rPr lang="en-CH" dirty="0"/>
              <a:t>ccount, may initiate transactions</a:t>
            </a:r>
          </a:p>
          <a:p>
            <a:pPr lvl="1"/>
            <a:r>
              <a:rPr lang="en-CH" dirty="0"/>
              <a:t>Smart Contract: Program, may be executed by transactions</a:t>
            </a:r>
          </a:p>
          <a:p>
            <a:pPr lvl="2">
              <a:buFont typeface="Calibri" panose="020F0502020204030204" pitchFamily="34" charset="0"/>
              <a:buChar char="→"/>
            </a:pPr>
            <a:r>
              <a:rPr lang="en-CH" dirty="0"/>
              <a:t> Will be the sole focus of this talk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BEFDA2-C952-004D-FAFE-307454641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6B1172-6D66-CD2F-9DDC-F792CEFD1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37F1F5-284C-2853-441B-F9A13A1FF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926520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F9A32-A8EA-9746-7C0E-86807228B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Smart Contract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4A6EB-51BF-8ADC-967E-230DF8EAF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A “program” that runs on the blockchain</a:t>
            </a:r>
          </a:p>
          <a:p>
            <a:r>
              <a:rPr lang="en-CH" dirty="0"/>
              <a:t>Consists of:</a:t>
            </a:r>
          </a:p>
          <a:p>
            <a:pPr lvl="1"/>
            <a:r>
              <a:rPr lang="en-CH" dirty="0"/>
              <a:t>Address (20-byte unique identifier)</a:t>
            </a:r>
          </a:p>
          <a:p>
            <a:pPr lvl="1"/>
            <a:r>
              <a:rPr lang="en-CH" dirty="0"/>
              <a:t>Balance (of the native ETH currency)</a:t>
            </a:r>
          </a:p>
          <a:p>
            <a:pPr lvl="1"/>
            <a:r>
              <a:rPr lang="en-CH" dirty="0"/>
              <a:t>Bytecode (max. 24’576 bytes)</a:t>
            </a:r>
          </a:p>
          <a:p>
            <a:pPr lvl="1"/>
            <a:r>
              <a:rPr lang="en-CH" dirty="0"/>
              <a:t>Storage (uint256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/>
              <a:t> uint256 hash map)</a:t>
            </a:r>
          </a:p>
          <a:p>
            <a:endParaRPr lang="en-CH" dirty="0"/>
          </a:p>
          <a:p>
            <a:r>
              <a:rPr lang="en-CH" dirty="0"/>
              <a:t>Executed by the Ethereum Virtual Machine</a:t>
            </a:r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A632C9-2054-2726-9B90-8F6B59A2D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844DF-6BF6-B034-AB0D-BBFC998F1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E860A5-75AF-C811-25F7-D9545A9B9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209353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71A3E-358C-6291-7383-0B02A9DF4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EVM   </a:t>
            </a:r>
            <a:r>
              <a:rPr lang="en-CH" sz="2800" dirty="0"/>
              <a:t>Ethereum Virtual Machine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E64CCF-B0F5-C015-96EB-374FD81BD5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H" dirty="0"/>
              <a:t>Custom stack-based instruction set</a:t>
            </a:r>
          </a:p>
          <a:p>
            <a:pPr lvl="1"/>
            <a:r>
              <a:rPr lang="en-CH" dirty="0"/>
              <a:t>many EVM-specific intrinsics (</a:t>
            </a:r>
            <a:r>
              <a:rPr lang="en-CH" dirty="0">
                <a:latin typeface="Lucida Console" panose="020B0609040504020204" pitchFamily="49" charset="0"/>
              </a:rPr>
              <a:t>CALL</a:t>
            </a:r>
            <a:r>
              <a:rPr lang="en-CH" dirty="0"/>
              <a:t>, </a:t>
            </a:r>
            <a:r>
              <a:rPr lang="en-CH" dirty="0">
                <a:latin typeface="Lucida Console" panose="020B0609040504020204" pitchFamily="49" charset="0"/>
              </a:rPr>
              <a:t>REVERT</a:t>
            </a:r>
            <a:r>
              <a:rPr lang="en-CH" dirty="0"/>
              <a:t>, etc.)</a:t>
            </a:r>
          </a:p>
          <a:p>
            <a:pPr lvl="1"/>
            <a:r>
              <a:rPr lang="en-CH" dirty="0"/>
              <a:t>Native “word size” is 32 bytes</a:t>
            </a:r>
          </a:p>
          <a:p>
            <a:pPr lvl="2">
              <a:buFont typeface="Calibri" panose="020F0502020204030204" pitchFamily="34" charset="0"/>
              <a:buChar char="→"/>
            </a:pPr>
            <a:r>
              <a:rPr lang="en-CH" dirty="0"/>
              <a:t> uint256 is “default” integer type</a:t>
            </a:r>
          </a:p>
          <a:p>
            <a:r>
              <a:rPr lang="en-CH" dirty="0"/>
              <a:t>Transactions begin VM execution</a:t>
            </a:r>
          </a:p>
          <a:p>
            <a:pPr lvl="1"/>
            <a:r>
              <a:rPr lang="en-CH" dirty="0"/>
              <a:t>target address and data (</a:t>
            </a:r>
            <a:r>
              <a:rPr lang="en-CH" i="1" dirty="0"/>
              <a:t>message-call</a:t>
            </a:r>
            <a:r>
              <a:rPr lang="en-CH" dirty="0"/>
              <a:t>)</a:t>
            </a:r>
          </a:p>
          <a:p>
            <a:pPr lvl="1"/>
            <a:r>
              <a:rPr lang="en-CH" dirty="0"/>
              <a:t>Executes bytecode at that address</a:t>
            </a:r>
          </a:p>
          <a:p>
            <a:r>
              <a:rPr lang="en-CH" dirty="0"/>
              <a:t>Contract execution</a:t>
            </a:r>
          </a:p>
          <a:p>
            <a:pPr lvl="1"/>
            <a:r>
              <a:rPr lang="en-CH" dirty="0">
                <a:latin typeface="Lucida Console" panose="020B0609040504020204" pitchFamily="49" charset="0"/>
              </a:rPr>
              <a:t>CALL</a:t>
            </a:r>
            <a:r>
              <a:rPr lang="en-CH" dirty="0"/>
              <a:t>: Create a nested message-call</a:t>
            </a:r>
          </a:p>
          <a:p>
            <a:pPr lvl="1"/>
            <a:r>
              <a:rPr lang="en-CH" dirty="0">
                <a:latin typeface="Lucida Console" panose="020B0609040504020204" pitchFamily="49" charset="0"/>
              </a:rPr>
              <a:t>REVERT</a:t>
            </a:r>
            <a:r>
              <a:rPr lang="en-CH" dirty="0"/>
              <a:t>: Roll-back current message-call</a:t>
            </a:r>
          </a:p>
          <a:p>
            <a:pPr lvl="1"/>
            <a:r>
              <a:rPr lang="en-CH" dirty="0"/>
              <a:t>Each message-call has its own stack and memory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40B301-984F-D856-1302-8A9D3FD01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E4AEB6-DB08-73C1-96E8-B4C623349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830F3-1D8A-6BCC-9751-4E63DFD86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6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903843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B43C2-42A4-D7F4-4699-D01AEF9A0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State of the 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B14A6-AB7B-9A16-6CB7-34B9EE774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Two widely-used compilers:</a:t>
            </a:r>
          </a:p>
          <a:p>
            <a:pPr lvl="1"/>
            <a:r>
              <a:rPr lang="en-CH" dirty="0"/>
              <a:t>Solidity  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OOP,  ~87% market share</a:t>
            </a:r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lvl="1"/>
            <a:r>
              <a:rPr lang="en-CH" dirty="0" err="1"/>
              <a:t>Vyper</a:t>
            </a:r>
            <a:r>
              <a:rPr lang="en-CH" dirty="0"/>
              <a:t>  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Python, ~8% market share</a:t>
            </a:r>
          </a:p>
          <a:p>
            <a:pPr marL="0" indent="0">
              <a:buNone/>
            </a:pPr>
            <a:endParaRPr lang="en-CH" dirty="0"/>
          </a:p>
          <a:p>
            <a:r>
              <a:rPr lang="en-CH" dirty="0"/>
              <a:t>Memory is typically arena-allocated</a:t>
            </a:r>
          </a:p>
          <a:p>
            <a:pPr lvl="1"/>
            <a:r>
              <a:rPr lang="en-CH" dirty="0"/>
              <a:t>Discarded when message-call terminates</a:t>
            </a:r>
          </a:p>
          <a:p>
            <a:pPr lvl="1"/>
            <a:r>
              <a:rPr lang="en-CH" dirty="0"/>
              <a:t>Execution is expensive</a:t>
            </a:r>
          </a:p>
          <a:p>
            <a:endParaRPr lang="en-CH" sz="20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F71C3E-F3DD-57B1-2E95-EA3249CA9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5EBA0-8082-DE27-4FF7-A58BD6233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189EF-2B9B-8FBF-D006-7496DBF38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7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37049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2BA5C-1E19-CCED-313E-750CB5F76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5F0FC6-D728-8EA4-A5EF-7120DC81821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6749045" y="365123"/>
            <a:ext cx="489953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3717F5-109E-5A5D-2D2E-55D1AB09BE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/>
          </p:nvPr>
        </p:nvSpPr>
        <p:spPr>
          <a:xfrm>
            <a:off x="7238998" y="365125"/>
            <a:ext cx="4114801" cy="5834063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pragma solidity </a:t>
            </a:r>
            <a:r>
              <a:rPr lang="en-US" dirty="0">
                <a:solidFill>
                  <a:schemeClr val="accent3"/>
                </a:solidFill>
              </a:rPr>
              <a:t>^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8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31</a:t>
            </a:r>
            <a:r>
              <a:rPr lang="en-US" dirty="0">
                <a:solidFill>
                  <a:schemeClr val="accent3"/>
                </a:solidFill>
              </a:rPr>
              <a:t>;</a:t>
            </a:r>
          </a:p>
          <a:p>
            <a:endParaRPr lang="en-CH" dirty="0"/>
          </a:p>
          <a:p>
            <a:r>
              <a:rPr lang="en-CH" dirty="0">
                <a:solidFill>
                  <a:schemeClr val="accent2"/>
                </a:solidFill>
              </a:rPr>
              <a:t>contract</a:t>
            </a:r>
            <a:r>
              <a:rPr lang="en-CH" dirty="0"/>
              <a:t> Counter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>
                <a:solidFill>
                  <a:schemeClr val="accent1"/>
                </a:solidFill>
              </a:rPr>
              <a:t>private</a:t>
            </a:r>
            <a:r>
              <a:rPr lang="en-CH" dirty="0">
                <a:solidFill>
                  <a:schemeClr val="accent2"/>
                </a:solidFill>
              </a:rPr>
              <a:t>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accent2"/>
                </a:solidFill>
              </a:rPr>
              <a:t>  constructor</a:t>
            </a:r>
            <a:r>
              <a:rPr lang="en-CH" dirty="0">
                <a:solidFill>
                  <a:schemeClr val="accent3"/>
                </a:solidFill>
              </a:rPr>
              <a:t>(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/>
              <a:t>x</a:t>
            </a:r>
            <a:r>
              <a:rPr lang="en-CH" dirty="0">
                <a:solidFill>
                  <a:schemeClr val="accent3"/>
                </a:solidFill>
              </a:rPr>
              <a:t>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=</a:t>
            </a:r>
            <a:r>
              <a:rPr lang="en-CH" dirty="0"/>
              <a:t> x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get</a:t>
            </a:r>
            <a:r>
              <a:rPr lang="en-CH" dirty="0">
                <a:solidFill>
                  <a:schemeClr val="accent3"/>
                </a:solidFill>
              </a:rPr>
              <a:t>()</a:t>
            </a:r>
          </a:p>
          <a:p>
            <a:r>
              <a:rPr lang="en-CH" dirty="0">
                <a:solidFill>
                  <a:schemeClr val="accent3"/>
                </a:solidFill>
              </a:rPr>
              <a:t>	</a:t>
            </a:r>
            <a:r>
              <a:rPr lang="en-CH" dirty="0">
                <a:solidFill>
                  <a:schemeClr val="accent1"/>
                </a:solidFill>
              </a:rPr>
              <a:t>returns</a:t>
            </a:r>
            <a:r>
              <a:rPr lang="en-CH" dirty="0">
                <a:solidFill>
                  <a:schemeClr val="accent3"/>
                </a:solidFill>
              </a:rPr>
              <a:t> (</a:t>
            </a:r>
            <a:r>
              <a:rPr lang="en-CH" dirty="0">
                <a:solidFill>
                  <a:schemeClr val="accent2"/>
                </a:solidFill>
              </a:rPr>
              <a:t>uint256</a:t>
            </a:r>
            <a:r>
              <a:rPr lang="en-CH" dirty="0">
                <a:solidFill>
                  <a:schemeClr val="accent3"/>
                </a:solidFill>
              </a:rPr>
              <a:t>)</a:t>
            </a:r>
          </a:p>
          <a:p>
            <a:r>
              <a:rPr lang="en-CH" dirty="0">
                <a:solidFill>
                  <a:schemeClr val="accent3"/>
                </a:solidFill>
              </a:rPr>
              <a:t> 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return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3"/>
                </a:solidFill>
              </a:rPr>
              <a:t>()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  <a:endParaRPr lang="en-CH" dirty="0"/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E9E4B5-C066-8ADD-373C-11BE5995C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Solidity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CE8613E-4733-3F18-4138-B38FF35A2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72105C7-A833-4BBE-84F9-4F3BB5CA7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EDF37B1-75B7-0B35-2374-2B02A70F9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8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75963B-8667-6CA9-7CB5-983A2C422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47850"/>
            <a:ext cx="5236398" cy="4351338"/>
          </a:xfrm>
        </p:spPr>
        <p:txBody>
          <a:bodyPr>
            <a:normAutofit/>
          </a:bodyPr>
          <a:lstStyle/>
          <a:p>
            <a:r>
              <a:rPr lang="en-CH" dirty="0"/>
              <a:t>Inspired by OOP</a:t>
            </a:r>
          </a:p>
          <a:p>
            <a:pPr lvl="1"/>
            <a:r>
              <a:rPr lang="en-CH" dirty="0"/>
              <a:t>Contracts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↔</a:t>
            </a:r>
            <a:r>
              <a:rPr lang="en-CH" dirty="0"/>
              <a:t> Objects</a:t>
            </a:r>
          </a:p>
          <a:p>
            <a:r>
              <a:rPr lang="en-CH" dirty="0"/>
              <a:t>Complex type system</a:t>
            </a:r>
          </a:p>
          <a:p>
            <a:pPr lvl="1"/>
            <a:r>
              <a:rPr lang="en-CH" dirty="0"/>
              <a:t>Inheritance</a:t>
            </a:r>
          </a:p>
          <a:p>
            <a:pPr lvl="1"/>
            <a:r>
              <a:rPr lang="en-CH" dirty="0"/>
              <a:t>Function Pointers</a:t>
            </a:r>
          </a:p>
          <a:p>
            <a:pPr lvl="1"/>
            <a:r>
              <a:rPr lang="en-CH" dirty="0"/>
              <a:t>Storage Pointers</a:t>
            </a:r>
          </a:p>
          <a:p>
            <a:r>
              <a:rPr lang="en-CH" dirty="0"/>
              <a:t>Few protection mechanisms</a:t>
            </a:r>
          </a:p>
          <a:p>
            <a:r>
              <a:rPr lang="en-CH" dirty="0"/>
              <a:t>Large library of contracts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AFE5C9-E905-7396-A5F9-6F9161F338F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7238998" y="365124"/>
            <a:ext cx="479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5429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E3B7E-F9E9-6F6A-8B18-DF3F1C217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A68216-E563-600F-9EAA-ACF32BAEE37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7EACB6-3E80-3F73-5329-0C125D94C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value: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 err="1">
                <a:solidFill>
                  <a:schemeClr val="accent6"/>
                </a:solidFill>
              </a:rPr>
              <a:t>init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>
                <a:solidFill>
                  <a:schemeClr val="accent3"/>
                </a:solidFill>
              </a:rPr>
              <a:t>(</a:t>
            </a:r>
            <a:r>
              <a:rPr lang="en-US" dirty="0"/>
              <a:t>x</a:t>
            </a:r>
            <a:r>
              <a:rPr lang="en-US" dirty="0">
                <a:solidFill>
                  <a:schemeClr val="accent3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):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=</a:t>
            </a:r>
            <a:r>
              <a:rPr lang="en-US" dirty="0"/>
              <a:t> x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@constant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get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>
                <a:solidFill>
                  <a:schemeClr val="accent1"/>
                </a:solidFill>
              </a:rPr>
              <a:t>return</a:t>
            </a:r>
            <a:r>
              <a:rPr lang="en-US" dirty="0"/>
              <a:t>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endParaRPr lang="en-US" dirty="0"/>
          </a:p>
          <a:p>
            <a:endParaRPr lang="en-CH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increment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bool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+=</a:t>
            </a:r>
            <a:r>
              <a:rPr lang="en-US" dirty="0"/>
              <a:t> </a:t>
            </a:r>
            <a:r>
              <a:rPr lang="en-US" dirty="0">
                <a:solidFill>
                  <a:schemeClr val="accent4"/>
                </a:solidFill>
              </a:rPr>
              <a:t>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5A23A-9662-73FA-26E9-8D09089E3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 err="1"/>
              <a:t>Vyper</a:t>
            </a:r>
            <a:endParaRPr lang="en-CH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731F4A06-C5FC-B9B4-BE00-556C9CB0B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EFEF207-BB3F-794D-350F-1FF6506AB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35152D0-1E25-27A7-E281-52288300F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9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81C632-3841-6AE3-E8E8-952B80C04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r>
              <a:rPr lang="en-CH" dirty="0"/>
              <a:t>Closely based on Python</a:t>
            </a:r>
          </a:p>
          <a:p>
            <a:r>
              <a:rPr lang="en-CH" dirty="0"/>
              <a:t>Strives to be simple</a:t>
            </a:r>
          </a:p>
          <a:p>
            <a:r>
              <a:rPr lang="en-CH" dirty="0"/>
              <a:t>No low-level control</a:t>
            </a:r>
          </a:p>
          <a:p>
            <a:pPr lvl="1"/>
            <a:r>
              <a:rPr lang="en-CH" dirty="0"/>
              <a:t>e.g. of memory allocations</a:t>
            </a:r>
          </a:p>
          <a:p>
            <a:pPr lvl="1"/>
            <a:r>
              <a:rPr lang="en-CH" dirty="0"/>
              <a:t>large memory footprint</a:t>
            </a:r>
          </a:p>
          <a:p>
            <a:r>
              <a:rPr lang="en-CH" dirty="0"/>
              <a:t>Some opt-in protection mechanisms</a:t>
            </a:r>
          </a:p>
          <a:p>
            <a:endParaRPr lang="en-CH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700617D-25EC-F043-3B29-EA91FE056D59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0718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7E75E81-BE4F-D637-EC6A-41DBF8730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Security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F1D2AF1C-0A85-296E-C6F8-92BC656A5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How to ensure contracts are secure?</a:t>
            </a:r>
          </a:p>
          <a:p>
            <a:pPr lvl="1"/>
            <a:r>
              <a:rPr lang="en-CH" dirty="0"/>
              <a:t>Static Analysis (rare)</a:t>
            </a:r>
          </a:p>
          <a:p>
            <a:pPr lvl="1"/>
            <a:r>
              <a:rPr lang="en-CH" dirty="0"/>
              <a:t>Formal Verification (proprietary, very rare)</a:t>
            </a:r>
          </a:p>
          <a:p>
            <a:pPr lvl="1"/>
            <a:r>
              <a:rPr lang="en-CH" dirty="0"/>
              <a:t>Third-party Audits</a:t>
            </a:r>
          </a:p>
          <a:p>
            <a:pPr lvl="2"/>
            <a:r>
              <a:rPr lang="en-CH" dirty="0"/>
              <a:t>expensive, &gt;2000$ per auditor per day</a:t>
            </a:r>
          </a:p>
          <a:p>
            <a:pPr lvl="2"/>
            <a:r>
              <a:rPr lang="en-CH" dirty="0"/>
              <a:t>#1 way to “prove” legitimacy of a new project</a:t>
            </a:r>
          </a:p>
          <a:p>
            <a:pPr lvl="2"/>
            <a:r>
              <a:rPr lang="en-CH" dirty="0"/>
              <a:t>Code </a:t>
            </a:r>
            <a:r>
              <a:rPr lang="en-CH" i="1" dirty="0"/>
              <a:t>readability</a:t>
            </a:r>
            <a:r>
              <a:rPr lang="en-CH" dirty="0"/>
              <a:t> is important!</a:t>
            </a:r>
          </a:p>
          <a:p>
            <a:endParaRPr lang="en-CH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533F08-5CBC-E248-1303-24BDA9584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306379-78DA-7111-E26D-5A0E786B0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99090-7939-E106-CC41-624E41AED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10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75530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6923590-A5CA-35B6-6271-2F725DF18F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872221" y="4462780"/>
            <a:ext cx="1713864" cy="292100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9D5D5614-E33E-57A6-CC37-8370F1F54E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24047605"/>
              </p:ext>
            </p:extLst>
          </p:nvPr>
        </p:nvGraphicFramePr>
        <p:xfrm>
          <a:off x="556181" y="1825625"/>
          <a:ext cx="10797619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C38B879-76CC-05CA-6506-05BE3D9E3922}"/>
              </a:ext>
            </a:extLst>
          </p:cNvPr>
          <p:cNvCxnSpPr>
            <a:cxnSpLocks/>
          </p:cNvCxnSpPr>
          <p:nvPr/>
        </p:nvCxnSpPr>
        <p:spPr>
          <a:xfrm>
            <a:off x="8181681" y="2516957"/>
            <a:ext cx="830344" cy="405353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C8A1AAD-229C-85D1-C438-341249A5D458}"/>
              </a:ext>
            </a:extLst>
          </p:cNvPr>
          <p:cNvCxnSpPr>
            <a:cxnSpLocks/>
          </p:cNvCxnSpPr>
          <p:nvPr/>
        </p:nvCxnSpPr>
        <p:spPr>
          <a:xfrm flipH="1" flipV="1">
            <a:off x="8162827" y="2667786"/>
            <a:ext cx="849198" cy="923826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500ABF9-14AE-0699-1ADD-0EDBDC0B1166}"/>
              </a:ext>
            </a:extLst>
          </p:cNvPr>
          <p:cNvCxnSpPr>
            <a:cxnSpLocks/>
          </p:cNvCxnSpPr>
          <p:nvPr/>
        </p:nvCxnSpPr>
        <p:spPr>
          <a:xfrm flipH="1" flipV="1">
            <a:off x="8181681" y="2564092"/>
            <a:ext cx="849198" cy="707869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DEA0C95-8379-2D26-E244-5C0064E61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A8FA7F-FDD2-AC8A-CF26-59C714C08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8C107-FD91-CFAF-C623-2737E155E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04673-53B5-F42E-8776-572039592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11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98D349-EEEC-B8C6-0935-D857927E3F62}"/>
              </a:ext>
            </a:extLst>
          </p:cNvPr>
          <p:cNvSpPr txBox="1"/>
          <p:nvPr/>
        </p:nvSpPr>
        <p:spPr>
          <a:xfrm>
            <a:off x="7687499" y="5128181"/>
            <a:ext cx="43762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33%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48D253-96CA-619A-BE33-10BC40B0F36D}"/>
              </a:ext>
            </a:extLst>
          </p:cNvPr>
          <p:cNvSpPr txBox="1"/>
          <p:nvPr/>
        </p:nvSpPr>
        <p:spPr>
          <a:xfrm>
            <a:off x="7667860" y="4217898"/>
            <a:ext cx="43762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19%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F30219-3F09-B195-6C7D-94D28F5FA39D}"/>
              </a:ext>
            </a:extLst>
          </p:cNvPr>
          <p:cNvSpPr txBox="1"/>
          <p:nvPr/>
        </p:nvSpPr>
        <p:spPr>
          <a:xfrm>
            <a:off x="7667860" y="3665571"/>
            <a:ext cx="43762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14%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3D9760-CCB8-FF3B-D5B9-C26B12CF8B8D}"/>
              </a:ext>
            </a:extLst>
          </p:cNvPr>
          <p:cNvSpPr txBox="1"/>
          <p:nvPr/>
        </p:nvSpPr>
        <p:spPr>
          <a:xfrm>
            <a:off x="7667860" y="3224826"/>
            <a:ext cx="43762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11%</a:t>
            </a:r>
          </a:p>
        </p:txBody>
      </p:sp>
      <p:sp>
        <p:nvSpPr>
          <p:cNvPr id="13" name="Frame 12">
            <a:extLst>
              <a:ext uri="{FF2B5EF4-FFF2-40B4-BE49-F238E27FC236}">
                <a16:creationId xmlns:a16="http://schemas.microsoft.com/office/drawing/2014/main" id="{1A4E2500-0EDA-71E9-AF96-9FC7AC272EB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37160" y="-4547708"/>
            <a:ext cx="19735800" cy="18311778"/>
          </a:xfrm>
          <a:prstGeom prst="frame">
            <a:avLst>
              <a:gd name="adj1" fmla="val 49154"/>
            </a:avLst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064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6A8F-5170-1F70-EC51-21BEB9933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 – what is 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BEED7-A8A4-761D-28F0-A1B7E658C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Concurrency, but limited</a:t>
            </a:r>
          </a:p>
          <a:p>
            <a:pPr lvl="1"/>
            <a:r>
              <a:rPr lang="en-GB" b="1" dirty="0"/>
              <a:t>R-W</a:t>
            </a:r>
            <a:r>
              <a:rPr lang="en-GB" dirty="0"/>
              <a:t>, </a:t>
            </a:r>
            <a:r>
              <a:rPr lang="en-GB" b="1" dirty="0"/>
              <a:t>W-R</a:t>
            </a:r>
            <a:r>
              <a:rPr lang="en-GB" dirty="0"/>
              <a:t>, </a:t>
            </a:r>
            <a:r>
              <a:rPr lang="en-GB" b="1" dirty="0"/>
              <a:t>W-W</a:t>
            </a:r>
            <a:r>
              <a:rPr lang="en-GB" dirty="0"/>
              <a:t> conflicts</a:t>
            </a:r>
          </a:p>
          <a:p>
            <a:r>
              <a:rPr lang="en-GB" dirty="0"/>
              <a:t>Contract is “re-entered”</a:t>
            </a:r>
            <a:r>
              <a:rPr lang="en-CH" dirty="0"/>
              <a:t> in a nested message-call</a:t>
            </a:r>
          </a:p>
          <a:p>
            <a:pPr lvl="1"/>
            <a:r>
              <a:rPr lang="en-CH" dirty="0"/>
              <a:t>Stack / Memory is not shared!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0C8CAF-F2C1-E23B-9D9A-B6AC30830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80671F-CF07-F489-31DC-7240D7B0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CC899D-7E0E-D888-B6AF-2F9C72C92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620962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A5F9D-F831-10F0-B4A3-402692C52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A59B-94C1-1A59-B40C-9F194D2FB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FE3AE8-FC64-A0AC-93D5-12F3055FE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992E3-0F9D-71E9-2614-B466311EE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640888-D13B-4663-6AE2-B7591719B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13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79DC15DA-BE46-9855-4A34-C46C0C172895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37B4D0-11F0-058B-D596-80CEC7EA580F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BB979C1F-2B56-2442-7A8D-C52BBD24ED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AE94F329-F41A-A08F-5438-C9D75FFE19A9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9BDFF461-814A-C370-6EA1-66D5F0CDBB84}"/>
              </a:ext>
            </a:extLst>
          </p:cNvPr>
          <p:cNvGraphicFramePr>
            <a:graphicFrameLocks noGrp="1"/>
          </p:cNvGraphicFramePr>
          <p:nvPr/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568793B0-F791-D78D-2D98-F02B999EC2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014688"/>
              </p:ext>
            </p:extLst>
          </p:nvPr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  <a:latin typeface="+mn-lt"/>
                        </a:rPr>
                        <a:t>3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BB435F1-037C-389B-BE57-0352DD1AB5B8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Folded Corner 9">
            <a:extLst>
              <a:ext uri="{FF2B5EF4-FFF2-40B4-BE49-F238E27FC236}">
                <a16:creationId xmlns:a16="http://schemas.microsoft.com/office/drawing/2014/main" id="{F26153FC-12AB-04CE-93BF-129973F2051A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</p:spTree>
    <p:extLst>
      <p:ext uri="{BB962C8B-B14F-4D97-AF65-F5344CB8AC3E}">
        <p14:creationId xmlns:p14="http://schemas.microsoft.com/office/powerpoint/2010/main" val="1456380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37000-7270-DBE6-E4B6-042EA6146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5D455-4727-5AFA-AC50-4729648CD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169CF-36D5-58DD-D7D9-3B2E0FABA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198A1A-3A15-937E-2C1B-F4CC748EA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5654D-33F5-49C1-2925-2EE7A221C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14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D6680D8-775C-6AE0-7256-C68E7588C6DA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D4D448-4E45-7CF8-1AD7-F495C26FACFC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CF4D6A67-4280-F03D-A203-D030F91494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4B1A2040-4B91-4FDA-8AFB-99996D4823A1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41A6E540-B3C8-6E6C-9FD5-BBBB924840DD}"/>
              </a:ext>
            </a:extLst>
          </p:cNvPr>
          <p:cNvSpPr/>
          <p:nvPr/>
        </p:nvSpPr>
        <p:spPr>
          <a:xfrm>
            <a:off x="9690100" y="2935866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A58FB1D4-BF42-BA85-6A5F-6C4345751E13}"/>
              </a:ext>
            </a:extLst>
          </p:cNvPr>
          <p:cNvSpPr/>
          <p:nvPr/>
        </p:nvSpPr>
        <p:spPr>
          <a:xfrm>
            <a:off x="632460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7A0BA54-342F-87DD-568C-01D011F12C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848800"/>
              </p:ext>
            </p:extLst>
          </p:nvPr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2FF70CF0-5EE8-3847-008C-0C9E25078CBA}"/>
              </a:ext>
            </a:extLst>
          </p:cNvPr>
          <p:cNvGraphicFramePr>
            <a:graphicFrameLocks noGrp="1"/>
          </p:cNvGraphicFramePr>
          <p:nvPr/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  <a:latin typeface="+mn-lt"/>
                        </a:rPr>
                        <a:t>3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4DE3C55-AB57-58FB-B694-97E144B4B908}"/>
              </a:ext>
            </a:extLst>
          </p:cNvPr>
          <p:cNvGraphicFramePr>
            <a:graphicFrameLocks noGrp="1"/>
          </p:cNvGraphicFramePr>
          <p:nvPr/>
        </p:nvGraphicFramePr>
        <p:xfrm>
          <a:off x="54584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0xBBBB...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EE92ED1-881A-6B62-79A9-77318C795FBE}"/>
              </a:ext>
            </a:extLst>
          </p:cNvPr>
          <p:cNvGraphicFramePr>
            <a:graphicFrameLocks noGrp="1"/>
          </p:cNvGraphicFramePr>
          <p:nvPr/>
        </p:nvGraphicFramePr>
        <p:xfrm>
          <a:off x="88239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0xCDEF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8D10640-1BFD-8ABC-6D7F-A38869D7C99F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2D29809-3771-9505-FF76-2311087A1744}"/>
              </a:ext>
            </a:extLst>
          </p:cNvPr>
          <p:cNvCxnSpPr>
            <a:cxnSpLocks/>
          </p:cNvCxnSpPr>
          <p:nvPr/>
        </p:nvCxnSpPr>
        <p:spPr>
          <a:xfrm>
            <a:off x="3591560" y="3229106"/>
            <a:ext cx="2700000" cy="1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43FFCF0-DFF3-768B-4AFF-DAD199139ECD}"/>
              </a:ext>
            </a:extLst>
          </p:cNvPr>
          <p:cNvCxnSpPr>
            <a:cxnSpLocks/>
          </p:cNvCxnSpPr>
          <p:nvPr/>
        </p:nvCxnSpPr>
        <p:spPr>
          <a:xfrm>
            <a:off x="6827520" y="3229105"/>
            <a:ext cx="2844000" cy="1"/>
          </a:xfrm>
          <a:prstGeom prst="straightConnector1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AC5544C-B846-E269-4899-6C121A90600D}"/>
              </a:ext>
            </a:extLst>
          </p:cNvPr>
          <p:cNvGrpSpPr/>
          <p:nvPr/>
        </p:nvGrpSpPr>
        <p:grpSpPr>
          <a:xfrm>
            <a:off x="4480561" y="1812973"/>
            <a:ext cx="1278446" cy="2987622"/>
            <a:chOff x="4480561" y="1427965"/>
            <a:chExt cx="1278446" cy="3014812"/>
          </a:xfrm>
        </p:grpSpPr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45200735-4882-FA64-3D71-CF618F87BD9C}"/>
                </a:ext>
              </a:extLst>
            </p:cNvPr>
            <p:cNvCxnSpPr>
              <a:cxnSpLocks/>
              <a:endCxn id="16" idx="3"/>
            </p:cNvCxnSpPr>
            <p:nvPr/>
          </p:nvCxnSpPr>
          <p:spPr>
            <a:xfrm rot="5400000">
              <a:off x="3216360" y="2692167"/>
              <a:ext cx="3014811" cy="486410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981C9310-94EF-9C88-8077-A326C7AF7D4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57012" y="1427965"/>
              <a:ext cx="801995" cy="1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42" name="Rectangle: Folded Corner 41">
            <a:extLst>
              <a:ext uri="{FF2B5EF4-FFF2-40B4-BE49-F238E27FC236}">
                <a16:creationId xmlns:a16="http://schemas.microsoft.com/office/drawing/2014/main" id="{825B9D55-DD7C-8A80-D010-9D6A6BA9A703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</p:spTree>
    <p:extLst>
      <p:ext uri="{BB962C8B-B14F-4D97-AF65-F5344CB8AC3E}">
        <p14:creationId xmlns:p14="http://schemas.microsoft.com/office/powerpoint/2010/main" val="212082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AED03-B932-65DE-53CF-5EA9EBF1A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B626C-FC4E-4AE5-A6C8-78314F00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87F0E-42F1-C76F-7C25-A17E23CF7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A3C81-4473-116D-BEF5-BFCA40F4E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C6C63A-1B71-214C-9DA9-E6567F075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15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D8AFB30-ACFD-8250-0CE8-A49F6D41A9F7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DE01CE-23B9-4A8C-94D2-17785EE8575C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63F1DBBD-A69F-7E56-46C1-1F94762117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D66E0428-4495-52FA-8B4F-58B735996F79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53EDD61F-FF39-814C-2440-2EFEDC693CB4}"/>
              </a:ext>
            </a:extLst>
          </p:cNvPr>
          <p:cNvSpPr/>
          <p:nvPr/>
        </p:nvSpPr>
        <p:spPr>
          <a:xfrm>
            <a:off x="9690100" y="2935866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FD2D53EB-98E2-EADD-024D-6736ED05E6BA}"/>
              </a:ext>
            </a:extLst>
          </p:cNvPr>
          <p:cNvSpPr/>
          <p:nvPr/>
        </p:nvSpPr>
        <p:spPr>
          <a:xfrm>
            <a:off x="632460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032A101-2296-8AA4-864F-F4C6B10B191B}"/>
              </a:ext>
            </a:extLst>
          </p:cNvPr>
          <p:cNvGraphicFramePr>
            <a:graphicFrameLocks noGrp="1"/>
          </p:cNvGraphicFramePr>
          <p:nvPr/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E803A3D0-942C-8F16-ABC2-4C3066651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7861446"/>
              </p:ext>
            </p:extLst>
          </p:nvPr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bg1"/>
                          </a:solidFill>
                          <a:latin typeface="+mn-lt"/>
                        </a:rPr>
                        <a:t>4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A57193F-3A80-EEDC-2296-1448FBDF66C9}"/>
              </a:ext>
            </a:extLst>
          </p:cNvPr>
          <p:cNvGraphicFramePr>
            <a:graphicFrameLocks noGrp="1"/>
          </p:cNvGraphicFramePr>
          <p:nvPr/>
        </p:nvGraphicFramePr>
        <p:xfrm>
          <a:off x="54584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0xBBBB...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C54CCD8-F93E-EF82-FD1D-C66216DD09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743121"/>
              </p:ext>
            </p:extLst>
          </p:nvPr>
        </p:nvGraphicFramePr>
        <p:xfrm>
          <a:off x="88239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0xCDEF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F940920-EDE4-3ABF-D41E-306E108132C3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CDA7F91-D35B-DEBE-24E7-C3CA876999B8}"/>
              </a:ext>
            </a:extLst>
          </p:cNvPr>
          <p:cNvCxnSpPr>
            <a:cxnSpLocks/>
          </p:cNvCxnSpPr>
          <p:nvPr/>
        </p:nvCxnSpPr>
        <p:spPr>
          <a:xfrm>
            <a:off x="3591560" y="3229106"/>
            <a:ext cx="2700000" cy="1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2D2FE0E-F516-E4A7-C8B7-CC57735206F2}"/>
              </a:ext>
            </a:extLst>
          </p:cNvPr>
          <p:cNvCxnSpPr>
            <a:cxnSpLocks/>
          </p:cNvCxnSpPr>
          <p:nvPr/>
        </p:nvCxnSpPr>
        <p:spPr>
          <a:xfrm>
            <a:off x="6827520" y="3229105"/>
            <a:ext cx="2844000" cy="1"/>
          </a:xfrm>
          <a:prstGeom prst="straightConnector1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C8186AC-440E-F39E-E224-79570E71737F}"/>
              </a:ext>
            </a:extLst>
          </p:cNvPr>
          <p:cNvGrpSpPr/>
          <p:nvPr/>
        </p:nvGrpSpPr>
        <p:grpSpPr>
          <a:xfrm>
            <a:off x="7078389" y="1809345"/>
            <a:ext cx="1726990" cy="3035030"/>
            <a:chOff x="7078389" y="1809345"/>
            <a:chExt cx="1726990" cy="3035030"/>
          </a:xfrm>
        </p:grpSpPr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3226D6A8-3292-EA0D-AB50-8DE29A60933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007915" y="3046910"/>
              <a:ext cx="3035030" cy="559899"/>
            </a:xfrm>
            <a:prstGeom prst="bentConnector3">
              <a:avLst>
                <a:gd name="adj1" fmla="val 100000"/>
              </a:avLst>
            </a:prstGeom>
            <a:ln>
              <a:tailEnd type="non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0CFBCEA-08E7-5D64-01CD-DB2F445AF3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78389" y="1809345"/>
              <a:ext cx="117682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9" name="Rectangle: Folded Corner 38">
            <a:extLst>
              <a:ext uri="{FF2B5EF4-FFF2-40B4-BE49-F238E27FC236}">
                <a16:creationId xmlns:a16="http://schemas.microsoft.com/office/drawing/2014/main" id="{20E1F54B-5BDA-1CFA-4D46-6BE9A619D6C5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</p:spTree>
    <p:extLst>
      <p:ext uri="{BB962C8B-B14F-4D97-AF65-F5344CB8AC3E}">
        <p14:creationId xmlns:p14="http://schemas.microsoft.com/office/powerpoint/2010/main" val="2194396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F7935-62AF-888D-44C5-74D4E0361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63926A8-136D-C71D-ABE2-AD9A3902E489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A10005-393C-3CD3-7B68-4040593CC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4E05D-A95A-EF56-693B-7C5CA26F3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7DBA09-5656-F957-8DC5-6F1CA31AE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EE448-B38A-8E02-5E38-7A942D58D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16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034A3572-4CD4-E2D0-EF7F-09A605AAC6E8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876C7C56-EC4A-F59A-EF08-E3FE809EA3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0C51855C-AB8E-0F1A-99DD-E4187E56630D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0C858B97-5F49-8CC4-43C0-986298187651}"/>
              </a:ext>
            </a:extLst>
          </p:cNvPr>
          <p:cNvGraphicFramePr>
            <a:graphicFrameLocks noGrp="1"/>
          </p:cNvGraphicFramePr>
          <p:nvPr/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95C36B3-A5B8-6C2F-0526-93268FEDBE04}"/>
              </a:ext>
            </a:extLst>
          </p:cNvPr>
          <p:cNvGraphicFramePr>
            <a:graphicFrameLocks noGrp="1"/>
          </p:cNvGraphicFramePr>
          <p:nvPr/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bg1"/>
                          </a:solidFill>
                          <a:latin typeface="+mn-lt"/>
                        </a:rPr>
                        <a:t>4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C02290-89F0-CBD4-21D4-5176E10150A5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D76D716-9C36-BE0E-0716-6C06E3B47E8D}"/>
              </a:ext>
            </a:extLst>
          </p:cNvPr>
          <p:cNvGrpSpPr/>
          <p:nvPr/>
        </p:nvGrpSpPr>
        <p:grpSpPr>
          <a:xfrm>
            <a:off x="3468276" y="4999038"/>
            <a:ext cx="3425819" cy="657410"/>
            <a:chOff x="3468276" y="4999038"/>
            <a:chExt cx="3459053" cy="389709"/>
          </a:xfrm>
        </p:grpSpPr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97DCE89A-E3CF-7E9C-0129-9424D7684828}"/>
                </a:ext>
              </a:extLst>
            </p:cNvPr>
            <p:cNvCxnSpPr/>
            <p:nvPr/>
          </p:nvCxnSpPr>
          <p:spPr>
            <a:xfrm rot="10800000">
              <a:off x="3468276" y="4999038"/>
              <a:ext cx="2268984" cy="389708"/>
            </a:xfrm>
            <a:prstGeom prst="bentConnector3">
              <a:avLst>
                <a:gd name="adj1" fmla="val 100081"/>
              </a:avLst>
            </a:prstGeom>
            <a:ln w="38100">
              <a:solidFill>
                <a:schemeClr val="accent1">
                  <a:lumMod val="75000"/>
                </a:schemeClr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: Elbow 27">
              <a:extLst>
                <a:ext uri="{FF2B5EF4-FFF2-40B4-BE49-F238E27FC236}">
                  <a16:creationId xmlns:a16="http://schemas.microsoft.com/office/drawing/2014/main" id="{3BCDDA6E-D84A-4095-BA60-E9DE4090AA5C}"/>
                </a:ext>
              </a:extLst>
            </p:cNvPr>
            <p:cNvCxnSpPr/>
            <p:nvPr/>
          </p:nvCxnSpPr>
          <p:spPr>
            <a:xfrm flipV="1">
              <a:off x="4592502" y="4999038"/>
              <a:ext cx="2334827" cy="389709"/>
            </a:xfrm>
            <a:prstGeom prst="bentConnector3">
              <a:avLst>
                <a:gd name="adj1" fmla="val 100190"/>
              </a:avLst>
            </a:prstGeom>
            <a:ln w="38100">
              <a:solidFill>
                <a:schemeClr val="accent1">
                  <a:lumMod val="75000"/>
                </a:schemeClr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Rectangle: Folded Corner 34">
            <a:extLst>
              <a:ext uri="{FF2B5EF4-FFF2-40B4-BE49-F238E27FC236}">
                <a16:creationId xmlns:a16="http://schemas.microsoft.com/office/drawing/2014/main" id="{2F4DACB4-424E-1245-D49A-AF89584DF114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D0CECD-0FC9-0E11-38C6-5A370468EF9A}"/>
              </a:ext>
            </a:extLst>
          </p:cNvPr>
          <p:cNvSpPr txBox="1"/>
          <p:nvPr/>
        </p:nvSpPr>
        <p:spPr>
          <a:xfrm>
            <a:off x="4402115" y="5651393"/>
            <a:ext cx="1478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dirty="0">
                <a:solidFill>
                  <a:schemeClr val="accent1"/>
                </a:solidFill>
              </a:rPr>
              <a:t>R-W conflict!</a:t>
            </a:r>
          </a:p>
        </p:txBody>
      </p:sp>
    </p:spTree>
    <p:extLst>
      <p:ext uri="{BB962C8B-B14F-4D97-AF65-F5344CB8AC3E}">
        <p14:creationId xmlns:p14="http://schemas.microsoft.com/office/powerpoint/2010/main" val="762378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4.81481E-6 L 0.00404 0.43959 " pathEditMode="relative" rAng="0" ptsTypes="AA">
                                      <p:cBhvr>
                                        <p:cTn id="6" dur="8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5" y="2196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1.48148E-6 L 0.00326 0.44838 " pathEditMode="relative" rAng="0" ptsTypes="AA">
                                      <p:cBhvr>
                                        <p:cTn id="8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6" y="2240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80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9E49F-7C32-26F7-BE0C-463D0439D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EE3E2-DDC0-1554-6366-1F55AE46E6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b="1" dirty="0"/>
              <a:t>The Gap: </a:t>
            </a:r>
            <a:r>
              <a:rPr lang="en-CH" dirty="0"/>
              <a:t>What are the specific limitations and challenges of these existing tools?</a:t>
            </a:r>
          </a:p>
          <a:p>
            <a:r>
              <a:rPr lang="en-CH" dirty="0"/>
              <a:t>Clearly state your core research question or objective.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BCC5D9B-F93F-DC07-471D-E3788AD8F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02814983-3F3A-AC07-6B22-099DA48B7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596690E-368F-528B-C80C-244B73A28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17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9629609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06867-F295-A8D8-5522-C18EF8603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1E665-AB85-22BB-B354-B4E57BB6F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First appearance: June 17, 2016</a:t>
            </a:r>
          </a:p>
          <a:p>
            <a:pPr lvl="1"/>
            <a:r>
              <a:rPr lang="en-GB" dirty="0"/>
              <a:t>Infamous ETH DAO hack</a:t>
            </a:r>
          </a:p>
          <a:p>
            <a:pPr lvl="1"/>
            <a:r>
              <a:rPr lang="en-GB" dirty="0"/>
              <a:t>Only retroactive hard-fork in Ethereum history</a:t>
            </a:r>
          </a:p>
          <a:p>
            <a:r>
              <a:rPr lang="en-GB" dirty="0"/>
              <a:t>Well-known vulnerability class</a:t>
            </a:r>
          </a:p>
          <a:p>
            <a:r>
              <a:rPr lang="en-GB" dirty="0"/>
              <a:t>Easily classifiable / detectable</a:t>
            </a:r>
          </a:p>
          <a:p>
            <a:r>
              <a:rPr lang="en-GB" dirty="0"/>
              <a:t>Easily preventable in most cases</a:t>
            </a:r>
          </a:p>
          <a:p>
            <a:r>
              <a:rPr lang="en-GB" dirty="0"/>
              <a:t>Still represents &gt;10% of exploits </a:t>
            </a:r>
            <a:r>
              <a:rPr lang="en-CH" dirty="0"/>
              <a:t>since </a:t>
            </a:r>
            <a:r>
              <a:rPr lang="en-GB" dirty="0"/>
              <a:t>2020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b="1" i="1" dirty="0"/>
              <a:t>Why is this still an issue today?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6824A-7C1E-071C-05CA-020602494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 dirty="0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BA62C-19B7-8937-19EF-4D9F00679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D5BBD-6DFB-841F-077B-5898705D1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18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7183516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13C8E-077C-E2F8-C049-AC37667CB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6C357-5BEA-7D20-2BB1-E40B73F259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Most contracts do not make use of reentrant calls</a:t>
            </a:r>
          </a:p>
          <a:p>
            <a:pPr lvl="1"/>
            <a:r>
              <a:rPr lang="en-GB" dirty="0"/>
              <a:t>No “safety by default”</a:t>
            </a:r>
          </a:p>
          <a:p>
            <a:endParaRPr lang="en-GB" dirty="0"/>
          </a:p>
          <a:p>
            <a:r>
              <a:rPr lang="en-GB" dirty="0"/>
              <a:t>But when they do…</a:t>
            </a:r>
          </a:p>
          <a:p>
            <a:pPr lvl="1"/>
            <a:r>
              <a:rPr lang="en-GB" i="1" dirty="0"/>
              <a:t>Current tools do not provide adequate protection mechanisms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E37C4B-A08E-6011-DD7A-1097A0A9A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DFB42A-6934-1CBD-4D5C-B96D68BC1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5C139A-18C5-6218-3CBD-FA3CF9329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19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8077774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F22FEA3-3516-A205-D490-C89763F6A5B3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A73EBBE9-EC26-D65E-81D6-CAFFCFE3496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6A07A91E-3D11-174C-78FB-3B637C9ED6C2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2E18D4AF-22FF-2FD4-DAD4-476BF24F193B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5D726F7-F3B8-2A51-7B9D-13B52ED3E7A7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E4DF98E3-54F9-C42F-378D-756A3C154F7F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8E1ABB7F-7AC7-F67B-CC79-1092A434D8A9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9F95EFEF-842A-9F2B-A0AE-ED66EE5912CD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7998A98-868B-213B-9EEB-25A9B5EEE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F6247-A3F9-D450-E51C-FFB923D51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743200" cy="4351338"/>
          </a:xfrm>
        </p:spPr>
        <p:txBody>
          <a:bodyPr/>
          <a:lstStyle/>
          <a:p>
            <a:r>
              <a:rPr lang="en-GB" dirty="0"/>
              <a:t>3 entry points</a:t>
            </a:r>
          </a:p>
          <a:p>
            <a:r>
              <a:rPr lang="en-GB" dirty="0"/>
              <a:t>3 call sites</a:t>
            </a:r>
          </a:p>
          <a:p>
            <a:r>
              <a:rPr lang="en-GB" dirty="0"/>
              <a:t>One desired reentrant call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8315A-0B4B-F27B-1DFE-36DBDE548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18338-013B-A4C4-3264-1F577F2AE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36CDA9-402E-19EB-55BF-134DFA908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20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49A3A17-57C0-2CD3-6A09-D76604FAFCB2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26" name="Rectangle: Folded Corner 25">
            <a:extLst>
              <a:ext uri="{FF2B5EF4-FFF2-40B4-BE49-F238E27FC236}">
                <a16:creationId xmlns:a16="http://schemas.microsoft.com/office/drawing/2014/main" id="{D0688306-CF60-3792-311F-0A0D00FA7404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86075C8-49DC-67C9-0D99-5E1F18F0DD2F}"/>
              </a:ext>
            </a:extLst>
          </p:cNvPr>
          <p:cNvCxnSpPr>
            <a:stCxn id="11" idx="3"/>
            <a:endCxn id="26" idx="1"/>
          </p:cNvCxnSpPr>
          <p:nvPr/>
        </p:nvCxnSpPr>
        <p:spPr>
          <a:xfrm flipV="1">
            <a:off x="7129460" y="4490268"/>
            <a:ext cx="1756121" cy="307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52D953F7-6607-6B8D-6BD8-5C19443DBBC7}"/>
              </a:ext>
            </a:extLst>
          </p:cNvPr>
          <p:cNvCxnSpPr>
            <a:stCxn id="26" idx="2"/>
            <a:endCxn id="15" idx="1"/>
          </p:cNvCxnSpPr>
          <p:nvPr/>
        </p:nvCxnSpPr>
        <p:spPr>
          <a:xfrm rot="5400000" flipH="1">
            <a:off x="7025241" y="2713157"/>
            <a:ext cx="436246" cy="3996532"/>
          </a:xfrm>
          <a:prstGeom prst="curvedConnector4">
            <a:avLst>
              <a:gd name="adj1" fmla="val -199077"/>
              <a:gd name="adj2" fmla="val 129417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384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2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222EF-42EE-FFC5-2561-7A4EE6BBB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29A17BE9-980C-4992-DB08-050598E940BA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55" name="Arrow: Chevron 54">
              <a:extLst>
                <a:ext uri="{FF2B5EF4-FFF2-40B4-BE49-F238E27FC236}">
                  <a16:creationId xmlns:a16="http://schemas.microsoft.com/office/drawing/2014/main" id="{7181C262-100E-E9F9-063A-07E5485E47EF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6" name="Arrow: Chevron 55">
              <a:extLst>
                <a:ext uri="{FF2B5EF4-FFF2-40B4-BE49-F238E27FC236}">
                  <a16:creationId xmlns:a16="http://schemas.microsoft.com/office/drawing/2014/main" id="{DAEA6353-0429-9F6E-5C99-6EC45305C1A4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7" name="Arrow: Chevron 56">
              <a:extLst>
                <a:ext uri="{FF2B5EF4-FFF2-40B4-BE49-F238E27FC236}">
                  <a16:creationId xmlns:a16="http://schemas.microsoft.com/office/drawing/2014/main" id="{5284E23A-C257-F3F5-173F-071D1C49236C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53" name="Content Placeholder 16">
            <a:extLst>
              <a:ext uri="{FF2B5EF4-FFF2-40B4-BE49-F238E27FC236}">
                <a16:creationId xmlns:a16="http://schemas.microsoft.com/office/drawing/2014/main" id="{E37B2A45-E80B-9E7A-B91D-FC55C79D6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741"/>
            <a:ext cx="10515600" cy="473122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“State of the Art”</a:t>
            </a: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5DE94420-D1E6-6792-5509-10210CDD9ED7}"/>
              </a:ext>
            </a:extLst>
          </p:cNvPr>
          <p:cNvSpPr/>
          <p:nvPr/>
        </p:nvSpPr>
        <p:spPr>
          <a:xfrm>
            <a:off x="5062535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9E517237-A8E9-9114-FF00-200D52A63693}"/>
              </a:ext>
            </a:extLst>
          </p:cNvPr>
          <p:cNvSpPr/>
          <p:nvPr/>
        </p:nvSpPr>
        <p:spPr>
          <a:xfrm>
            <a:off x="5062535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A057BB1-4050-1903-F4D9-16C818AFB182}"/>
              </a:ext>
            </a:extLst>
          </p:cNvPr>
          <p:cNvSpPr/>
          <p:nvPr/>
        </p:nvSpPr>
        <p:spPr>
          <a:xfrm>
            <a:off x="5062536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BD70170-8972-F613-073F-03257ACC9CFD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0D8814AA-8A8E-E29A-715E-82342B47A1F7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24773C65-9678-8F82-F3F1-52AE6342000B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7694D426-BDC4-7E2F-0271-B5BA197E2BE6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FBA5539-A877-A2D4-9527-B49ADC885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Entry-Point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DF8F2-7ACC-9F5B-20DA-5663A0CB3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 dirty="0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75CC6-B041-8B59-E168-3A1B05CE5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9E84F5-C031-6617-E53D-557837723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21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6CCE513A-84B4-80D4-7E6C-B92B0939070D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E1D872-A3B1-B8D8-8C1D-C511F1A11349}"/>
              </a:ext>
            </a:extLst>
          </p:cNvPr>
          <p:cNvSpPr txBox="1"/>
          <p:nvPr/>
        </p:nvSpPr>
        <p:spPr>
          <a:xfrm>
            <a:off x="2472566" y="3092967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9DCF89-2DB9-FC40-EFF0-2A80E58BD6DB}"/>
              </a:ext>
            </a:extLst>
          </p:cNvPr>
          <p:cNvSpPr txBox="1"/>
          <p:nvPr/>
        </p:nvSpPr>
        <p:spPr>
          <a:xfrm>
            <a:off x="2472565" y="3701852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60ABB859-63FF-972F-A052-81761A80E7D6}"/>
              </a:ext>
            </a:extLst>
          </p:cNvPr>
          <p:cNvCxnSpPr>
            <a:stCxn id="11" idx="3"/>
            <a:endCxn id="15" idx="1"/>
          </p:cNvCxnSpPr>
          <p:nvPr/>
        </p:nvCxnSpPr>
        <p:spPr>
          <a:xfrm flipH="1" flipV="1">
            <a:off x="5245098" y="4493300"/>
            <a:ext cx="1884362" cy="40"/>
          </a:xfrm>
          <a:prstGeom prst="curvedConnector5">
            <a:avLst>
              <a:gd name="adj1" fmla="val -9406"/>
              <a:gd name="adj2" fmla="val -2147483647"/>
              <a:gd name="adj3" fmla="val 120900"/>
            </a:avLst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F6CDFC3C-F582-7A56-4A34-484B67D40668}"/>
              </a:ext>
            </a:extLst>
          </p:cNvPr>
          <p:cNvCxnSpPr>
            <a:stCxn id="10" idx="3"/>
            <a:endCxn id="15" idx="1"/>
          </p:cNvCxnSpPr>
          <p:nvPr/>
        </p:nvCxnSpPr>
        <p:spPr>
          <a:xfrm flipH="1">
            <a:off x="5245098" y="3884455"/>
            <a:ext cx="1884362" cy="608845"/>
          </a:xfrm>
          <a:prstGeom prst="curvedConnector5">
            <a:avLst>
              <a:gd name="adj1" fmla="val -27800"/>
              <a:gd name="adj2" fmla="val 295616"/>
              <a:gd name="adj3" fmla="val 136900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Curved 39">
            <a:extLst>
              <a:ext uri="{FF2B5EF4-FFF2-40B4-BE49-F238E27FC236}">
                <a16:creationId xmlns:a16="http://schemas.microsoft.com/office/drawing/2014/main" id="{46107812-5CB6-45FD-7840-D736015C1862}"/>
              </a:ext>
            </a:extLst>
          </p:cNvPr>
          <p:cNvCxnSpPr>
            <a:stCxn id="9" idx="3"/>
            <a:endCxn id="15" idx="1"/>
          </p:cNvCxnSpPr>
          <p:nvPr/>
        </p:nvCxnSpPr>
        <p:spPr>
          <a:xfrm flipH="1">
            <a:off x="5245098" y="3275649"/>
            <a:ext cx="1884363" cy="1217651"/>
          </a:xfrm>
          <a:prstGeom prst="curvedConnector5">
            <a:avLst>
              <a:gd name="adj1" fmla="val -45492"/>
              <a:gd name="adj2" fmla="val 222876"/>
              <a:gd name="adj3" fmla="val 155096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3748925-2359-B53F-070B-44E01DC30D58}"/>
              </a:ext>
            </a:extLst>
          </p:cNvPr>
          <p:cNvSpPr txBox="1"/>
          <p:nvPr/>
        </p:nvSpPr>
        <p:spPr>
          <a:xfrm>
            <a:off x="8222982" y="4445029"/>
            <a:ext cx="3740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vulnerabilities!</a:t>
            </a:r>
          </a:p>
        </p:txBody>
      </p:sp>
      <p:pic>
        <p:nvPicPr>
          <p:cNvPr id="58" name="Graphic 57" descr="Shield Tick with solid fill">
            <a:extLst>
              <a:ext uri="{FF2B5EF4-FFF2-40B4-BE49-F238E27FC236}">
                <a16:creationId xmlns:a16="http://schemas.microsoft.com/office/drawing/2014/main" id="{2FFB1D0A-3BB1-C015-1BD7-089B2119B5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60393" y="3013947"/>
            <a:ext cx="523404" cy="523404"/>
          </a:xfrm>
          <a:prstGeom prst="rect">
            <a:avLst/>
          </a:prstGeom>
        </p:spPr>
      </p:pic>
      <p:pic>
        <p:nvPicPr>
          <p:cNvPr id="60" name="Graphic 59" descr="Shield Tick with solid fill">
            <a:extLst>
              <a:ext uri="{FF2B5EF4-FFF2-40B4-BE49-F238E27FC236}">
                <a16:creationId xmlns:a16="http://schemas.microsoft.com/office/drawing/2014/main" id="{D97D1439-A1CC-E988-DF2F-1F557BACEA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60393" y="3600023"/>
            <a:ext cx="523404" cy="523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833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9" grpId="0"/>
      <p:bldP spid="20" grpId="0"/>
      <p:bldP spid="4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F5A37-4206-8B87-3338-F100109C9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27D13443-E111-32FA-4D08-CE43FBA50FC1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38" name="Arrow: Chevron 37">
              <a:extLst>
                <a:ext uri="{FF2B5EF4-FFF2-40B4-BE49-F238E27FC236}">
                  <a16:creationId xmlns:a16="http://schemas.microsoft.com/office/drawing/2014/main" id="{03951020-25DC-762C-EB40-EC3B437017D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39" name="Arrow: Chevron 38">
              <a:extLst>
                <a:ext uri="{FF2B5EF4-FFF2-40B4-BE49-F238E27FC236}">
                  <a16:creationId xmlns:a16="http://schemas.microsoft.com/office/drawing/2014/main" id="{3B718ADD-727C-5EB5-99B6-A8A06FE932B3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40" name="Arrow: Chevron 39">
              <a:extLst>
                <a:ext uri="{FF2B5EF4-FFF2-40B4-BE49-F238E27FC236}">
                  <a16:creationId xmlns:a16="http://schemas.microsoft.com/office/drawing/2014/main" id="{F27E2073-E8B8-96F3-67ED-AA4B3DB6E189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CBEE0B7F-346D-0A42-B6DC-C1A77A2C44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4805363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Next natural approach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2D6EB93-C4A3-26E3-41ED-A352D9DA8131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1F522721-2883-E5E0-8399-63E74D8188D5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F14B06BD-3088-2B26-15D9-44AB952EBBC1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F3ABE4DE-654D-3287-329A-DD6904668034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34C131F5-9F72-0362-1C09-2A3F9EF9FFDA}"/>
              </a:ext>
            </a:extLst>
          </p:cNvPr>
          <p:cNvSpPr/>
          <p:nvPr/>
        </p:nvSpPr>
        <p:spPr>
          <a:xfrm>
            <a:off x="6417362" y="3701892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CBCD2879-DB97-E293-07B5-672EDC04FC7F}"/>
              </a:ext>
            </a:extLst>
          </p:cNvPr>
          <p:cNvSpPr/>
          <p:nvPr/>
        </p:nvSpPr>
        <p:spPr>
          <a:xfrm>
            <a:off x="6417362" y="4310777"/>
            <a:ext cx="712098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26EA6E38-8BE1-D29E-7D3A-3E1F55B7288E}"/>
              </a:ext>
            </a:extLst>
          </p:cNvPr>
          <p:cNvSpPr/>
          <p:nvPr/>
        </p:nvSpPr>
        <p:spPr>
          <a:xfrm>
            <a:off x="6417363" y="3093086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B14E70-D385-DF5D-679A-AC4F319EE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Call-Site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98F693-C2D2-6DF5-2277-30CD0F2D5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9EBD7-6492-B745-18AB-7C64ED3AB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B0E1DE-3D1C-0356-43AA-AFBC59395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22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D54C776E-89DE-F756-7C69-D72A79C0CCFB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</a:t>
            </a:r>
          </a:p>
        </p:txBody>
      </p:sp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05AACC9F-BC14-73B5-033C-BA3CF057575B}"/>
              </a:ext>
            </a:extLst>
          </p:cNvPr>
          <p:cNvCxnSpPr/>
          <p:nvPr/>
        </p:nvCxnSpPr>
        <p:spPr>
          <a:xfrm flipH="1" flipV="1">
            <a:off x="5245098" y="4493300"/>
            <a:ext cx="1884362" cy="40"/>
          </a:xfrm>
          <a:prstGeom prst="curvedConnector5">
            <a:avLst>
              <a:gd name="adj1" fmla="val -9406"/>
              <a:gd name="adj2" fmla="val -2147483647"/>
              <a:gd name="adj3" fmla="val 122867"/>
            </a:avLst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B1FA479-2DDD-D6F8-119F-2064C0DBC218}"/>
              </a:ext>
            </a:extLst>
          </p:cNvPr>
          <p:cNvSpPr txBox="1"/>
          <p:nvPr/>
        </p:nvSpPr>
        <p:spPr>
          <a:xfrm>
            <a:off x="7616686" y="3075738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A967D0-B982-75F3-851D-4768DB3F4643}"/>
              </a:ext>
            </a:extLst>
          </p:cNvPr>
          <p:cNvSpPr txBox="1"/>
          <p:nvPr/>
        </p:nvSpPr>
        <p:spPr>
          <a:xfrm>
            <a:off x="7616685" y="3684623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pic>
        <p:nvPicPr>
          <p:cNvPr id="23" name="Graphic 22" descr="Shield Tick with solid fill">
            <a:extLst>
              <a:ext uri="{FF2B5EF4-FFF2-40B4-BE49-F238E27FC236}">
                <a16:creationId xmlns:a16="http://schemas.microsoft.com/office/drawing/2014/main" id="{295B4F4D-6215-8EA5-1D20-55FC58C344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006249"/>
            <a:ext cx="523404" cy="523404"/>
          </a:xfrm>
          <a:prstGeom prst="rect">
            <a:avLst/>
          </a:prstGeom>
        </p:spPr>
      </p:pic>
      <p:pic>
        <p:nvPicPr>
          <p:cNvPr id="24" name="Graphic 23" descr="Shield Tick with solid fill">
            <a:extLst>
              <a:ext uri="{FF2B5EF4-FFF2-40B4-BE49-F238E27FC236}">
                <a16:creationId xmlns:a16="http://schemas.microsoft.com/office/drawing/2014/main" id="{006F46F1-E9F6-82D1-D798-D8D97E7DF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592325"/>
            <a:ext cx="523404" cy="523404"/>
          </a:xfrm>
          <a:prstGeom prst="rect">
            <a:avLst/>
          </a:prstGeom>
        </p:spPr>
      </p:pic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21CD2E69-59A6-FBAA-DEDE-0549206ABFC9}"/>
              </a:ext>
            </a:extLst>
          </p:cNvPr>
          <p:cNvCxnSpPr>
            <a:stCxn id="11" idx="3"/>
            <a:endCxn id="14" idx="1"/>
          </p:cNvCxnSpPr>
          <p:nvPr/>
        </p:nvCxnSpPr>
        <p:spPr>
          <a:xfrm flipH="1" flipV="1">
            <a:off x="5245098" y="3884415"/>
            <a:ext cx="1884362" cy="608925"/>
          </a:xfrm>
          <a:prstGeom prst="curvedConnector5">
            <a:avLst>
              <a:gd name="adj1" fmla="val -19344"/>
              <a:gd name="adj2" fmla="val -223952"/>
              <a:gd name="adj3" fmla="val 138361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Curved 31">
            <a:extLst>
              <a:ext uri="{FF2B5EF4-FFF2-40B4-BE49-F238E27FC236}">
                <a16:creationId xmlns:a16="http://schemas.microsoft.com/office/drawing/2014/main" id="{645A902C-6EB9-60F3-107D-2E16026AE1FD}"/>
              </a:ext>
            </a:extLst>
          </p:cNvPr>
          <p:cNvCxnSpPr>
            <a:stCxn id="11" idx="3"/>
            <a:endCxn id="16" idx="1"/>
          </p:cNvCxnSpPr>
          <p:nvPr/>
        </p:nvCxnSpPr>
        <p:spPr>
          <a:xfrm flipH="1" flipV="1">
            <a:off x="5245099" y="3275609"/>
            <a:ext cx="1884361" cy="1217731"/>
          </a:xfrm>
          <a:prstGeom prst="curvedConnector5">
            <a:avLst>
              <a:gd name="adj1" fmla="val -39673"/>
              <a:gd name="adj2" fmla="val -135697"/>
              <a:gd name="adj3" fmla="val 158034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FFE0999-08EC-2D44-F4F3-EE24933A1999}"/>
              </a:ext>
            </a:extLst>
          </p:cNvPr>
          <p:cNvSpPr txBox="1"/>
          <p:nvPr/>
        </p:nvSpPr>
        <p:spPr>
          <a:xfrm>
            <a:off x="660647" y="4953952"/>
            <a:ext cx="3740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vulnerabilities!</a:t>
            </a:r>
          </a:p>
        </p:txBody>
      </p:sp>
    </p:spTree>
    <p:extLst>
      <p:ext uri="{BB962C8B-B14F-4D97-AF65-F5344CB8AC3E}">
        <p14:creationId xmlns:p14="http://schemas.microsoft.com/office/powerpoint/2010/main" val="2022347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9" grpId="0" animBg="1"/>
      <p:bldP spid="19" grpId="0"/>
      <p:bldP spid="20" grpId="0"/>
      <p:bldP spid="3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A311D-9CDB-2CD2-ABD7-20CC4096D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117B797-63ED-2365-0A32-B3E6F2734DFC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F5C2BB0B-1527-3E11-F377-883467FBF068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12E59E8E-7128-4DCE-D88A-B8B8D7E8465F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EB1338B2-34AD-F5D6-D6DE-7749C28D96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074729A-D0F7-48A7-32D3-4EC01F077E8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3B0BFA96-0743-E0F5-2CDC-360CEF8C120D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B79974FA-00A6-EF79-2F3F-DA922827349B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E6FAE4B9-2421-04F5-D8CF-6CB5461080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0B28EAA-6511-EA62-377B-01527F174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Call Path Specification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1835D-967C-E867-AE88-BFD51522F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7265" y="1532238"/>
            <a:ext cx="9045146" cy="4644725"/>
          </a:xfrm>
        </p:spPr>
        <p:txBody>
          <a:bodyPr>
            <a:normAutofit/>
          </a:bodyPr>
          <a:lstStyle/>
          <a:p>
            <a:r>
              <a:rPr lang="en-GB" dirty="0"/>
              <a:t>Safety by default</a:t>
            </a:r>
          </a:p>
          <a:p>
            <a:r>
              <a:rPr lang="en-GB" dirty="0"/>
              <a:t>Call site annotation </a:t>
            </a:r>
            <a:r>
              <a:rPr lang="en-GB" sz="2400" i="1" kern="0" dirty="0"/>
              <a:t>specifying the entry point!</a:t>
            </a:r>
            <a:endParaRPr lang="en-GB" sz="2400" kern="0" dirty="0"/>
          </a:p>
          <a:p>
            <a:r>
              <a:rPr lang="en-GB" dirty="0"/>
              <a:t>“Unlock” entry</a:t>
            </a:r>
            <a:br>
              <a:rPr lang="en-GB" dirty="0"/>
            </a:br>
            <a:r>
              <a:rPr lang="en-GB" dirty="0"/>
              <a:t>point at runtime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Only the desired call</a:t>
            </a:r>
            <a:br>
              <a:rPr lang="en-GB" dirty="0"/>
            </a:br>
            <a:r>
              <a:rPr lang="en-GB" dirty="0"/>
              <a:t>path is possible!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2F9FE0-1C1A-0293-4D64-059FB0863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E58A1A-391F-6EE0-DE5C-BD8DC11E9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F9C3CC-5F7A-DB28-835C-48A1831FF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23</a:t>
            </a:fld>
            <a:r>
              <a:rPr lang="en-CH"/>
              <a:t> / XX</a:t>
            </a:r>
            <a:endParaRPr lang="en-CH" dirty="0"/>
          </a:p>
        </p:txBody>
      </p:sp>
      <p:pic>
        <p:nvPicPr>
          <p:cNvPr id="8" name="Graphic 7" descr="Shield Tick with solid fill">
            <a:extLst>
              <a:ext uri="{FF2B5EF4-FFF2-40B4-BE49-F238E27FC236}">
                <a16:creationId xmlns:a16="http://schemas.microsoft.com/office/drawing/2014/main" id="{68A8A645-8193-3BE0-AEFF-57048E6E28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006249"/>
            <a:ext cx="523404" cy="523404"/>
          </a:xfrm>
          <a:prstGeom prst="rect">
            <a:avLst/>
          </a:prstGeom>
        </p:spPr>
      </p:pic>
      <p:pic>
        <p:nvPicPr>
          <p:cNvPr id="17" name="Graphic 16" descr="Shield Tick with solid fill">
            <a:extLst>
              <a:ext uri="{FF2B5EF4-FFF2-40B4-BE49-F238E27FC236}">
                <a16:creationId xmlns:a16="http://schemas.microsoft.com/office/drawing/2014/main" id="{6A430F5F-3353-D54C-F733-C139708B2A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592325"/>
            <a:ext cx="523404" cy="52340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0294946-E96C-7518-3566-AB78645A7524}"/>
              </a:ext>
            </a:extLst>
          </p:cNvPr>
          <p:cNvSpPr txBox="1"/>
          <p:nvPr/>
        </p:nvSpPr>
        <p:spPr>
          <a:xfrm>
            <a:off x="7510888" y="4306530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@reenter(</a:t>
            </a:r>
            <a:r>
              <a:rPr lang="en-GB" b="1" dirty="0">
                <a:solidFill>
                  <a:schemeClr val="accent5"/>
                </a:solidFill>
              </a:rPr>
              <a:t>C</a:t>
            </a:r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)</a:t>
            </a:r>
          </a:p>
        </p:txBody>
      </p:sp>
      <p:sp>
        <p:nvSpPr>
          <p:cNvPr id="19" name="Rectangle: Folded Corner 18">
            <a:extLst>
              <a:ext uri="{FF2B5EF4-FFF2-40B4-BE49-F238E27FC236}">
                <a16:creationId xmlns:a16="http://schemas.microsoft.com/office/drawing/2014/main" id="{4DAB3A7D-94CC-47C4-EF89-1F461B6663AD}"/>
              </a:ext>
            </a:extLst>
          </p:cNvPr>
          <p:cNvSpPr/>
          <p:nvPr/>
        </p:nvSpPr>
        <p:spPr>
          <a:xfrm>
            <a:off x="7035113" y="5078849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09E8DB8-BED1-D6BE-7420-19A67224BEF9}"/>
              </a:ext>
            </a:extLst>
          </p:cNvPr>
          <p:cNvCxnSpPr>
            <a:stCxn id="11" idx="3"/>
            <a:endCxn id="19" idx="0"/>
          </p:cNvCxnSpPr>
          <p:nvPr/>
        </p:nvCxnSpPr>
        <p:spPr>
          <a:xfrm>
            <a:off x="7129460" y="4493340"/>
            <a:ext cx="261702" cy="585509"/>
          </a:xfrm>
          <a:prstGeom prst="bentConnector2">
            <a:avLst/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9D281DC9-FBCA-4D1D-E170-2810666AA4C2}"/>
              </a:ext>
            </a:extLst>
          </p:cNvPr>
          <p:cNvCxnSpPr>
            <a:stCxn id="19" idx="1"/>
            <a:endCxn id="15" idx="1"/>
          </p:cNvCxnSpPr>
          <p:nvPr/>
        </p:nvCxnSpPr>
        <p:spPr>
          <a:xfrm rot="10800000">
            <a:off x="5245099" y="4493301"/>
            <a:ext cx="1790015" cy="1024827"/>
          </a:xfrm>
          <a:prstGeom prst="curvedConnector3">
            <a:avLst>
              <a:gd name="adj1" fmla="val 150583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pic>
        <p:nvPicPr>
          <p:cNvPr id="28" name="Graphic 27" descr="Shield Tick with solid fill">
            <a:extLst>
              <a:ext uri="{FF2B5EF4-FFF2-40B4-BE49-F238E27FC236}">
                <a16:creationId xmlns:a16="http://schemas.microsoft.com/office/drawing/2014/main" id="{EB306A0D-AC47-8BF6-59FF-9EA0284ABD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006249"/>
            <a:ext cx="523404" cy="523404"/>
          </a:xfrm>
          <a:prstGeom prst="rect">
            <a:avLst/>
          </a:prstGeom>
        </p:spPr>
      </p:pic>
      <p:pic>
        <p:nvPicPr>
          <p:cNvPr id="30" name="Graphic 29" descr="Shield Tick with solid fill">
            <a:extLst>
              <a:ext uri="{FF2B5EF4-FFF2-40B4-BE49-F238E27FC236}">
                <a16:creationId xmlns:a16="http://schemas.microsoft.com/office/drawing/2014/main" id="{E3DE3299-F774-E517-2482-3E302D2010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592325"/>
            <a:ext cx="523404" cy="523404"/>
          </a:xfrm>
          <a:prstGeom prst="rect">
            <a:avLst/>
          </a:prstGeom>
        </p:spPr>
      </p:pic>
      <p:sp>
        <p:nvSpPr>
          <p:cNvPr id="32" name="Arrow: Chevron 31">
            <a:extLst>
              <a:ext uri="{FF2B5EF4-FFF2-40B4-BE49-F238E27FC236}">
                <a16:creationId xmlns:a16="http://schemas.microsoft.com/office/drawing/2014/main" id="{D93CC7F2-2101-79B8-A354-33829FF69040}"/>
              </a:ext>
            </a:extLst>
          </p:cNvPr>
          <p:cNvSpPr/>
          <p:nvPr/>
        </p:nvSpPr>
        <p:spPr>
          <a:xfrm>
            <a:off x="6417360" y="3701852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8" name="Arrow: Chevron 37">
            <a:extLst>
              <a:ext uri="{FF2B5EF4-FFF2-40B4-BE49-F238E27FC236}">
                <a16:creationId xmlns:a16="http://schemas.microsoft.com/office/drawing/2014/main" id="{BC8DB58F-D0C3-163C-D6CC-0876568A0063}"/>
              </a:ext>
            </a:extLst>
          </p:cNvPr>
          <p:cNvSpPr/>
          <p:nvPr/>
        </p:nvSpPr>
        <p:spPr>
          <a:xfrm>
            <a:off x="6417358" y="4310737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93A45F29-F040-8F9C-2DFA-DE1C0C400CF2}"/>
              </a:ext>
            </a:extLst>
          </p:cNvPr>
          <p:cNvSpPr/>
          <p:nvPr/>
        </p:nvSpPr>
        <p:spPr>
          <a:xfrm>
            <a:off x="6417358" y="4310618"/>
            <a:ext cx="712098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4" name="Arrow: Chevron 33">
            <a:extLst>
              <a:ext uri="{FF2B5EF4-FFF2-40B4-BE49-F238E27FC236}">
                <a16:creationId xmlns:a16="http://schemas.microsoft.com/office/drawing/2014/main" id="{97FFD1D5-3453-61CC-E712-EDA199EE6367}"/>
              </a:ext>
            </a:extLst>
          </p:cNvPr>
          <p:cNvSpPr/>
          <p:nvPr/>
        </p:nvSpPr>
        <p:spPr>
          <a:xfrm>
            <a:off x="6417361" y="3093046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42E5F359-EC1B-520E-25A3-4C81A60E427F}"/>
              </a:ext>
            </a:extLst>
          </p:cNvPr>
          <p:cNvSpPr/>
          <p:nvPr/>
        </p:nvSpPr>
        <p:spPr>
          <a:xfrm>
            <a:off x="5062534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7983524-5C6D-F560-1944-3EFD121819D4}"/>
              </a:ext>
            </a:extLst>
          </p:cNvPr>
          <p:cNvSpPr/>
          <p:nvPr/>
        </p:nvSpPr>
        <p:spPr>
          <a:xfrm>
            <a:off x="5062137" y="431077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6" name="Arrow: Chevron 35">
            <a:extLst>
              <a:ext uri="{FF2B5EF4-FFF2-40B4-BE49-F238E27FC236}">
                <a16:creationId xmlns:a16="http://schemas.microsoft.com/office/drawing/2014/main" id="{A41786B4-B6BD-D2B5-F8CE-A6666359C500}"/>
              </a:ext>
            </a:extLst>
          </p:cNvPr>
          <p:cNvSpPr/>
          <p:nvPr/>
        </p:nvSpPr>
        <p:spPr>
          <a:xfrm>
            <a:off x="5062534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7" name="Arrow: Chevron 36">
            <a:extLst>
              <a:ext uri="{FF2B5EF4-FFF2-40B4-BE49-F238E27FC236}">
                <a16:creationId xmlns:a16="http://schemas.microsoft.com/office/drawing/2014/main" id="{C932F9BC-7EA6-2E5A-B1D5-3271B6CB4995}"/>
              </a:ext>
            </a:extLst>
          </p:cNvPr>
          <p:cNvSpPr/>
          <p:nvPr/>
        </p:nvSpPr>
        <p:spPr>
          <a:xfrm>
            <a:off x="5062535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308376A6-237A-972C-88C8-FC882B959E2F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r>
              <a:rPr lang="en-GB" sz="2000" b="1" dirty="0">
                <a:solidFill>
                  <a:schemeClr val="bg1"/>
                </a:solidFill>
              </a:rPr>
              <a:t>A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B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C</a:t>
            </a:r>
            <a:endParaRPr lang="en-CH" sz="2000" b="1" dirty="0">
              <a:solidFill>
                <a:schemeClr val="bg1"/>
              </a:solidFill>
            </a:endParaRPr>
          </a:p>
        </p:txBody>
      </p:sp>
      <p:pic>
        <p:nvPicPr>
          <p:cNvPr id="39" name="Graphic 38" descr="Shield Tick with solid fill">
            <a:extLst>
              <a:ext uri="{FF2B5EF4-FFF2-40B4-BE49-F238E27FC236}">
                <a16:creationId xmlns:a16="http://schemas.microsoft.com/office/drawing/2014/main" id="{056E8BAA-961F-BD03-4CB9-C709C3FFF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56" y="4225256"/>
            <a:ext cx="523404" cy="523404"/>
          </a:xfrm>
          <a:prstGeom prst="rect">
            <a:avLst/>
          </a:prstGeom>
        </p:spPr>
      </p:pic>
      <p:pic>
        <p:nvPicPr>
          <p:cNvPr id="40" name="Graphic 39" descr="Shield Tick with solid fill">
            <a:extLst>
              <a:ext uri="{FF2B5EF4-FFF2-40B4-BE49-F238E27FC236}">
                <a16:creationId xmlns:a16="http://schemas.microsoft.com/office/drawing/2014/main" id="{9080BD5E-8255-FA97-32AB-C83E8BD62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4225256"/>
            <a:ext cx="523404" cy="523404"/>
          </a:xfrm>
          <a:prstGeom prst="rect">
            <a:avLst/>
          </a:prstGeom>
        </p:spPr>
      </p:pic>
      <p:pic>
        <p:nvPicPr>
          <p:cNvPr id="43" name="Graphic 42" descr="Unlock with solid fill">
            <a:extLst>
              <a:ext uri="{FF2B5EF4-FFF2-40B4-BE49-F238E27FC236}">
                <a16:creationId xmlns:a16="http://schemas.microsoft.com/office/drawing/2014/main" id="{12E3D412-AC2E-DA24-2348-28B1E83079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1503" y="4258358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708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8" grpId="0"/>
      <p:bldP spid="19" grpId="0" animBg="1"/>
      <p:bldP spid="32" grpId="0" animBg="1"/>
      <p:bldP spid="38" grpId="0" animBg="1"/>
      <p:bldP spid="33" grpId="0" animBg="1"/>
      <p:bldP spid="34" grpId="0" animBg="1"/>
      <p:bldP spid="35" grpId="0" animBg="1"/>
      <p:bldP spid="41" grpId="0" animBg="1"/>
      <p:bldP spid="36" grpId="0" animBg="1"/>
      <p:bldP spid="3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D3DA1-AE7A-6A65-0AC8-E2A706F36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A79D85-E6C7-F46C-0946-99D275B65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Blockchain state is the only thing that persists</a:t>
            </a:r>
          </a:p>
          <a:p>
            <a:pPr lvl="1"/>
            <a:r>
              <a:rPr lang="en-CH" dirty="0"/>
              <a:t>execution only serves to determine state changes</a:t>
            </a:r>
          </a:p>
          <a:p>
            <a:r>
              <a:rPr lang="en-CH" dirty="0"/>
              <a:t>Ordering is important!</a:t>
            </a:r>
          </a:p>
          <a:p>
            <a:pPr lvl="1"/>
            <a:r>
              <a:rPr lang="en-CH" dirty="0"/>
              <a:t>Solidity and </a:t>
            </a:r>
            <a:r>
              <a:rPr lang="en-CH" dirty="0" err="1"/>
              <a:t>Vyper</a:t>
            </a:r>
            <a:r>
              <a:rPr lang="en-CH" dirty="0"/>
              <a:t> have ambiguous execution order</a:t>
            </a:r>
          </a:p>
          <a:p>
            <a:pPr lvl="2"/>
            <a:r>
              <a:rPr lang="en-CH" dirty="0"/>
              <a:t>e.g.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f</a:t>
            </a:r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(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g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  <a:latin typeface="Lucida Console" panose="020B0609040504020204" pitchFamily="49" charset="0"/>
              </a:rPr>
              <a:t>,</a:t>
            </a:r>
            <a:r>
              <a:rPr lang="en-CH" dirty="0">
                <a:latin typeface="Lucida Console" panose="020B0609040504020204" pitchFamily="49" charset="0"/>
              </a:rPr>
              <a:t>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h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)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CH" dirty="0"/>
              <a:t>no warning!</a:t>
            </a:r>
          </a:p>
          <a:p>
            <a:pPr marL="0" indent="0">
              <a:buNone/>
            </a:pPr>
            <a:endParaRPr lang="en-CH" dirty="0"/>
          </a:p>
          <a:p>
            <a:r>
              <a:rPr lang="en-CH" dirty="0"/>
              <a:t>Auditor’s perspective:</a:t>
            </a:r>
          </a:p>
          <a:p>
            <a:pPr lvl="1"/>
            <a:r>
              <a:rPr lang="en-CH" dirty="0"/>
              <a:t>Which entry-points cause which side effects?</a:t>
            </a:r>
          </a:p>
          <a:p>
            <a:pPr lvl="1"/>
            <a:r>
              <a:rPr lang="en-CH" dirty="0"/>
              <a:t>Which effects may have unexpected interactions?</a:t>
            </a:r>
          </a:p>
          <a:p>
            <a:pPr lvl="1"/>
            <a:r>
              <a:rPr lang="en-CH" dirty="0"/>
              <a:t>Can side effects violate contract invariants?</a:t>
            </a:r>
          </a:p>
          <a:p>
            <a:endParaRPr lang="en-CH" dirty="0"/>
          </a:p>
          <a:p>
            <a:endParaRPr lang="en-CH" dirty="0"/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C3E02-69EB-3F11-AB27-F4DECABB6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DAF33-12F0-7C10-0A41-5821AA643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781EEE-094C-6BDC-2A17-C5711190B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459595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A2A0E-AF0D-57FD-A52E-B67C83F62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8CE39-FBCF-1731-012A-BAB1B188D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How can we help developers / auditors manage side effects?</a:t>
            </a:r>
          </a:p>
          <a:p>
            <a:pPr lvl="1"/>
            <a:r>
              <a:rPr lang="en-CH" dirty="0"/>
              <a:t>Make them explicit (no “hidden” / implicit effects)</a:t>
            </a:r>
          </a:p>
          <a:p>
            <a:pPr lvl="1"/>
            <a:r>
              <a:rPr lang="en-CH" dirty="0"/>
              <a:t>Never allow ambiguous orderings</a:t>
            </a:r>
          </a:p>
          <a:p>
            <a:pPr lvl="1"/>
            <a:endParaRPr lang="en-CH" dirty="0"/>
          </a:p>
          <a:p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0FC6E-931F-9CB6-1CC2-0A6012102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225618-9A56-E0D9-8725-A6CE2E4EB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E50307-901F-096A-27AF-165F6F1BC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2472053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0D235-5391-6041-27DD-645EB7A96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AB33A-3BA8-F5F2-90AF-E9D267A53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551274E-5B88-B413-8C0A-EB3D995BF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C8027EE-2D8D-4737-003E-417AA169D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357E5AD-CFFD-A13B-184B-D33E6AE2A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5C35EB-1F14-1F58-3578-2E767AA9A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1FFB9B9-863F-D474-8ED9-85AA4AF2C0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921488"/>
            <a:ext cx="4798381" cy="5277700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E7F6979-58E7-7427-84E9-989BCA2CDE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921488"/>
            <a:ext cx="438016" cy="5277700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A47716-12F0-B4A9-52F2-6554B474D34C}"/>
              </a:ext>
            </a:extLst>
          </p:cNvPr>
          <p:cNvCxnSpPr>
            <a:cxnSpLocks/>
          </p:cNvCxnSpPr>
          <p:nvPr/>
        </p:nvCxnSpPr>
        <p:spPr>
          <a:xfrm>
            <a:off x="6562506" y="921488"/>
            <a:ext cx="0" cy="52777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17276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6C5F3-4B11-87AC-74AE-8337ED4B9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80A3C-0C77-BC72-9CCE-E138D82A9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4B738AA-1444-5EFB-F19D-359709586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04B9508E-6E30-F9CF-70AD-036B6A979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E72FA0B-F9D4-07B8-4072-8BF51645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8A9375-C0F4-21E7-B7DA-4FB70E899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r>
              <a:rPr lang="en-CH" dirty="0"/>
              <a:t>Issue 1:</a:t>
            </a:r>
          </a:p>
          <a:p>
            <a:pPr marL="0" indent="0">
              <a:buNone/>
            </a:pPr>
            <a:r>
              <a:rPr lang="en-CH" dirty="0"/>
              <a:t>Determine effects without reading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/>
              <a:t> body</a:t>
            </a:r>
          </a:p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/>
              <a:t>Issue 2:</a:t>
            </a:r>
          </a:p>
          <a:p>
            <a:pPr marL="0" indent="0">
              <a:buNone/>
            </a:pPr>
            <a:r>
              <a:rPr lang="en-CH" dirty="0"/>
              <a:t>Hidden side effects in syntax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BAE32DE-537D-2748-7F43-922BCB0D95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921488"/>
            <a:ext cx="4798381" cy="5277700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81996E3-ED27-7A5B-37B3-0394B5459F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921488"/>
            <a:ext cx="438016" cy="5277700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826CA50-B653-FBF7-CB47-4A64A09ED0C3}"/>
              </a:ext>
            </a:extLst>
          </p:cNvPr>
          <p:cNvCxnSpPr>
            <a:cxnSpLocks/>
          </p:cNvCxnSpPr>
          <p:nvPr/>
        </p:nvCxnSpPr>
        <p:spPr>
          <a:xfrm>
            <a:off x="6562506" y="921488"/>
            <a:ext cx="0" cy="52777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B3BA5A3F-D9D6-6F16-1316-33B7169A31C8}"/>
              </a:ext>
            </a:extLst>
          </p:cNvPr>
          <p:cNvGrpSpPr/>
          <p:nvPr/>
        </p:nvGrpSpPr>
        <p:grpSpPr>
          <a:xfrm>
            <a:off x="6115510" y="921488"/>
            <a:ext cx="5238289" cy="5272586"/>
            <a:chOff x="6124908" y="1516911"/>
            <a:chExt cx="5238289" cy="527258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FA5BFF4-4F23-41AC-6467-FB3FFFEF8A5A}"/>
                </a:ext>
              </a:extLst>
            </p:cNvPr>
            <p:cNvSpPr/>
            <p:nvPr/>
          </p:nvSpPr>
          <p:spPr>
            <a:xfrm>
              <a:off x="6124909" y="1516911"/>
              <a:ext cx="5227000" cy="126881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F662E06-C10A-D037-6E2B-7EFDCDF22A79}"/>
                </a:ext>
              </a:extLst>
            </p:cNvPr>
            <p:cNvSpPr/>
            <p:nvPr/>
          </p:nvSpPr>
          <p:spPr>
            <a:xfrm>
              <a:off x="6124908" y="5819552"/>
              <a:ext cx="5227000" cy="969945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D9CB37D-B155-7943-1428-49995D499DC4}"/>
                </a:ext>
              </a:extLst>
            </p:cNvPr>
            <p:cNvSpPr/>
            <p:nvPr/>
          </p:nvSpPr>
          <p:spPr>
            <a:xfrm>
              <a:off x="6126797" y="4319459"/>
              <a:ext cx="5236400" cy="592783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3602628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77C2F-6F7C-855C-DCBE-5626F0B15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08257-3154-956C-4D9E-0DE3ED3F0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18357DB4-787E-D9E2-F802-F6E7A3068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EDB7B7E-BA13-9916-CB8C-A96AD1DE5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05B9856-F1F2-E225-646E-9EF2CB51A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CA39BB-8ECC-08DA-1115-31C4886197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/>
              <a:t>Solution 1:</a:t>
            </a:r>
          </a:p>
          <a:p>
            <a:pPr marL="0" indent="0">
              <a:buNone/>
            </a:pPr>
            <a:r>
              <a:rPr lang="en-CH" dirty="0"/>
              <a:t>Include effects in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/>
              <a:t> signature</a:t>
            </a:r>
          </a:p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/>
              <a:t>Solution 2:</a:t>
            </a:r>
          </a:p>
          <a:p>
            <a:pPr marL="0" indent="0">
              <a:buNone/>
            </a:pPr>
            <a:r>
              <a:rPr lang="en-CH" dirty="0"/>
              <a:t>Annotate inline effects</a:t>
            </a:r>
          </a:p>
          <a:p>
            <a:pPr marL="0" indent="0">
              <a:buNone/>
            </a:pPr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EEBC02-D554-2E4C-E9D9-E7DB71D17C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921488"/>
            <a:ext cx="4798381" cy="5277700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4"/>
                </a:solidFill>
              </a:rPr>
              <a:t>modify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 {</a:t>
            </a:r>
            <a:endParaRPr lang="en-CH" dirty="0"/>
          </a:p>
          <a:p>
            <a:r>
              <a:rPr lang="en-CH" dirty="0"/>
              <a:t>  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4257C67B-666C-DDC0-6A24-490BAC7C547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921488"/>
            <a:ext cx="438016" cy="5277700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endParaRPr lang="en-CH" dirty="0"/>
          </a:p>
        </p:txBody>
      </p:sp>
      <p:sp>
        <p:nvSpPr>
          <p:cNvPr id="29" name="Text Placeholder 13">
            <a:extLst>
              <a:ext uri="{FF2B5EF4-FFF2-40B4-BE49-F238E27FC236}">
                <a16:creationId xmlns:a16="http://schemas.microsoft.com/office/drawing/2014/main" id="{689028BC-94A7-0262-24B1-1A1A7D7D6746}"/>
              </a:ext>
            </a:extLst>
          </p:cNvPr>
          <p:cNvSpPr txBox="1">
            <a:spLocks/>
          </p:cNvSpPr>
          <p:nvPr/>
        </p:nvSpPr>
        <p:spPr>
          <a:xfrm>
            <a:off x="6555600" y="921600"/>
            <a:ext cx="4798381" cy="5277700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>
                <a:solidFill>
                  <a:schemeClr val="accent1"/>
                </a:solidFill>
              </a:rPr>
              <a:t> 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28" name="Text Placeholder 13">
            <a:extLst>
              <a:ext uri="{FF2B5EF4-FFF2-40B4-BE49-F238E27FC236}">
                <a16:creationId xmlns:a16="http://schemas.microsoft.com/office/drawing/2014/main" id="{1F1D8720-6E8D-7319-1D01-81F189B14E6E}"/>
              </a:ext>
            </a:extLst>
          </p:cNvPr>
          <p:cNvSpPr txBox="1">
            <a:spLocks/>
          </p:cNvSpPr>
          <p:nvPr/>
        </p:nvSpPr>
        <p:spPr>
          <a:xfrm>
            <a:off x="6555418" y="921600"/>
            <a:ext cx="4798381" cy="5277700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CB1F2DC-2BF5-D480-9368-19A3A14FB111}"/>
              </a:ext>
            </a:extLst>
          </p:cNvPr>
          <p:cNvCxnSpPr>
            <a:cxnSpLocks/>
          </p:cNvCxnSpPr>
          <p:nvPr/>
        </p:nvCxnSpPr>
        <p:spPr>
          <a:xfrm>
            <a:off x="6562506" y="921488"/>
            <a:ext cx="0" cy="52777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EED68FB-A4D7-D741-DD32-7FB58DA7D508}"/>
              </a:ext>
            </a:extLst>
          </p:cNvPr>
          <p:cNvGrpSpPr/>
          <p:nvPr/>
        </p:nvGrpSpPr>
        <p:grpSpPr>
          <a:xfrm>
            <a:off x="6115510" y="921488"/>
            <a:ext cx="5238289" cy="5272586"/>
            <a:chOff x="6124908" y="1516911"/>
            <a:chExt cx="5238289" cy="5272586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79DF3F1-9A00-6DC8-9398-451CE12DE4F9}"/>
                </a:ext>
              </a:extLst>
            </p:cNvPr>
            <p:cNvSpPr/>
            <p:nvPr/>
          </p:nvSpPr>
          <p:spPr>
            <a:xfrm>
              <a:off x="6124909" y="1516911"/>
              <a:ext cx="5227000" cy="126881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38651F3-969C-2808-6859-96D26728C03C}"/>
                </a:ext>
              </a:extLst>
            </p:cNvPr>
            <p:cNvSpPr/>
            <p:nvPr/>
          </p:nvSpPr>
          <p:spPr>
            <a:xfrm>
              <a:off x="6124908" y="5819552"/>
              <a:ext cx="5227000" cy="969945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AD7648E-6E9F-B697-BEAD-0E7124073C0D}"/>
                </a:ext>
              </a:extLst>
            </p:cNvPr>
            <p:cNvSpPr/>
            <p:nvPr/>
          </p:nvSpPr>
          <p:spPr>
            <a:xfrm>
              <a:off x="6126797" y="4319459"/>
              <a:ext cx="5236400" cy="592783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30759E8-8FA7-DD84-0DA0-766F6C770124}"/>
              </a:ext>
            </a:extLst>
          </p:cNvPr>
          <p:cNvGrpSpPr/>
          <p:nvPr/>
        </p:nvGrpSpPr>
        <p:grpSpPr>
          <a:xfrm>
            <a:off x="7194698" y="2930396"/>
            <a:ext cx="4189223" cy="646331"/>
            <a:chOff x="7194698" y="2930396"/>
            <a:chExt cx="4189223" cy="64633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5C762E6-3612-330C-9CCC-E6AE09FF8647}"/>
                </a:ext>
              </a:extLst>
            </p:cNvPr>
            <p:cNvSpPr txBox="1"/>
            <p:nvPr/>
          </p:nvSpPr>
          <p:spPr>
            <a:xfrm>
              <a:off x="9115642" y="2930396"/>
              <a:ext cx="226827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No annotation here – effect is visible!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1DEF2DD-D4AE-3479-1054-0931F653A126}"/>
                </a:ext>
              </a:extLst>
            </p:cNvPr>
            <p:cNvSpPr/>
            <p:nvPr/>
          </p:nvSpPr>
          <p:spPr>
            <a:xfrm>
              <a:off x="7194698" y="3012558"/>
              <a:ext cx="1920944" cy="482009"/>
            </a:xfrm>
            <a:prstGeom prst="rect">
              <a:avLst/>
            </a:prstGeom>
            <a:solidFill>
              <a:srgbClr val="FFF2CC">
                <a:alpha val="19000"/>
              </a:srgbClr>
            </a:solidFill>
            <a:ln>
              <a:solidFill>
                <a:schemeClr val="accent5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4197181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9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D7BE3-1BB2-916D-8952-2FA0E44BF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87EA-51A7-D638-C8BE-2AB1CCCB2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ED1BAAB-31D8-1966-8F89-FC4A9F327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00826C5-C031-5C1C-076C-77BFD544B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7FBE47B-9A63-B8C4-5CE0-8BA4944F2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5EAF3B-65F9-DB65-7130-5CD12917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r>
              <a:rPr lang="en-CH" dirty="0"/>
              <a:t>Issue:</a:t>
            </a:r>
          </a:p>
          <a:p>
            <a:r>
              <a:rPr lang="en-CH" dirty="0"/>
              <a:t>Unknown side effects in external call</a:t>
            </a:r>
          </a:p>
          <a:p>
            <a:r>
              <a:rPr lang="en-CH" dirty="0"/>
              <a:t>Internal state may change due to </a:t>
            </a:r>
            <a:r>
              <a:rPr lang="en-CH" dirty="0" err="1"/>
              <a:t>reentrant</a:t>
            </a:r>
            <a:r>
              <a:rPr lang="en-CH" dirty="0"/>
              <a:t> calls</a:t>
            </a:r>
          </a:p>
          <a:p>
            <a:endParaRPr lang="en-CH" dirty="0"/>
          </a:p>
          <a:p>
            <a:pPr marL="0" indent="0">
              <a:buNone/>
            </a:pP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We can leverage our reentrancy protection!</a:t>
            </a:r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B3A2B27-05B9-A72B-C7E6-60B6DA39AA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365125"/>
            <a:ext cx="4798381" cy="5834063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address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data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58C9DC8-BE7F-1EC9-791F-76D58FF3BA8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365125"/>
            <a:ext cx="438016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3F4DC1E-B81A-E43D-555F-41382143C174}"/>
              </a:ext>
            </a:extLst>
          </p:cNvPr>
          <p:cNvCxnSpPr>
            <a:cxnSpLocks/>
          </p:cNvCxnSpPr>
          <p:nvPr/>
        </p:nvCxnSpPr>
        <p:spPr>
          <a:xfrm>
            <a:off x="656250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5810BB6E-0B88-0026-B419-A5C4DEE90C95}"/>
              </a:ext>
            </a:extLst>
          </p:cNvPr>
          <p:cNvGrpSpPr/>
          <p:nvPr/>
        </p:nvGrpSpPr>
        <p:grpSpPr>
          <a:xfrm>
            <a:off x="6115509" y="363600"/>
            <a:ext cx="5238290" cy="5834063"/>
            <a:chOff x="6115509" y="365125"/>
            <a:chExt cx="5238290" cy="583253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CAB620E-3005-EDC0-DB88-641E6DA155C6}"/>
                </a:ext>
              </a:extLst>
            </p:cNvPr>
            <p:cNvSpPr/>
            <p:nvPr/>
          </p:nvSpPr>
          <p:spPr>
            <a:xfrm>
              <a:off x="6115509" y="5309191"/>
              <a:ext cx="5236400" cy="88847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E92196B-1E7E-391B-A76E-6E58FD8635CE}"/>
                </a:ext>
              </a:extLst>
            </p:cNvPr>
            <p:cNvSpPr/>
            <p:nvPr/>
          </p:nvSpPr>
          <p:spPr>
            <a:xfrm>
              <a:off x="6117399" y="365125"/>
              <a:ext cx="5236400" cy="4001311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466073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E1850-B514-10C8-AB32-AA7C4A16D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56515-9047-46E3-1E02-E5276E1AA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87D479B5-CF5E-7F26-1B9D-876529F3B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2D73AA9-7AE4-C5D4-8142-5FCBF945E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B69F128-EB9B-5D93-E0B1-2B37FFDE0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90409C-F1F9-AF4A-92E7-22C20366D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r>
              <a:rPr lang="en-CH" dirty="0"/>
              <a:t>Call can only reenter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inc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Treat it like any other function call!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C3D6FE0-53DF-B80A-48C3-4264A160D4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365125"/>
            <a:ext cx="4798381" cy="5834063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call_reenter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…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inc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C3B10A4-76C8-D4B0-F91D-7992F0A1268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365125"/>
            <a:ext cx="438016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  <a:p>
            <a:endParaRPr lang="en-CH" dirty="0"/>
          </a:p>
        </p:txBody>
      </p:sp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A2C319D6-252F-33DA-0B04-68B894A1EC3A}"/>
              </a:ext>
            </a:extLst>
          </p:cNvPr>
          <p:cNvSpPr txBox="1">
            <a:spLocks/>
          </p:cNvSpPr>
          <p:nvPr/>
        </p:nvSpPr>
        <p:spPr>
          <a:xfrm>
            <a:off x="6555600" y="363600"/>
            <a:ext cx="4798381" cy="5834063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modify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 {</a:t>
            </a:r>
          </a:p>
          <a:p>
            <a:r>
              <a:rPr lang="en-CH" dirty="0">
                <a:solidFill>
                  <a:schemeClr val="accent5"/>
                </a:solidFill>
              </a:rPr>
              <a:t>  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call_reenter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…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inc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D2B8E48-21D0-7B03-D830-B5CBA196E98A}"/>
              </a:ext>
            </a:extLst>
          </p:cNvPr>
          <p:cNvCxnSpPr>
            <a:cxnSpLocks/>
          </p:cNvCxnSpPr>
          <p:nvPr/>
        </p:nvCxnSpPr>
        <p:spPr>
          <a:xfrm>
            <a:off x="656250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5E260A20-2509-4C31-E6C6-4EF5EB7FC546}"/>
              </a:ext>
            </a:extLst>
          </p:cNvPr>
          <p:cNvGrpSpPr/>
          <p:nvPr/>
        </p:nvGrpSpPr>
        <p:grpSpPr>
          <a:xfrm>
            <a:off x="6115509" y="363600"/>
            <a:ext cx="5238290" cy="5834063"/>
            <a:chOff x="6115509" y="365125"/>
            <a:chExt cx="5238290" cy="583253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57F53EF-4587-2CBB-B14B-38D89208019A}"/>
                </a:ext>
              </a:extLst>
            </p:cNvPr>
            <p:cNvSpPr/>
            <p:nvPr/>
          </p:nvSpPr>
          <p:spPr>
            <a:xfrm>
              <a:off x="6115509" y="5309191"/>
              <a:ext cx="5236399" cy="88847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A4A8F25-BE6B-04EF-2CEB-2B57FEEAAE83}"/>
                </a:ext>
              </a:extLst>
            </p:cNvPr>
            <p:cNvSpPr/>
            <p:nvPr/>
          </p:nvSpPr>
          <p:spPr>
            <a:xfrm>
              <a:off x="6117399" y="365125"/>
              <a:ext cx="5236400" cy="4001311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319255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54E84-A344-14A5-5ABA-16FD2F8FF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FBDBA-E8FE-4B86-0F4C-4CAE53EC8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CA1DA95-5DE3-EC17-00BA-4A80B6052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4904765-8631-1024-B517-79EAB9B4F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C26937F-FAF4-29C3-CBB0-DA9FD27AF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F7F413-942B-FB7C-C0E4-9F32FDBF96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782879" cy="4351338"/>
          </a:xfrm>
        </p:spPr>
        <p:txBody>
          <a:bodyPr/>
          <a:lstStyle/>
          <a:p>
            <a:r>
              <a:rPr lang="en-CH" dirty="0"/>
              <a:t>Call can only reenter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inc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Treat it like any other</a:t>
            </a:r>
            <a:br>
              <a:rPr lang="en-CH" dirty="0"/>
            </a:br>
            <a:r>
              <a:rPr lang="en-CH" dirty="0"/>
              <a:t>function call!</a:t>
            </a:r>
          </a:p>
          <a:p>
            <a:pPr>
              <a:buFont typeface="Aptos" panose="020B0004020202020204" pitchFamily="34" charset="0"/>
              <a:buChar char="→"/>
            </a:pPr>
            <a:endParaRPr lang="en-CH" dirty="0"/>
          </a:p>
          <a:p>
            <a:r>
              <a:rPr lang="en-CH" dirty="0"/>
              <a:t>Add reentrancy to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/>
              <a:t> signature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709A5B3-5568-604B-BD6B-ADF2EB3866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365125"/>
            <a:ext cx="4798381" cy="5834063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</a:t>
            </a:r>
            <a:r>
              <a:rPr lang="en-CH" sz="1800" dirty="0">
                <a:solidFill>
                  <a:schemeClr val="accent4"/>
                </a:solidFill>
              </a:rPr>
              <a:t>modifies</a:t>
            </a:r>
            <a:r>
              <a:rPr lang="en-CH" sz="1800" dirty="0">
                <a:solidFill>
                  <a:schemeClr val="accent1"/>
                </a:solidFill>
              </a:rPr>
              <a:t>(</a:t>
            </a:r>
            <a:r>
              <a:rPr lang="en-CH" sz="1800" dirty="0">
                <a:solidFill>
                  <a:schemeClr val="accent3"/>
                </a:solidFill>
              </a:rPr>
              <a:t>self</a:t>
            </a:r>
            <a:r>
              <a:rPr lang="en-CH" sz="1800" dirty="0">
                <a:solidFill>
                  <a:schemeClr val="accent1"/>
                </a:solidFill>
              </a:rPr>
              <a:t>.</a:t>
            </a:r>
            <a:r>
              <a:rPr lang="en-CH" sz="1800" dirty="0"/>
              <a:t>n</a:t>
            </a:r>
            <a:r>
              <a:rPr lang="en-CH" sz="1800" dirty="0">
                <a:solidFill>
                  <a:schemeClr val="accent1"/>
                </a:solidFill>
              </a:rPr>
              <a:t>) </a:t>
            </a:r>
            <a:r>
              <a:rPr lang="en-CH" sz="1800" dirty="0">
                <a:solidFill>
                  <a:schemeClr val="accent4"/>
                </a:solidFill>
              </a:rPr>
              <a:t>reenters</a:t>
            </a:r>
            <a:r>
              <a:rPr lang="en-CH" sz="1800" dirty="0">
                <a:solidFill>
                  <a:schemeClr val="accent1"/>
                </a:solidFill>
              </a:rPr>
              <a:t>(</a:t>
            </a:r>
            <a:r>
              <a:rPr lang="en-CH" sz="1800" dirty="0"/>
              <a:t>inc</a:t>
            </a:r>
            <a:r>
              <a:rPr lang="en-CH" sz="1800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modify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 {</a:t>
            </a:r>
          </a:p>
          <a:p>
            <a:r>
              <a:rPr lang="en-CH" dirty="0">
                <a:solidFill>
                  <a:schemeClr val="accent5"/>
                </a:solidFill>
              </a:rPr>
              <a:t>  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call_reenter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…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inc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5BDD6F2-900F-098C-146C-AFDDC61AB5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365125"/>
            <a:ext cx="438016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249FA5A-6D35-9AB1-2767-4B5BFC25DC01}"/>
              </a:ext>
            </a:extLst>
          </p:cNvPr>
          <p:cNvCxnSpPr>
            <a:cxnSpLocks/>
          </p:cNvCxnSpPr>
          <p:nvPr/>
        </p:nvCxnSpPr>
        <p:spPr>
          <a:xfrm>
            <a:off x="656250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1B1B5CD-6796-254C-959F-3F1119339B01}"/>
              </a:ext>
            </a:extLst>
          </p:cNvPr>
          <p:cNvGrpSpPr/>
          <p:nvPr/>
        </p:nvGrpSpPr>
        <p:grpSpPr>
          <a:xfrm>
            <a:off x="6115509" y="363601"/>
            <a:ext cx="5238290" cy="5835586"/>
            <a:chOff x="6115509" y="365126"/>
            <a:chExt cx="5238290" cy="583406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8361C96-1704-C35D-386A-6AF244254D5F}"/>
                </a:ext>
              </a:extLst>
            </p:cNvPr>
            <p:cNvSpPr/>
            <p:nvPr/>
          </p:nvSpPr>
          <p:spPr>
            <a:xfrm>
              <a:off x="6115509" y="3771648"/>
              <a:ext cx="5236399" cy="242753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8B695A7-8E22-A810-D33F-12BAB5091B45}"/>
                </a:ext>
              </a:extLst>
            </p:cNvPr>
            <p:cNvSpPr/>
            <p:nvPr/>
          </p:nvSpPr>
          <p:spPr>
            <a:xfrm>
              <a:off x="6117399" y="365126"/>
              <a:ext cx="5236400" cy="3091261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21631676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987A4-CB18-E221-C674-DF4E29E1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Algebraic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830FA-DAEA-DD69-905A-88711DF92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Nothing new here</a:t>
            </a:r>
          </a:p>
          <a:p>
            <a:r>
              <a:rPr lang="en-CH" dirty="0"/>
              <a:t>Existing compilers for EVM do not support ADTs</a:t>
            </a:r>
          </a:p>
          <a:p>
            <a:r>
              <a:rPr lang="en-CH" dirty="0"/>
              <a:t>Contracts often model state machines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Perfect application for ADTs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5400E-83BE-450A-7A6E-E6E2291F3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855415-73DD-8FC9-8CF8-148611EBD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9BB03-FB2C-D500-1417-95BF45240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7369472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548EB-A572-442A-F27A-AF0985402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F22FD-7612-5B49-D7E1-312D7C689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Initial goal: Functional language</a:t>
            </a:r>
          </a:p>
          <a:p>
            <a:pPr lvl="1"/>
            <a:r>
              <a:rPr lang="en-CH" dirty="0"/>
              <a:t>Not widely used, difficult to learn</a:t>
            </a:r>
          </a:p>
          <a:p>
            <a:r>
              <a:rPr lang="en-CH" dirty="0"/>
              <a:t>Language syntax closely based on </a:t>
            </a:r>
            <a:r>
              <a:rPr lang="en-CH" dirty="0">
                <a:solidFill>
                  <a:schemeClr val="accent3"/>
                </a:solidFill>
              </a:rPr>
              <a:t>Rust</a:t>
            </a:r>
          </a:p>
          <a:p>
            <a:pPr lvl="1"/>
            <a:r>
              <a:rPr lang="en-CH" dirty="0"/>
              <a:t>Popular → Easier to adopt</a:t>
            </a:r>
          </a:p>
          <a:p>
            <a:pPr lvl="1"/>
            <a:r>
              <a:rPr lang="en-CH" dirty="0"/>
              <a:t>Safety by default</a:t>
            </a:r>
          </a:p>
          <a:p>
            <a:pPr lvl="1"/>
            <a:r>
              <a:rPr lang="en-CH" dirty="0"/>
              <a:t>ADTs, pattern matching</a:t>
            </a:r>
          </a:p>
          <a:p>
            <a:pPr lvl="1"/>
            <a:r>
              <a:rPr lang="en-CH" dirty="0"/>
              <a:t>“Low-level”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97E6B-B5EB-954C-2955-F613EC662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E62AF6-C738-B4D2-E63C-564078CB3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98BFE-A4C2-D161-D034-0B143A113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206407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B6FC9-D41A-BD55-E4C8-A195F7784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Feature 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6BC07-CFC9-0CEE-1E37-BF9696F84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structs, traits as in Rust</a:t>
            </a:r>
          </a:p>
          <a:p>
            <a:r>
              <a:rPr lang="en-CH" dirty="0"/>
              <a:t>“Dual” types:</a:t>
            </a:r>
          </a:p>
          <a:p>
            <a:pPr lvl="1"/>
            <a:r>
              <a:rPr lang="en-CH" dirty="0"/>
              <a:t>contract &lt;-&gt; struct</a:t>
            </a:r>
          </a:p>
          <a:p>
            <a:pPr lvl="1"/>
            <a:r>
              <a:rPr lang="en-CH" dirty="0" err="1"/>
              <a:t>abi</a:t>
            </a:r>
            <a:r>
              <a:rPr lang="en-CH" dirty="0"/>
              <a:t> &lt;-&gt; trait</a:t>
            </a:r>
          </a:p>
          <a:p>
            <a:r>
              <a:rPr lang="en-CH" dirty="0" err="1"/>
              <a:t>enums</a:t>
            </a:r>
            <a:r>
              <a:rPr lang="en-CH" dirty="0"/>
              <a:t> in Rust are just ADTs</a:t>
            </a:r>
          </a:p>
          <a:p>
            <a:r>
              <a:rPr lang="en-CH" dirty="0"/>
              <a:t>Generics and trait bounds</a:t>
            </a:r>
          </a:p>
          <a:p>
            <a:pPr lvl="1"/>
            <a:r>
              <a:rPr lang="en-CH" dirty="0"/>
              <a:t>intended for Result types, still experimental</a:t>
            </a:r>
          </a:p>
          <a:p>
            <a:r>
              <a:rPr lang="en-CH" dirty="0"/>
              <a:t>Type inference (Hindley-Milner)</a:t>
            </a:r>
          </a:p>
          <a:p>
            <a:r>
              <a:rPr lang="en-CH" dirty="0"/>
              <a:t>Side effect checks (lenient or strict)</a:t>
            </a:r>
          </a:p>
          <a:p>
            <a:pPr marL="0" indent="0">
              <a:buNone/>
            </a:pP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2A1AB0-A82D-0E72-36FD-899895E4F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8FA1-D025-3154-1213-E80FBCD39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98429-F015-90EA-5E13-B00BF6568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227033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B8CB-2377-1A0D-E4B1-8D7C68253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Compilation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B7248-1AA5-4A82-38A4-38D3E0027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First: Type inference, side effect checks, monomorphization</a:t>
            </a:r>
          </a:p>
          <a:p>
            <a:r>
              <a:rPr lang="en-CH" dirty="0"/>
              <a:t>Generates </a:t>
            </a:r>
            <a:r>
              <a:rPr lang="en-CH" dirty="0">
                <a:solidFill>
                  <a:schemeClr val="accent2"/>
                </a:solidFill>
              </a:rPr>
              <a:t>Solidity</a:t>
            </a:r>
            <a:r>
              <a:rPr lang="en-CH" dirty="0"/>
              <a:t> code</a:t>
            </a:r>
          </a:p>
          <a:p>
            <a:pPr lvl="1"/>
            <a:r>
              <a:rPr lang="en-CH" dirty="0"/>
              <a:t>Granular control over memory</a:t>
            </a:r>
          </a:p>
          <a:p>
            <a:pPr lvl="1"/>
            <a:r>
              <a:rPr lang="en-CH" dirty="0"/>
              <a:t>Produces optimized bytecode</a:t>
            </a:r>
          </a:p>
          <a:p>
            <a:pPr lvl="1"/>
            <a:r>
              <a:rPr lang="en-CH" dirty="0"/>
              <a:t>“Inline assembly” for specific behaviour</a:t>
            </a:r>
          </a:p>
          <a:p>
            <a:pPr lvl="1"/>
            <a:r>
              <a:rPr lang="en-CH" dirty="0"/>
              <a:t>Guaranteed compatibility with existing contracts</a:t>
            </a:r>
          </a:p>
          <a:p>
            <a:pPr lvl="1"/>
            <a:r>
              <a:rPr lang="en-CH" dirty="0"/>
              <a:t>Can use existing testing / deployment tools</a:t>
            </a:r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7B20A-B1C5-2F73-91AB-F78A0EB1B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CA4FA-19F6-DBA9-F9E0-2CD483526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62688-47C4-61C2-485F-BC34E504C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898306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7975A-CF16-8402-984D-E9993E4B3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CFC4B-4DDA-657F-8EE5-F7905D727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Evaluation &amp;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1B531C-3B69-CE96-57B2-1CAE0ED46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How did you test your new tool against the limitations of the old ones?</a:t>
            </a:r>
          </a:p>
          <a:p>
            <a:r>
              <a:rPr lang="en-CH" dirty="0"/>
              <a:t>Present key metrics, user studies, or performance data proving your approach works.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5DDE4AE-C734-3CF5-F086-2A87CCBC1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15CC2FF-0062-D831-663A-CD4B8BDDD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946B7E4-F7FD-9F4D-05DD-AFAB40254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36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189266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BC46B-551E-AB41-F6BD-AD90740DD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DF9B8A-D3FB-DCE7-91C8-0078921B07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92E660-6274-CAB3-1E76-E66D6392C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8E735-1875-850E-7082-26F73F6C9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D2D1F0-66B8-C97A-37DE-4CEB717B6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37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9132727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FA1AF-D3B7-4197-B4AA-D9F2112CA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16033-2719-5D00-2C17-DAAF07A7A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Conclusion &amp;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AB248D-3648-CB55-611C-BDBCC3D96A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Summarize your main contributions (identified gap -&gt; novel approach -&gt; working tool).</a:t>
            </a:r>
          </a:p>
          <a:p>
            <a:r>
              <a:rPr lang="en-CH" dirty="0"/>
              <a:t>Briefly mention what could be done next.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9B9A612-775D-998B-1D7A-D2B46DF8D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60BCA54-D022-260C-5931-14F12AB49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B7D8A20-A614-B8EC-88C2-4B7D500B6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38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1890429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A24B2-0BCB-536E-3C94-3974987D0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1BC9C-2DBC-4906-EEF7-0EAE2FD8F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64DF2-C902-80E3-AA11-7B92E60D34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A clean slide thanking the audience and opening the floor for questions.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FDCC38E-1A4D-CEFF-E68B-F5C34D788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39B10B4-FBCE-956E-8150-5A75B99DD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FFFC763-946A-9599-2042-7EA94017D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39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0714518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7CCA2-A039-D8C4-6724-FB1AB0639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F2F53-5C2F-8775-44AC-81CE5350E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0909F-EAFC-05F3-E693-77B21BCDA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Perhaps add some examples of more difficult to explain vulnerabilities in case of questions? Or further reentrancy / event ordering / side effect bugs.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3DD231D-5709-5D64-EEBE-74CEB28D3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1D1E63D-2977-4C9F-3BCB-3DFDD8532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1625911-82A6-595D-2C8C-8BA27E251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40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240257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D4A9B-35EC-779C-7650-9ABA7E223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7164E-219C-24EE-606B-B716273E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59D83CE-53CA-71AB-E631-5E1719CB74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2225502"/>
              </p:ext>
            </p:extLst>
          </p:nvPr>
        </p:nvGraphicFramePr>
        <p:xfrm>
          <a:off x="838200" y="1385888"/>
          <a:ext cx="10515602" cy="4846320"/>
        </p:xfrm>
        <a:graphic>
          <a:graphicData uri="http://schemas.openxmlformats.org/drawingml/2006/table">
            <a:tbl>
              <a:tblPr firstRow="1" firstCol="1" bandCol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Logic Flaw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32.95%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r>
                        <a:rPr lang="en-CH" dirty="0"/>
                        <a:t>Price Manipulation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19.13%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Access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13.83%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Reentrancy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11.36%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Input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7.2%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Arbitrary 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4.55%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Precision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4.36%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r>
                        <a:rPr lang="en-CH" dirty="0"/>
                        <a:t>Slippage / Front-run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1.89%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r>
                        <a:rPr lang="en-CH" dirty="0"/>
                        <a:t>Over- / Underflow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1.14%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3.6%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F45B2709-65EB-8F4F-6D1F-C51F05B15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9EF16B0-EF7F-C7EA-6239-45BD6796D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DFC27C2-599F-21C2-9A23-9A561AB21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41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7694988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C7BB2-96EE-F2BA-AC71-83B98DB9E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Related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18F72-9DA0-546B-2CAC-2DE1CDDAF2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summarize other similar projects / papers / theses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CD38-BBD7-4119-DF16-D3F1ED589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B70519-779E-1AED-0210-47F445988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E67875-6032-1360-C8D9-66599761E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9357833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2BA41-457C-144F-2B8D-A631E4F531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25625"/>
            <a:ext cx="438016" cy="4351338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CE8F401-762D-755D-D69E-EC3696C3A2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C68CB506-7E0F-8EEE-AA27-A6377D005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FDAB16F-6A9B-B245-B411-56AFA1B3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529FE5D4-896E-D496-31D2-8545C93D9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488D3D0B-5802-F6A4-EF42-C6BE948F4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3CD21E2E-B66B-0518-74B1-1CE9CAD54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43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68E2340-6A77-0F3F-E35A-EE5221F36FF5}"/>
              </a:ext>
            </a:extLst>
          </p:cNvPr>
          <p:cNvCxnSpPr>
            <a:cxnSpLocks/>
          </p:cNvCxnSpPr>
          <p:nvPr/>
        </p:nvCxnSpPr>
        <p:spPr>
          <a:xfrm>
            <a:off x="1276350" y="1825625"/>
            <a:ext cx="21268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4125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CCC1372-F495-5EC4-740B-2C126C2FC3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C5658D-FE08-69A0-8EC6-45B505BC15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  <a:p>
            <a:endParaRPr lang="en-CH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847FC2BC-C8B1-A2FD-2987-048ED4996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5E6B07-0814-1DA8-8A28-2EB5E7E87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E6E24E-9936-DAE5-7DAB-7429B048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823819-EC99-8CA7-9D41-7929FFDE7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44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A8967E6-A9D3-9023-6D88-B376528B1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668B88C-EC9D-096D-B673-1C6E18D103D6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21402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27871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FCE3678-D598-DDA3-9D3A-B7F7A268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FCAC067-CC95-3E51-04B8-59F0F43826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8DB33A7-45E8-155D-7AAA-434D0E797D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190982A-BE62-4B84-7775-6D12D34415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92647" y="1825625"/>
            <a:ext cx="468527" cy="4351338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3DA6294-FC13-CE89-F983-6CEC7D852F8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61174" y="1825625"/>
            <a:ext cx="4592626" cy="4351338"/>
          </a:xfrm>
        </p:spPr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AB63CEBD-402C-AEFD-5FB7-47B07160D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83EAD083-0D1E-41EE-0229-235558B8B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B0FEEE78-AF41-0A60-32BB-A452CD410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45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704BEA1-F220-3026-1FBC-16B095228CCD}"/>
              </a:ext>
            </a:extLst>
          </p:cNvPr>
          <p:cNvCxnSpPr>
            <a:cxnSpLocks/>
          </p:cNvCxnSpPr>
          <p:nvPr/>
        </p:nvCxnSpPr>
        <p:spPr>
          <a:xfrm>
            <a:off x="1287459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DB949FF-D8C4-6603-E53E-BAB8AC6F5278}"/>
              </a:ext>
            </a:extLst>
          </p:cNvPr>
          <p:cNvCxnSpPr>
            <a:cxnSpLocks/>
          </p:cNvCxnSpPr>
          <p:nvPr/>
        </p:nvCxnSpPr>
        <p:spPr>
          <a:xfrm>
            <a:off x="6750983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434097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074BE98-84A9-7DFF-37F6-1B1093669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EB9597F-69A4-FAC5-5038-B13F415FD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0A1191E-C6DC-30EE-B654-72CC829E07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6373646-76A8-FD19-F402-609BEB0DA5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7EEEE2D-77AC-FF15-F712-26E479381F8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C3B17799-3278-1AE2-C335-16EF57F08FE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376EA8B3-9CEF-2F06-A2EF-86859C05D76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2915003B-178C-DA2B-6778-E37AB81725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46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7242968-8321-2187-40B0-41B261011E1E}"/>
              </a:ext>
            </a:extLst>
          </p:cNvPr>
          <p:cNvCxnSpPr>
            <a:cxnSpLocks/>
          </p:cNvCxnSpPr>
          <p:nvPr/>
        </p:nvCxnSpPr>
        <p:spPr>
          <a:xfrm>
            <a:off x="1287458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697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esis Dark">
      <a:dk1>
        <a:srgbClr val="16191F"/>
      </a:dk1>
      <a:lt1>
        <a:srgbClr val="E7E7E7"/>
      </a:lt1>
      <a:dk2>
        <a:srgbClr val="2E323B"/>
      </a:dk2>
      <a:lt2>
        <a:srgbClr val="707070"/>
      </a:lt2>
      <a:accent1>
        <a:srgbClr val="F3608D"/>
      </a:accent1>
      <a:accent2>
        <a:srgbClr val="6ED4E7"/>
      </a:accent2>
      <a:accent3>
        <a:srgbClr val="F58437"/>
      </a:accent3>
      <a:accent4>
        <a:srgbClr val="958BE6"/>
      </a:accent4>
      <a:accent5>
        <a:srgbClr val="F9E45B"/>
      </a:accent5>
      <a:accent6>
        <a:srgbClr val="86D88C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2606</Words>
  <Application>Microsoft Office PowerPoint</Application>
  <PresentationFormat>Widescreen</PresentationFormat>
  <Paragraphs>927</Paragraphs>
  <Slides>46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2" baseType="lpstr">
      <vt:lpstr>Aptos</vt:lpstr>
      <vt:lpstr>Aptos Display</vt:lpstr>
      <vt:lpstr>Arial</vt:lpstr>
      <vt:lpstr>Calibri</vt:lpstr>
      <vt:lpstr>Lucida Console</vt:lpstr>
      <vt:lpstr>Office Theme</vt:lpstr>
      <vt:lpstr>Title Slide</vt:lpstr>
      <vt:lpstr>Introduction &amp; Motivation</vt:lpstr>
      <vt:lpstr>PowerPoint Presentation</vt:lpstr>
      <vt:lpstr>Ethereum Blockchain</vt:lpstr>
      <vt:lpstr>Smart Contract</vt:lpstr>
      <vt:lpstr>EVM   Ethereum Virtual Machine</vt:lpstr>
      <vt:lpstr>State of the Art</vt:lpstr>
      <vt:lpstr>Solidity</vt:lpstr>
      <vt:lpstr>Vyper</vt:lpstr>
      <vt:lpstr>Security</vt:lpstr>
      <vt:lpstr>Common Vulnerabilities</vt:lpstr>
      <vt:lpstr>Reentrancy – what is it?</vt:lpstr>
      <vt:lpstr>Reentrancy</vt:lpstr>
      <vt:lpstr>Reentrancy</vt:lpstr>
      <vt:lpstr>Reentrancy</vt:lpstr>
      <vt:lpstr>Reentrancy</vt:lpstr>
      <vt:lpstr>Problem Statement</vt:lpstr>
      <vt:lpstr>Reentrancy</vt:lpstr>
      <vt:lpstr>Reentrancy</vt:lpstr>
      <vt:lpstr>Reentrancy Protection</vt:lpstr>
      <vt:lpstr>Entry-Point Annotation</vt:lpstr>
      <vt:lpstr>Call-Site Annotation</vt:lpstr>
      <vt:lpstr>Call Path Specification</vt:lpstr>
      <vt:lpstr>Side Effects</vt:lpstr>
      <vt:lpstr>Side Effects</vt:lpstr>
      <vt:lpstr>Side Effects</vt:lpstr>
      <vt:lpstr>Side Effects</vt:lpstr>
      <vt:lpstr>Side Effects</vt:lpstr>
      <vt:lpstr>Effects in Calls</vt:lpstr>
      <vt:lpstr>Effects in Calls</vt:lpstr>
      <vt:lpstr>Effects in Calls</vt:lpstr>
      <vt:lpstr>Algebraic Data Types</vt:lpstr>
      <vt:lpstr>Implementation</vt:lpstr>
      <vt:lpstr>Feature Set</vt:lpstr>
      <vt:lpstr>Compilation</vt:lpstr>
      <vt:lpstr>Evaluation &amp; Results</vt:lpstr>
      <vt:lpstr>PowerPoint Presentation</vt:lpstr>
      <vt:lpstr>Conclusion &amp; Future Work</vt:lpstr>
      <vt:lpstr>Q&amp;A</vt:lpstr>
      <vt:lpstr>Examples</vt:lpstr>
      <vt:lpstr>Common Vulnerabilities</vt:lpstr>
      <vt:lpstr>Related Work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Richards  Tynan</dc:creator>
  <cp:lastModifiedBy>Richards  Tynan</cp:lastModifiedBy>
  <cp:revision>326</cp:revision>
  <dcterms:created xsi:type="dcterms:W3CDTF">2026-03-21T11:27:25Z</dcterms:created>
  <dcterms:modified xsi:type="dcterms:W3CDTF">2026-03-24T16:21:23Z</dcterms:modified>
</cp:coreProperties>
</file>
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93" r:id="rId4"/>
    <p:sldId id="333" r:id="rId5"/>
    <p:sldId id="282" r:id="rId6"/>
    <p:sldId id="285" r:id="rId7"/>
    <p:sldId id="276" r:id="rId8"/>
    <p:sldId id="299" r:id="rId9"/>
    <p:sldId id="298" r:id="rId10"/>
    <p:sldId id="335" r:id="rId11"/>
    <p:sldId id="292" r:id="rId12"/>
    <p:sldId id="334" r:id="rId13"/>
    <p:sldId id="287" r:id="rId14"/>
    <p:sldId id="288" r:id="rId15"/>
    <p:sldId id="337" r:id="rId16"/>
    <p:sldId id="338" r:id="rId17"/>
    <p:sldId id="290" r:id="rId18"/>
    <p:sldId id="291" r:id="rId19"/>
    <p:sldId id="339" r:id="rId20"/>
    <p:sldId id="346" r:id="rId21"/>
    <p:sldId id="340" r:id="rId22"/>
    <p:sldId id="308" r:id="rId23"/>
    <p:sldId id="348" r:id="rId24"/>
    <p:sldId id="349" r:id="rId25"/>
    <p:sldId id="310" r:id="rId26"/>
    <p:sldId id="311" r:id="rId27"/>
    <p:sldId id="300" r:id="rId28"/>
    <p:sldId id="314" r:id="rId29"/>
    <p:sldId id="315" r:id="rId30"/>
    <p:sldId id="341" r:id="rId31"/>
    <p:sldId id="316" r:id="rId32"/>
    <p:sldId id="321" r:id="rId33"/>
    <p:sldId id="322" r:id="rId34"/>
    <p:sldId id="323" r:id="rId35"/>
    <p:sldId id="343" r:id="rId36"/>
    <p:sldId id="331" r:id="rId37"/>
    <p:sldId id="342" r:id="rId38"/>
    <p:sldId id="344" r:id="rId39"/>
    <p:sldId id="347" r:id="rId40"/>
    <p:sldId id="329" r:id="rId41"/>
    <p:sldId id="319" r:id="rId42"/>
    <p:sldId id="330" r:id="rId43"/>
    <p:sldId id="268" r:id="rId44"/>
    <p:sldId id="277" r:id="rId45"/>
    <p:sldId id="258" r:id="rId46"/>
    <p:sldId id="326" r:id="rId47"/>
    <p:sldId id="320" r:id="rId48"/>
    <p:sldId id="269" r:id="rId49"/>
    <p:sldId id="328" r:id="rId50"/>
    <p:sldId id="272" r:id="rId51"/>
    <p:sldId id="273" r:id="rId52"/>
    <p:sldId id="317" r:id="rId53"/>
    <p:sldId id="327" r:id="rId54"/>
    <p:sldId id="274" r:id="rId55"/>
    <p:sldId id="259" r:id="rId56"/>
    <p:sldId id="260" r:id="rId57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" id="{155D24CD-1F67-4B2A-8BBA-6043068973F2}">
          <p14:sldIdLst>
            <p14:sldId id="333"/>
            <p14:sldId id="282"/>
            <p14:sldId id="285"/>
            <p14:sldId id="276"/>
            <p14:sldId id="299"/>
            <p14:sldId id="298"/>
            <p14:sldId id="335"/>
            <p14:sldId id="292"/>
          </p14:sldIdLst>
        </p14:section>
        <p14:section name="Problem Statement" id="{D007D5E9-0273-4A98-8D76-718A668981DA}">
          <p14:sldIdLst>
            <p14:sldId id="334"/>
            <p14:sldId id="287"/>
            <p14:sldId id="288"/>
            <p14:sldId id="337"/>
            <p14:sldId id="338"/>
            <p14:sldId id="290"/>
            <p14:sldId id="291"/>
            <p14:sldId id="339"/>
            <p14:sldId id="346"/>
            <p14:sldId id="340"/>
            <p14:sldId id="308"/>
            <p14:sldId id="348"/>
            <p14:sldId id="349"/>
            <p14:sldId id="310"/>
            <p14:sldId id="311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41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43"/>
            <p14:sldId id="331"/>
            <p14:sldId id="342"/>
            <p14:sldId id="344"/>
            <p14:sldId id="347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330"/>
            <p14:sldId id="268"/>
          </p14:sldIdLst>
        </p14:section>
        <p14:section name="Backup / Extra Examples" id="{274778F2-46BC-4298-9911-D5D9332C2A83}">
          <p14:sldIdLst>
            <p14:sldId id="277"/>
            <p14:sldId id="258"/>
            <p14:sldId id="326"/>
            <p14:sldId id="320"/>
            <p14:sldId id="269"/>
            <p14:sldId id="328"/>
            <p14:sldId id="272"/>
            <p14:sldId id="273"/>
            <p14:sldId id="317"/>
          </p14:sldIdLst>
        </p14:section>
        <p14:section name="Templates" id="{7D75C5C1-E226-422F-BC2D-7889BBB961BB}">
          <p14:sldIdLst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52" autoAdjust="0"/>
    <p:restoredTop sz="86467" autoAdjust="0"/>
  </p:normalViewPr>
  <p:slideViewPr>
    <p:cSldViewPr snapToGrid="0">
      <p:cViewPr varScale="1">
        <p:scale>
          <a:sx n="93" d="100"/>
          <a:sy n="93" d="100"/>
        </p:scale>
        <p:origin x="108" y="1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F-45C3-86C9-5027E11F164C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F-45C3-86C9-5027E11F164C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DF-45C3-86C9-5027E11F164C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DF-45C3-86C9-5027E11F164C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DF-45C3-86C9-5027E11F164C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DF-45C3-86C9-5027E11F164C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F-45C3-86C9-5027E11F164C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DF-45C3-86C9-5027E11F164C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ADF-45C3-86C9-5027E11F164C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ADF-45C3-86C9-5027E11F1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 w="25400"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03/28/2026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Developer only spent 10% of their time on the smart contract!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237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common knowledge</a:t>
            </a:r>
          </a:p>
          <a:p>
            <a:r>
              <a:rPr lang="en-GB" dirty="0"/>
              <a:t>Maybe </a:t>
            </a:r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7A6F-CE6E-67C6-9E55-A6A054CA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AA8AF-A611-D978-CBE8-10655854A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7F51D-EDAE-342A-E672-0DC19E4B6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0FBC-0119-FF81-2107-E5864CB16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54406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5456-486C-E36F-084E-3DF62B710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A0E71-7DDC-B262-8A08-3E5662D5F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DFF43-6230-0959-1AEB-6D6F5B70B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8577-D5AF-E758-EAF0-E0E4C60D4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8667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Extra performance hit is from bit-field check</a:t>
            </a:r>
            <a:br>
              <a:rPr lang="en-GB" dirty="0"/>
            </a:br>
            <a:r>
              <a:rPr lang="en-GB" dirty="0"/>
              <a:t>Because of 21k base transaction cost, “only” 10%</a:t>
            </a:r>
          </a:p>
          <a:p>
            <a:r>
              <a:rPr lang="en-GB" dirty="0"/>
              <a:t>Repeated accesses would be cheaper since slot warm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39863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46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Tam</a:t>
            </a:r>
            <a:r>
              <a:rPr lang="en-CH" dirty="0"/>
              <a:t>ing Reentrancy </a:t>
            </a:r>
            <a:r>
              <a:rPr lang="en-GB" dirty="0"/>
              <a:t>with</a:t>
            </a:r>
            <a:r>
              <a:rPr lang="en-CH" dirty="0"/>
              <a:t> </a:t>
            </a:r>
            <a:r>
              <a:rPr lang="en-GB" dirty="0"/>
              <a:t>Auditable</a:t>
            </a:r>
            <a:r>
              <a:rPr lang="en-CH" dirty="0"/>
              <a:t>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099"/>
            <a:ext cx="1051560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200" b="1" dirty="0"/>
              <a:t>Decentralized Finance:</a:t>
            </a:r>
          </a:p>
          <a:p>
            <a:r>
              <a:rPr lang="en-GB" dirty="0"/>
              <a:t>Basically: Financial Markets on the blockchain</a:t>
            </a:r>
          </a:p>
          <a:p>
            <a:r>
              <a:rPr lang="en-GB" dirty="0"/>
              <a:t>Multi-billion-dollar industry</a:t>
            </a:r>
          </a:p>
          <a:p>
            <a:r>
              <a:rPr lang="en-GB" dirty="0"/>
              <a:t>Virtually unregulated</a:t>
            </a:r>
          </a:p>
          <a:p>
            <a:r>
              <a:rPr lang="en-GB" dirty="0"/>
              <a:t>Bugs / Vulnerabilities:</a:t>
            </a:r>
          </a:p>
          <a:p>
            <a:pPr lvl="1"/>
            <a:r>
              <a:rPr lang="en-GB" dirty="0"/>
              <a:t>Hundreds of millions of dollars lost every year</a:t>
            </a:r>
          </a:p>
          <a:p>
            <a:pPr lvl="1"/>
            <a:r>
              <a:rPr lang="en-GB" dirty="0"/>
              <a:t>Blockchain → no way to reclaim funds</a:t>
            </a:r>
          </a:p>
          <a:p>
            <a:r>
              <a:rPr lang="en-GB" dirty="0"/>
              <a:t>Security Guarantees:</a:t>
            </a:r>
          </a:p>
          <a:p>
            <a:pPr lvl="1"/>
            <a:r>
              <a:rPr lang="en-GB" dirty="0"/>
              <a:t>Open-source code</a:t>
            </a:r>
          </a:p>
          <a:p>
            <a:pPr lvl="1"/>
            <a:r>
              <a:rPr lang="en-GB" dirty="0"/>
              <a:t>Third-party audits</a:t>
            </a:r>
          </a:p>
          <a:p>
            <a:pPr lvl="1"/>
            <a:r>
              <a:rPr lang="en-GB" dirty="0"/>
              <a:t>Bug bounties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9EA486D-C4EC-CE77-80FA-4834198ED404}"/>
              </a:ext>
            </a:extLst>
          </p:cNvPr>
          <p:cNvGrpSpPr/>
          <p:nvPr/>
        </p:nvGrpSpPr>
        <p:grpSpPr>
          <a:xfrm>
            <a:off x="1303367" y="5471648"/>
            <a:ext cx="6690691" cy="523220"/>
            <a:chOff x="1262270" y="5368907"/>
            <a:chExt cx="6690691" cy="5232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AD139-1E65-822D-F78E-F1C0EEAD192F}"/>
                </a:ext>
              </a:extLst>
            </p:cNvPr>
            <p:cNvSpPr/>
            <p:nvPr/>
          </p:nvSpPr>
          <p:spPr>
            <a:xfrm>
              <a:off x="1262270" y="5416826"/>
              <a:ext cx="2776330" cy="427383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271ACD-B0A0-D130-2C14-40FBD405FD60}"/>
                </a:ext>
              </a:extLst>
            </p:cNvPr>
            <p:cNvSpPr txBox="1"/>
            <p:nvPr/>
          </p:nvSpPr>
          <p:spPr>
            <a:xfrm>
              <a:off x="4239039" y="5368907"/>
              <a:ext cx="37139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5"/>
                  </a:solidFill>
                </a:rPr>
                <a:t>This is my background!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BA3C-91EA-9FBB-9561-17249105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C3984-9099-693B-D9DD-41FE432C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53945-CDFD-DA7D-D32B-55F445C5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A “program” that </a:t>
            </a:r>
            <a:r>
              <a:rPr lang="en-GB" dirty="0"/>
              <a:t>is executed by the Ethereum Virtual Machine</a:t>
            </a:r>
          </a:p>
          <a:p>
            <a:r>
              <a:rPr lang="en-GB" dirty="0"/>
              <a:t>Execution:</a:t>
            </a:r>
          </a:p>
          <a:p>
            <a:pPr lvl="1"/>
            <a:r>
              <a:rPr lang="en-GB" dirty="0"/>
              <a:t>EVM is single-threaded</a:t>
            </a:r>
          </a:p>
          <a:p>
            <a:pPr lvl="1"/>
            <a:r>
              <a:rPr lang="en-GB" b="1" i="1" dirty="0"/>
              <a:t>External Call</a:t>
            </a:r>
            <a:r>
              <a:rPr lang="en-GB" dirty="0"/>
              <a:t>: One contract may call into another</a:t>
            </a:r>
          </a:p>
          <a:p>
            <a:pPr lvl="1"/>
            <a:r>
              <a:rPr lang="en-GB" i="1" dirty="0"/>
              <a:t>Storage</a:t>
            </a:r>
            <a:r>
              <a:rPr lang="en-GB" dirty="0"/>
              <a:t>: per-contract, persistent</a:t>
            </a:r>
          </a:p>
          <a:p>
            <a:pPr lvl="1"/>
            <a:r>
              <a:rPr lang="en-GB" i="1" dirty="0"/>
              <a:t>Memory</a:t>
            </a:r>
            <a:r>
              <a:rPr lang="en-GB" dirty="0"/>
              <a:t>: Transient, not shared between calls</a:t>
            </a:r>
          </a:p>
          <a:p>
            <a:pPr lvl="1"/>
            <a:r>
              <a:rPr lang="en-GB" i="1" dirty="0"/>
              <a:t>Revert</a:t>
            </a:r>
            <a:r>
              <a:rPr lang="en-GB" dirty="0"/>
              <a:t>: Roll-back state to last call</a:t>
            </a:r>
            <a:endParaRPr lang="en-GB" i="1" dirty="0"/>
          </a:p>
          <a:p>
            <a:r>
              <a:rPr lang="en-GB" b="1" i="1" dirty="0"/>
              <a:t>Reentrancy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Call-back into executing contract</a:t>
            </a:r>
          </a:p>
          <a:p>
            <a:pPr lvl="1"/>
            <a:r>
              <a:rPr lang="en-GB" dirty="0"/>
              <a:t>Concurrency bugs</a:t>
            </a:r>
          </a:p>
          <a:p>
            <a:pPr lvl="1"/>
            <a:endParaRPr lang="en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40F3-ADF0-8C9B-AD87-187B615A0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AD6E-3749-B70E-1A8D-7F31193F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71D40-6007-0804-4EA8-3521AC18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65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20"/>
            <a:ext cx="10556240" cy="1923896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05998"/>
              </p:ext>
            </p:extLst>
          </p:nvPr>
        </p:nvGraphicFramePr>
        <p:xfrm>
          <a:off x="2255520" y="3886518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031A772-93B8-8FDD-9636-B6D5006C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77222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2C70AD0-791C-E993-605A-0762B0AB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129214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E9D0BAE9-45E6-D95B-5C97-2E2A2F927BD2}"/>
              </a:ext>
            </a:extLst>
          </p:cNvPr>
          <p:cNvSpPr/>
          <p:nvPr/>
        </p:nvSpPr>
        <p:spPr>
          <a:xfrm>
            <a:off x="5648400" y="417670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978098"/>
              </p:ext>
            </p:extLst>
          </p:nvPr>
        </p:nvGraphicFramePr>
        <p:xfrm>
          <a:off x="5771038" y="874871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40077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66C7B6E-E2AC-0934-C076-D4BE3F32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45193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6C899-24EE-5ECF-AA87-CF42774A2C48}"/>
              </a:ext>
            </a:extLst>
          </p:cNvPr>
          <p:cNvGrpSpPr/>
          <p:nvPr/>
        </p:nvGrpSpPr>
        <p:grpSpPr>
          <a:xfrm>
            <a:off x="4480561" y="1060290"/>
            <a:ext cx="1280538" cy="3011649"/>
            <a:chOff x="4480561" y="1060290"/>
            <a:chExt cx="1280538" cy="301164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7AE7F24-657B-F6FB-0F10-CDD54B5DF7E1}"/>
                </a:ext>
              </a:extLst>
            </p:cNvPr>
            <p:cNvGrpSpPr/>
            <p:nvPr/>
          </p:nvGrpSpPr>
          <p:grpSpPr>
            <a:xfrm>
              <a:off x="4480561" y="1060290"/>
              <a:ext cx="1280538" cy="3011649"/>
              <a:chOff x="4480561" y="1464984"/>
              <a:chExt cx="1280538" cy="2397683"/>
            </a:xfrm>
          </p:grpSpPr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A0AEA4AD-D2EC-1157-679A-AB9BD7945D3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524926" y="2420619"/>
                <a:ext cx="2397683" cy="486413"/>
              </a:xfrm>
              <a:prstGeom prst="bentConnector2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D0E0EB-AFAD-1F97-D480-82B2568DD5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59104" y="1464985"/>
                <a:ext cx="801995" cy="1"/>
              </a:xfrm>
              <a:prstGeom prst="line">
                <a:avLst/>
              </a:prstGeom>
              <a:ln w="38100"/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B9773B-F30A-F6A8-B165-AC668BBB3607}"/>
                </a:ext>
              </a:extLst>
            </p:cNvPr>
            <p:cNvSpPr txBox="1"/>
            <p:nvPr/>
          </p:nvSpPr>
          <p:spPr>
            <a:xfrm>
              <a:off x="4608102" y="2426453"/>
              <a:ext cx="69923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Read</a:t>
              </a:r>
            </a:p>
          </p:txBody>
        </p:sp>
      </p:grp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F9C9429-0B96-0E5C-4820-520D1E56A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811594"/>
              </p:ext>
            </p:extLst>
          </p:nvPr>
        </p:nvGraphicFramePr>
        <p:xfrm>
          <a:off x="5771037" y="874800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pSp>
        <p:nvGrpSpPr>
          <p:cNvPr id="40" name="Group 39">
            <a:extLst>
              <a:ext uri="{FF2B5EF4-FFF2-40B4-BE49-F238E27FC236}">
                <a16:creationId xmlns:a16="http://schemas.microsoft.com/office/drawing/2014/main" id="{7EF20531-80E5-569A-6674-E932411D9638}"/>
              </a:ext>
            </a:extLst>
          </p:cNvPr>
          <p:cNvGrpSpPr/>
          <p:nvPr/>
        </p:nvGrpSpPr>
        <p:grpSpPr>
          <a:xfrm>
            <a:off x="1648640" y="3043783"/>
            <a:ext cx="1440000" cy="369332"/>
            <a:chOff x="1648640" y="3043783"/>
            <a:chExt cx="1440000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940920-EDE4-3ABF-D41E-306E108132C3}"/>
                </a:ext>
              </a:extLst>
            </p:cNvPr>
            <p:cNvCxnSpPr>
              <a:cxnSpLocks/>
            </p:cNvCxnSpPr>
            <p:nvPr/>
          </p:nvCxnSpPr>
          <p:spPr>
            <a:xfrm>
              <a:off x="1648640" y="3229107"/>
              <a:ext cx="1440000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C6657-0F1E-CF2C-63BD-EF9A75B5AD00}"/>
                </a:ext>
              </a:extLst>
            </p:cNvPr>
            <p:cNvSpPr txBox="1"/>
            <p:nvPr/>
          </p:nvSpPr>
          <p:spPr>
            <a:xfrm>
              <a:off x="2072361" y="3043783"/>
              <a:ext cx="587020" cy="369332"/>
            </a:xfrm>
            <a:prstGeom prst="rect">
              <a:avLst/>
            </a:prstGeom>
            <a:solidFill>
              <a:schemeClr val="tx1"/>
            </a:solidFill>
            <a:ln w="25400">
              <a:solidFill>
                <a:schemeClr val="tx2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Call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6B43D6-1B21-4353-7825-789C22270A9D}"/>
              </a:ext>
            </a:extLst>
          </p:cNvPr>
          <p:cNvGrpSpPr/>
          <p:nvPr/>
        </p:nvGrpSpPr>
        <p:grpSpPr>
          <a:xfrm>
            <a:off x="3591560" y="3043783"/>
            <a:ext cx="2700000" cy="369332"/>
            <a:chOff x="3591560" y="3043783"/>
            <a:chExt cx="2700000" cy="369332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CDA7F91-D35B-DEBE-24E7-C3CA8769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591560" y="3229106"/>
              <a:ext cx="2700000" cy="1"/>
            </a:xfrm>
            <a:prstGeom prst="straightConnector1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C54910-D824-9DDB-C724-5B3ACBE28606}"/>
                </a:ext>
              </a:extLst>
            </p:cNvPr>
            <p:cNvSpPr txBox="1"/>
            <p:nvPr/>
          </p:nvSpPr>
          <p:spPr>
            <a:xfrm>
              <a:off x="4214871" y="3043783"/>
              <a:ext cx="1446678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60BE020-8852-1E2F-14E4-BB9951F87FAB}"/>
              </a:ext>
            </a:extLst>
          </p:cNvPr>
          <p:cNvGrpSpPr/>
          <p:nvPr/>
        </p:nvGrpSpPr>
        <p:grpSpPr>
          <a:xfrm>
            <a:off x="6827520" y="3043783"/>
            <a:ext cx="2844000" cy="369332"/>
            <a:chOff x="6827520" y="3043783"/>
            <a:chExt cx="2844000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2D2FE0E-F516-E4A7-C8B7-CC57735206F2}"/>
                </a:ext>
              </a:extLst>
            </p:cNvPr>
            <p:cNvCxnSpPr>
              <a:cxnSpLocks/>
            </p:cNvCxnSpPr>
            <p:nvPr/>
          </p:nvCxnSpPr>
          <p:spPr>
            <a:xfrm>
              <a:off x="6827520" y="3229105"/>
              <a:ext cx="2844000" cy="1"/>
            </a:xfrm>
            <a:prstGeom prst="straightConnector1">
              <a:avLst/>
            </a:prstGeom>
            <a:ln w="38100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BFCC33-046B-2B43-29EC-4058E578F8A1}"/>
                </a:ext>
              </a:extLst>
            </p:cNvPr>
            <p:cNvSpPr txBox="1"/>
            <p:nvPr/>
          </p:nvSpPr>
          <p:spPr>
            <a:xfrm>
              <a:off x="7526181" y="3043783"/>
              <a:ext cx="14466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54BF44-04FE-CA6A-33C3-511A85DAF3F6}"/>
              </a:ext>
            </a:extLst>
          </p:cNvPr>
          <p:cNvGrpSpPr/>
          <p:nvPr/>
        </p:nvGrpSpPr>
        <p:grpSpPr>
          <a:xfrm>
            <a:off x="7192010" y="1060291"/>
            <a:ext cx="1622012" cy="3011645"/>
            <a:chOff x="7192010" y="1060291"/>
            <a:chExt cx="1622012" cy="30351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8186AC-440E-F39E-E224-79570E71737F}"/>
                </a:ext>
              </a:extLst>
            </p:cNvPr>
            <p:cNvGrpSpPr/>
            <p:nvPr/>
          </p:nvGrpSpPr>
          <p:grpSpPr>
            <a:xfrm>
              <a:off x="7192010" y="1060291"/>
              <a:ext cx="1622012" cy="3035140"/>
              <a:chOff x="7201738" y="1809345"/>
              <a:chExt cx="1622012" cy="2986630"/>
            </a:xfrm>
          </p:grpSpPr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3226D6A8-3292-EA0D-AB50-8DE29A6093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95156" y="2967382"/>
                <a:ext cx="2986629" cy="670558"/>
              </a:xfrm>
              <a:prstGeom prst="bentConnector3">
                <a:avLst>
                  <a:gd name="adj1" fmla="val 99775"/>
                </a:avLst>
              </a:prstGeom>
              <a:ln w="38100">
                <a:tailEnd type="non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0CFBCEA-08E7-5D64-01CD-DB2F445AF3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738" y="1809345"/>
                <a:ext cx="96139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4E5545-DDDE-E674-9C35-4A6F74D516BA}"/>
                </a:ext>
              </a:extLst>
            </p:cNvPr>
            <p:cNvSpPr txBox="1"/>
            <p:nvPr/>
          </p:nvSpPr>
          <p:spPr>
            <a:xfrm>
              <a:off x="7785480" y="2426453"/>
              <a:ext cx="71596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Write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C655AD6-761F-61BB-33A7-4B4918FFC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890" y="1271428"/>
            <a:ext cx="3893875" cy="60938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GB" dirty="0"/>
              <a:t>R-W conflict example</a:t>
            </a:r>
            <a:endParaRPr lang="en-CH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10069C-BC35-E136-E361-751FF926B787}"/>
              </a:ext>
            </a:extLst>
          </p:cNvPr>
          <p:cNvGrpSpPr/>
          <p:nvPr/>
        </p:nvGrpSpPr>
        <p:grpSpPr>
          <a:xfrm>
            <a:off x="4480560" y="1060291"/>
            <a:ext cx="1290478" cy="3011647"/>
            <a:chOff x="4480560" y="1060291"/>
            <a:chExt cx="1290478" cy="3011647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C405612-FDBA-46E7-7BF1-BADBD2F5360B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4480560" y="1060291"/>
              <a:ext cx="1290478" cy="301164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1">
                  <a:lumMod val="75000"/>
                </a:schemeClr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73E4F07-4AE4-7EAF-AC5B-EA5EB1C679A1}"/>
                </a:ext>
              </a:extLst>
            </p:cNvPr>
            <p:cNvSpPr txBox="1"/>
            <p:nvPr/>
          </p:nvSpPr>
          <p:spPr>
            <a:xfrm>
              <a:off x="4574074" y="2426452"/>
              <a:ext cx="10983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bg1"/>
                  </a:solidFill>
                </a:rPr>
                <a:t>Conflict!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  <p:bldP spid="1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Most contracts do not need it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→ 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8">
            <a:extLst>
              <a:ext uri="{FF2B5EF4-FFF2-40B4-BE49-F238E27FC236}">
                <a16:creationId xmlns:a16="http://schemas.microsoft.com/office/drawing/2014/main" id="{167B7058-C451-6363-74B3-3E7FDA2E86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954112"/>
              </p:ext>
            </p:extLst>
          </p:nvPr>
        </p:nvGraphicFramePr>
        <p:xfrm>
          <a:off x="698400" y="1393200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242928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C989CD4-F498-AE79-2179-E7F5EAC27FA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What other vulnerabilities exist?</a:t>
            </a:r>
          </a:p>
          <a:p>
            <a:r>
              <a:rPr lang="en-GB" dirty="0"/>
              <a:t>Dataset: 549 exploits, 2021 – 2024</a:t>
            </a:r>
          </a:p>
          <a:p>
            <a:r>
              <a:rPr lang="en-GB" dirty="0"/>
              <a:t>Total funds lost: </a:t>
            </a:r>
            <a:r>
              <a:rPr lang="en-GB" b="1" dirty="0"/>
              <a:t>$1.671 billion</a:t>
            </a:r>
            <a:endParaRPr lang="en-CH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Vulnerabilities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 dirty="0"/>
              <a:t> / XX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CFE660-10E7-98C0-DA87-1ACDE38F2B39}"/>
              </a:ext>
            </a:extLst>
          </p:cNvPr>
          <p:cNvGrpSpPr/>
          <p:nvPr/>
        </p:nvGrpSpPr>
        <p:grpSpPr>
          <a:xfrm>
            <a:off x="7837406" y="3743801"/>
            <a:ext cx="1197067" cy="1769759"/>
            <a:chOff x="7837406" y="3743801"/>
            <a:chExt cx="1197067" cy="176975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25D1DD-5E86-61BB-A864-376D1B1F87F9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7" y="5102602"/>
              <a:ext cx="460006" cy="410958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6A4566-43ED-C64C-D6DF-DE5346784910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6" y="3897690"/>
              <a:ext cx="460007" cy="1204912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DB00E8-E4A2-A55F-4F0C-6D0956A18C6B}"/>
              </a:ext>
            </a:extLst>
          </p:cNvPr>
          <p:cNvGrpSpPr/>
          <p:nvPr/>
        </p:nvGrpSpPr>
        <p:grpSpPr>
          <a:xfrm>
            <a:off x="7837405" y="2768507"/>
            <a:ext cx="1196182" cy="1522836"/>
            <a:chOff x="7837405" y="2768507"/>
            <a:chExt cx="1196182" cy="152283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67409AA-745A-A7CC-0C3F-8488575E115C}"/>
                </a:ext>
              </a:extLst>
            </p:cNvPr>
            <p:cNvCxnSpPr>
              <a:cxnSpLocks/>
            </p:cNvCxnSpPr>
            <p:nvPr/>
          </p:nvCxnSpPr>
          <p:spPr>
            <a:xfrm>
              <a:off x="8564526" y="2922396"/>
              <a:ext cx="469061" cy="1368947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Graphic spid="9" grpId="0">
        <p:bldAsOne/>
      </p:bldGraphic>
      <p:bldGraphic spid="9" grpId="1">
        <p:bldAsOne/>
      </p:bldGraphic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</a:t>
            </a:r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Contracts are immutable</a:t>
            </a:r>
          </a:p>
          <a:p>
            <a:pPr lvl="1"/>
            <a:r>
              <a:rPr lang="en-GB" dirty="0"/>
              <a:t>Cannot “fix it in prod”</a:t>
            </a:r>
          </a:p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</a:t>
            </a:r>
            <a:r>
              <a:rPr lang="en-GB" dirty="0"/>
              <a:t>  </a:t>
            </a:r>
            <a:r>
              <a:rPr lang="en-GB" sz="2000" dirty="0">
                <a:solidFill>
                  <a:schemeClr val="tx2"/>
                </a:solidFill>
              </a:rPr>
              <a:t>few publicly available tools</a:t>
            </a:r>
            <a:endParaRPr lang="en-CH" dirty="0">
              <a:solidFill>
                <a:schemeClr val="tx2"/>
              </a:solidFill>
            </a:endParaRPr>
          </a:p>
          <a:p>
            <a:pPr lvl="1"/>
            <a:r>
              <a:rPr lang="en-CH" dirty="0"/>
              <a:t>Formal Verification </a:t>
            </a:r>
            <a:r>
              <a:rPr lang="en-GB" dirty="0"/>
              <a:t> </a:t>
            </a:r>
            <a:r>
              <a:rPr lang="en-CH" sz="2000" dirty="0">
                <a:solidFill>
                  <a:schemeClr val="tx2"/>
                </a:solidFill>
              </a:rPr>
              <a:t>proprietary</a:t>
            </a:r>
            <a:endParaRPr lang="en-CH" dirty="0">
              <a:solidFill>
                <a:schemeClr val="tx2"/>
              </a:solidFill>
            </a:endParaRP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 </a:t>
            </a:r>
            <a:r>
              <a:rPr lang="en-GB" dirty="0"/>
              <a:t> </a:t>
            </a:r>
            <a:r>
              <a:rPr lang="en-CH" dirty="0">
                <a:solidFill>
                  <a:schemeClr val="tx2"/>
                </a:solidFill>
              </a:rPr>
              <a:t>&gt;2000$ per auditor per day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Development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Two widely-used compilers</a:t>
            </a:r>
          </a:p>
          <a:p>
            <a:r>
              <a:rPr lang="en-CH" dirty="0"/>
              <a:t>Solidity  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GB" dirty="0"/>
          </a:p>
          <a:p>
            <a:pPr lvl="1"/>
            <a:r>
              <a:rPr lang="en-GB" dirty="0"/>
              <a:t>Complex type system, inheritance</a:t>
            </a:r>
          </a:p>
          <a:p>
            <a:pPr lvl="1"/>
            <a:r>
              <a:rPr lang="en-GB" dirty="0"/>
              <a:t>Large library of contracts</a:t>
            </a:r>
            <a:endParaRPr lang="en-CH" dirty="0"/>
          </a:p>
          <a:p>
            <a:r>
              <a:rPr lang="en-CH" dirty="0"/>
              <a:t>Vyper  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</a:t>
            </a:r>
            <a:r>
              <a:rPr lang="en-GB" sz="20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ic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~8% market share</a:t>
            </a:r>
            <a:endParaRPr lang="en-GB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GB" dirty="0"/>
              <a:t>Prioritizes simplicity</a:t>
            </a:r>
          </a:p>
          <a:p>
            <a:pPr lvl="1"/>
            <a:r>
              <a:rPr lang="en-GB" dirty="0"/>
              <a:t>No low-level control</a:t>
            </a:r>
          </a:p>
          <a:p>
            <a:pPr lvl="1"/>
            <a:r>
              <a:rPr lang="en-GB" dirty="0"/>
              <a:t>Opt-in protection mechanisms</a:t>
            </a:r>
          </a:p>
          <a:p>
            <a:pPr lvl="1"/>
            <a:endParaRPr lang="en-GB" dirty="0"/>
          </a:p>
          <a:p>
            <a:r>
              <a:rPr lang="en-GB" i="1" dirty="0"/>
              <a:t>Majority of development time is spent on front-end apps!</a:t>
            </a:r>
          </a:p>
          <a:p>
            <a:pPr lvl="1"/>
            <a:r>
              <a:rPr lang="en-GB" dirty="0"/>
              <a:t>Only ~10% is spent on coding smart contracts</a:t>
            </a:r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99F44-7A64-E392-86A5-1C3A69EE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C9B58-DE9A-E3B4-9730-D12F6F2E3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Typical project:</a:t>
            </a:r>
          </a:p>
          <a:p>
            <a:pPr lvl="1"/>
            <a:r>
              <a:rPr lang="en-GB" dirty="0"/>
              <a:t>500 - 2500 LoC</a:t>
            </a:r>
          </a:p>
          <a:p>
            <a:pPr lvl="1"/>
            <a:r>
              <a:rPr lang="en-GB" dirty="0"/>
              <a:t>2-6 weeks, depending on complexity</a:t>
            </a:r>
          </a:p>
          <a:p>
            <a:r>
              <a:rPr lang="en-GB" dirty="0"/>
              <a:t>Goal: Understand the code better than the developer</a:t>
            </a:r>
          </a:p>
          <a:p>
            <a:pPr lvl="1"/>
            <a:r>
              <a:rPr lang="en-GB" dirty="0"/>
              <a:t>Find bugs they missed</a:t>
            </a:r>
          </a:p>
          <a:p>
            <a:pPr lvl="1"/>
            <a:r>
              <a:rPr lang="en-GB" dirty="0"/>
              <a:t>Focus on severe vulnerabilities first</a:t>
            </a:r>
          </a:p>
          <a:p>
            <a:r>
              <a:rPr lang="en-GB" dirty="0"/>
              <a:t>Analyse entry points:</a:t>
            </a:r>
          </a:p>
          <a:p>
            <a:pPr lvl="1"/>
            <a:r>
              <a:rPr lang="en-GB" dirty="0"/>
              <a:t>What are all the entry points?</a:t>
            </a:r>
          </a:p>
          <a:p>
            <a:pPr lvl="1"/>
            <a:r>
              <a:rPr lang="en-GB" dirty="0"/>
              <a:t>Possible call paths?</a:t>
            </a:r>
          </a:p>
          <a:p>
            <a:pPr lvl="1"/>
            <a:r>
              <a:rPr lang="en-GB" dirty="0"/>
              <a:t>External calls? Reentrancies?</a:t>
            </a:r>
          </a:p>
          <a:p>
            <a:pPr lvl="1"/>
            <a:r>
              <a:rPr lang="en-GB" dirty="0"/>
              <a:t>Inputs / outputs / side effects?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5B4F0-B0B8-B1E7-FB7A-47DAA975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E3DD-CE8E-ABBC-7AD1-E7D39F92E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DBAD-E7F9-6001-B7C2-0E006C1D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4645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  <a:endParaRPr lang="en-GB" dirty="0"/>
          </a:p>
          <a:p>
            <a:r>
              <a:rPr lang="en-CH" dirty="0"/>
              <a:t>Solidity and Vyper have ambiguous execution order</a:t>
            </a:r>
          </a:p>
          <a:p>
            <a:pPr lvl="1"/>
            <a:r>
              <a:rPr lang="en-CH" dirty="0"/>
              <a:t>e.g.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 f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3"/>
                </a:solidFill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+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GB" dirty="0"/>
              <a:t>order is </a:t>
            </a:r>
            <a:r>
              <a:rPr lang="en-GB" i="1" dirty="0"/>
              <a:t>undefined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No warnings, easy to miss</a:t>
            </a:r>
          </a:p>
          <a:p>
            <a:r>
              <a:rPr lang="en-GB" dirty="0"/>
              <a:t>Unexpected interactions</a:t>
            </a:r>
          </a:p>
          <a:p>
            <a:pPr lvl="1"/>
            <a:r>
              <a:rPr lang="en-GB" dirty="0"/>
              <a:t>External calls may lead to reentrancies</a:t>
            </a:r>
          </a:p>
          <a:p>
            <a:pPr lvl="1"/>
            <a:r>
              <a:rPr lang="en-GB" dirty="0"/>
              <a:t>Use of stale values</a:t>
            </a:r>
          </a:p>
          <a:p>
            <a:pPr lvl="1"/>
            <a:r>
              <a:rPr lang="en-GB" dirty="0"/>
              <a:t>Aliasing / address collision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7C42-FB59-CAE2-9B7F-1D860630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9ADB3-8006-C4A9-3320-DD38A2A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Main Goals: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Prevent reentrancy vulnerabilities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Improve code auditability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Offload responsibility to the compiler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Model reentrancy natively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Explicitly track side effects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Type-safe state machines via ADTs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01B2D-45F9-4CC5-97D3-15526092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6BB46-9FB5-E1E0-648E-20024720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E6401-D918-2C7C-0EB8-759F7A59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013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State of the Art:</a:t>
            </a:r>
          </a:p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CH" dirty="0"/>
              <a:t>There is no</a:t>
            </a:r>
            <a:r>
              <a:rPr lang="en-GB" dirty="0"/>
              <a:t> “safety by default”</a:t>
            </a:r>
          </a:p>
          <a:p>
            <a:endParaRPr lang="en-GB" dirty="0"/>
          </a:p>
          <a:p>
            <a:r>
              <a:rPr lang="en-CH" dirty="0"/>
              <a:t>But w</a:t>
            </a:r>
            <a:r>
              <a:rPr lang="en-GB" dirty="0"/>
              <a:t>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Setup:</a:t>
            </a:r>
          </a:p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95C0FE-4E10-9375-1ECF-F84BB4B80162}"/>
              </a:ext>
            </a:extLst>
          </p:cNvPr>
          <p:cNvSpPr txBox="1">
            <a:spLocks/>
          </p:cNvSpPr>
          <p:nvPr/>
        </p:nvSpPr>
        <p:spPr>
          <a:xfrm>
            <a:off x="7772188" y="1526183"/>
            <a:ext cx="40927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Approaches:</a:t>
            </a:r>
          </a:p>
          <a:p>
            <a:r>
              <a:rPr lang="en-GB" i="1" dirty="0"/>
              <a:t>Entry-point Annotation</a:t>
            </a:r>
          </a:p>
          <a:p>
            <a:r>
              <a:rPr lang="en-GB" i="1" dirty="0"/>
              <a:t>Call-site Annotation</a:t>
            </a:r>
          </a:p>
          <a:p>
            <a:r>
              <a:rPr lang="en-GB" i="1" dirty="0"/>
              <a:t>Call Path Specification</a:t>
            </a:r>
          </a:p>
        </p:txBody>
      </p: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  <p:bldP spid="8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839E-1D31-C2EA-55B5-AFFD899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95571C-1B05-36B2-CA30-2BCC6D9A89F8}"/>
              </a:ext>
            </a:extLst>
          </p:cNvPr>
          <p:cNvCxnSpPr>
            <a:endCxn id="14" idx="1"/>
          </p:cNvCxnSpPr>
          <p:nvPr/>
        </p:nvCxnSpPr>
        <p:spPr>
          <a:xfrm flipV="1">
            <a:off x="1451113" y="3884415"/>
            <a:ext cx="3793985" cy="4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9DAA39-0296-13BE-9A06-AD742E931F85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451113" y="3884415"/>
            <a:ext cx="3793985" cy="2103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B799226D-B487-5950-0232-51D89CA98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3FADE269-BAE5-C9EF-9FD4-766F65082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  <p:pic>
        <p:nvPicPr>
          <p:cNvPr id="21" name="Graphic 20" descr="Unlock with solid fill">
            <a:extLst>
              <a:ext uri="{FF2B5EF4-FFF2-40B4-BE49-F238E27FC236}">
                <a16:creationId xmlns:a16="http://schemas.microsoft.com/office/drawing/2014/main" id="{FDE7F801-2CFF-BC7A-6822-A7114EA87B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D9DA2BEC-8A7A-9823-44DB-4AE7C2D34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8FA75C7E-CB6E-BCC0-D2F2-C8338C735719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D43C00A5-0946-A3FB-0FA1-FB684211B3D2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DDF6FE3-ED9B-09CC-DE1A-5558A960360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DFD417B0-A36A-DCCE-3893-5B02C936BD41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A8D9408F-AC1D-F0CF-47C1-125F1506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2039995-966F-F518-935C-E71F47BEEBAF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9E6C196-6ACE-AB17-035D-77C74BDCEF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29CC9EC-5587-F5A6-CC28-850F9EF1AE1D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F4B911-DFAE-A15B-63EF-9EBE5F6B969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8C9D7C18-CDA2-6AD9-98AA-178AC570A0BA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10A74E1D-3DAE-26FE-1469-13C51CF392A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22981F2E-6842-912F-0AF5-E43A6AA5D54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E1DC-D20F-A5D2-929E-C8B08BD8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2970B-A616-A179-6B41-080F08617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65FF-E7CD-8BB5-14B7-C707D097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4350-7392-9BB1-C022-FA3683F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 dirty="0"/>
              <a:t> / XX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C65A521-315B-576B-AF69-27F69D69916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7765-AB99-2E3D-7111-0556CDFFC27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01E4F-6654-0253-99E1-05F5A86C0252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FF51A68-FE53-AEFA-590B-FFFE56884994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77C69BE-0004-A93E-91F6-2F5213665E0B}"/>
              </a:ext>
            </a:extLst>
          </p:cNvPr>
          <p:cNvCxnSpPr>
            <a:cxnSpLocks/>
            <a:stCxn id="10" idx="3"/>
            <a:endCxn id="3" idx="0"/>
          </p:cNvCxnSpPr>
          <p:nvPr/>
        </p:nvCxnSpPr>
        <p:spPr>
          <a:xfrm>
            <a:off x="7129460" y="3884455"/>
            <a:ext cx="2112170" cy="166535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32FF741-8357-34F8-EF14-37597551B9F1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7129461" y="3275649"/>
            <a:ext cx="2112169" cy="775341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2435B42-5D2D-37A2-E544-2D16886C778B}"/>
              </a:ext>
            </a:extLst>
          </p:cNvPr>
          <p:cNvSpPr txBox="1"/>
          <p:nvPr/>
        </p:nvSpPr>
        <p:spPr>
          <a:xfrm>
            <a:off x="7744032" y="2813943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295493E3-F5EF-E0A2-AF16-931DB613F96E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FC3E821B-61B3-E586-C182-28575F732FFD}"/>
              </a:ext>
            </a:extLst>
          </p:cNvPr>
          <p:cNvCxnSpPr>
            <a:cxnSpLocks/>
            <a:stCxn id="3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27587"/>
              <a:gd name="adj2" fmla="val 12322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D2F0E4D-51A5-EDCE-AD4B-D7720C79A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535364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8571525-E31D-9835-FC37-3956D406A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4709"/>
              </p:ext>
            </p:extLst>
          </p:nvPr>
        </p:nvGraphicFramePr>
        <p:xfrm>
          <a:off x="5479529" y="369899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0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110CB-7FAC-B7A2-8BCD-CAB2B9532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1C4F22-9ED3-94B1-9CC4-CBF4B19CD908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2209800" y="4493300"/>
            <a:ext cx="3035298" cy="4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1E558-118F-8AFD-1794-3FC7DCDAEEF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BA61E04E-62C4-87C4-76EC-C4F160F6859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5D5F348-8292-33B7-69C9-5133D7FC129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B5008202-12CD-935B-DE37-320E6CF202B8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70DD79F8-0DD9-57A3-6B88-FE546F8E2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852A4894-3A5F-954F-2794-128661B91BBD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224C84D-0C3B-CA3B-F1AE-FC360444FE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E2E373A-8A20-9EA8-B277-64EC0695B746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15B164-03ED-3478-6B43-18CE59A50C5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F86C1661-A593-E760-764E-FC17649060A0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21531A5-5DDC-FFAE-4E0C-C490AC722116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172DBFE5-AF6F-1942-0925-95581493CE43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E9EEFFD-CC94-3287-FE3C-3DD339C1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4898F-3601-1398-853A-7E0C785D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18F5-7F94-D63A-6432-B13A91B65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7BB6-3CA9-92DC-47D6-89E644F3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 dirty="0"/>
              <a:t> / XX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5C3FD0A6-AC8F-B78B-F404-B23D23CA3F3C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86EBE-5AD8-C152-7006-921C6288E3F8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9735A-3BCB-8564-2B05-4E26636D58D1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07EA183E-CA00-EBDC-982D-02B193AC2C59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50E338A7-CA9B-69C7-05EF-3185DCCF3863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914CB2-40F0-8FAE-6F3D-30A7B96A45C1}"/>
              </a:ext>
            </a:extLst>
          </p:cNvPr>
          <p:cNvCxnSpPr>
            <a:cxnSpLocks/>
          </p:cNvCxnSpPr>
          <p:nvPr/>
        </p:nvCxnSpPr>
        <p:spPr>
          <a:xfrm>
            <a:off x="2209800" y="4497388"/>
            <a:ext cx="3035298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8A9BE7EF-BAB1-7A5E-3B22-9121E8F0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5" name="Graphic 24" descr="Unlock with solid fill">
            <a:extLst>
              <a:ext uri="{FF2B5EF4-FFF2-40B4-BE49-F238E27FC236}">
                <a16:creationId xmlns:a16="http://schemas.microsoft.com/office/drawing/2014/main" id="{29EE1C6D-4A6C-0A8A-1F6B-4E754B3120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C4D5567-9659-05FA-B712-FA34F872D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37593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pSp>
        <p:nvGrpSpPr>
          <p:cNvPr id="30" name="Group 29">
            <a:extLst>
              <a:ext uri="{FF2B5EF4-FFF2-40B4-BE49-F238E27FC236}">
                <a16:creationId xmlns:a16="http://schemas.microsoft.com/office/drawing/2014/main" id="{A4FD0E24-DE9A-4617-AB3C-399B4445E34F}"/>
              </a:ext>
            </a:extLst>
          </p:cNvPr>
          <p:cNvGrpSpPr/>
          <p:nvPr/>
        </p:nvGrpSpPr>
        <p:grpSpPr>
          <a:xfrm>
            <a:off x="3858247" y="2342878"/>
            <a:ext cx="2316019" cy="2861819"/>
            <a:chOff x="3858247" y="2342878"/>
            <a:chExt cx="2316019" cy="286181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F660AA-2646-F27C-C3A2-B742D4E92819}"/>
                </a:ext>
              </a:extLst>
            </p:cNvPr>
            <p:cNvSpPr/>
            <p:nvPr/>
          </p:nvSpPr>
          <p:spPr>
            <a:xfrm>
              <a:off x="4460391" y="2771304"/>
              <a:ext cx="1111733" cy="2433393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F8BD3C-13C1-94C7-148A-614F5D49CB9C}"/>
                </a:ext>
              </a:extLst>
            </p:cNvPr>
            <p:cNvSpPr txBox="1"/>
            <p:nvPr/>
          </p:nvSpPr>
          <p:spPr>
            <a:xfrm>
              <a:off x="3858247" y="2342878"/>
              <a:ext cx="2316019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175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All entry-points open!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25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A856799-1E66-A584-7A26-EF49AFA2430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530856" y="4493300"/>
            <a:ext cx="271424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E8FFF5-FE4D-0885-205B-E79C165AFDD4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530856" y="4493300"/>
            <a:ext cx="2714242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073379" y="308880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073378" y="3697685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cxnSpLocks/>
            <a:stCxn id="8" idx="2"/>
            <a:endCxn id="14" idx="1"/>
          </p:cNvCxnSpPr>
          <p:nvPr/>
        </p:nvCxnSpPr>
        <p:spPr>
          <a:xfrm rot="5400000" flipH="1">
            <a:off x="6720798" y="2408715"/>
            <a:ext cx="1045131" cy="3996532"/>
          </a:xfrm>
          <a:prstGeom prst="curvedConnector4">
            <a:avLst>
              <a:gd name="adj1" fmla="val -86580"/>
              <a:gd name="adj2" fmla="val 121966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cxnSpLocks/>
            <a:stCxn id="8" idx="2"/>
            <a:endCxn id="16" idx="1"/>
          </p:cNvCxnSpPr>
          <p:nvPr/>
        </p:nvCxnSpPr>
        <p:spPr>
          <a:xfrm rot="5400000" flipH="1">
            <a:off x="6416396" y="2104313"/>
            <a:ext cx="1653937" cy="3996531"/>
          </a:xfrm>
          <a:prstGeom prst="curvedConnector4">
            <a:avLst>
              <a:gd name="adj1" fmla="val -71988"/>
              <a:gd name="adj2" fmla="val 135789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D81147-3440-4C96-217F-F8DF963389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6166970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19FE9E39-E635-2718-3191-5C18BFA27ECB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4BCDEFC-A7A6-6ABB-447A-DEDA5256A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072999"/>
              </p:ext>
            </p:extLst>
          </p:nvPr>
        </p:nvGraphicFramePr>
        <p:xfrm>
          <a:off x="5774236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111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8F403C-FD16-0F4F-6E5E-412C366B858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0B710-19C3-57CE-534E-F202F0C818D0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A8388B2-19C8-8EBF-8CF4-B2C66682B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86260"/>
              </p:ext>
            </p:extLst>
          </p:nvPr>
        </p:nvGraphicFramePr>
        <p:xfrm>
          <a:off x="5774234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EB4A287-44CC-236D-E411-23BC01F4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67440"/>
              </p:ext>
            </p:extLst>
          </p:nvPr>
        </p:nvGraphicFramePr>
        <p:xfrm>
          <a:off x="5774232" y="3700800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" grpId="0" uiExpand="1" build="p"/>
      <p:bldP spid="18" grpId="0"/>
      <p:bldP spid="19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4C53-7C47-176D-438F-20F07AF8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9581-0565-A5C3-E2F1-32FB7EE1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E0DE-2A84-BD92-F163-B326BB152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GB" dirty="0"/>
              <a:t>How do developers ensure correctness of side effects?</a:t>
            </a:r>
          </a:p>
          <a:p>
            <a:pPr lvl="1"/>
            <a:r>
              <a:rPr lang="en-GB" dirty="0"/>
              <a:t>Minimize number</a:t>
            </a:r>
          </a:p>
          <a:p>
            <a:pPr lvl="1"/>
            <a:r>
              <a:rPr lang="en-GB" dirty="0"/>
              <a:t>Encapsulate</a:t>
            </a:r>
          </a:p>
          <a:p>
            <a:pPr lvl="1"/>
            <a:r>
              <a:rPr lang="en-GB" dirty="0"/>
              <a:t>Documentation / Comments</a:t>
            </a:r>
          </a:p>
          <a:p>
            <a:r>
              <a:rPr lang="en-GB" dirty="0"/>
              <a:t>What about auditors?</a:t>
            </a:r>
          </a:p>
          <a:p>
            <a:pPr lvl="1"/>
            <a:r>
              <a:rPr lang="en-GB" dirty="0"/>
              <a:t>“Summarize” every function:</a:t>
            </a:r>
          </a:p>
          <a:p>
            <a:pPr lvl="2"/>
            <a:r>
              <a:rPr lang="en-GB" dirty="0"/>
              <a:t>Inputs / outputs</a:t>
            </a:r>
          </a:p>
          <a:p>
            <a:pPr lvl="2"/>
            <a:r>
              <a:rPr lang="en-GB" dirty="0"/>
              <a:t>State mutations</a:t>
            </a:r>
          </a:p>
          <a:p>
            <a:pPr lvl="2"/>
            <a:r>
              <a:rPr lang="en-GB" dirty="0"/>
              <a:t>External calls</a:t>
            </a:r>
          </a:p>
          <a:p>
            <a:pPr lvl="2"/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Let’s look at real-world examples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CA053-34D6-FDFA-8419-E21FEC457A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B9E9-E02D-43BD-C5AD-1193FCB1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69CB-5671-B365-26E2-10B7C293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59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64E0-56A1-44A2-5A15-A42529CC4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75B156C-02C7-6DB7-E16A-63590B4C0C5E}"/>
              </a:ext>
            </a:extLst>
          </p:cNvPr>
          <p:cNvSpPr txBox="1">
            <a:spLocks/>
          </p:cNvSpPr>
          <p:nvPr/>
        </p:nvSpPr>
        <p:spPr>
          <a:xfrm>
            <a:off x="1311797" y="1825625"/>
            <a:ext cx="10020568" cy="4351338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updateA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updateB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updateC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updateD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 err="1">
                <a:solidFill>
                  <a:schemeClr val="accent6"/>
                </a:solidFill>
              </a:rPr>
              <a:t>updateE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3709-097B-4A1B-2D58-71994358B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1830" y="1825625"/>
            <a:ext cx="10020568" cy="4351338"/>
          </a:xfrm>
        </p:spPr>
        <p:txBody>
          <a:bodyPr/>
          <a:lstStyle/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updatePrincipalReserveStateOnLiquidationInternal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updateCollateralReserveStateOnLiquidationInternal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updateUserStateOnLiquidationInternal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(!</a:t>
            </a:r>
            <a:r>
              <a:rPr lang="en-GB" dirty="0"/>
              <a:t>_liquidatorReceivesAToken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4B026B-357B-80F3-0B01-C4F4B17EEE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73897" cy="4351338"/>
          </a:xfrm>
        </p:spPr>
        <p:txBody>
          <a:bodyPr/>
          <a:lstStyle/>
          <a:p>
            <a:r>
              <a:rPr lang="en-GB" dirty="0"/>
              <a:t> 1</a:t>
            </a:r>
          </a:p>
          <a:p>
            <a:r>
              <a:rPr lang="en-GB" dirty="0"/>
              <a:t> 2</a:t>
            </a:r>
          </a:p>
          <a:p>
            <a:r>
              <a:rPr lang="en-GB" dirty="0"/>
              <a:t> 3</a:t>
            </a:r>
          </a:p>
          <a:p>
            <a:r>
              <a:rPr lang="en-GB" dirty="0"/>
              <a:t> 4</a:t>
            </a:r>
          </a:p>
          <a:p>
            <a:r>
              <a:rPr lang="en-GB" dirty="0"/>
              <a:t> 5</a:t>
            </a:r>
          </a:p>
          <a:p>
            <a:r>
              <a:rPr lang="en-GB" dirty="0"/>
              <a:t> 6</a:t>
            </a:r>
          </a:p>
          <a:p>
            <a:r>
              <a:rPr lang="en-GB" dirty="0"/>
              <a:t> 7</a:t>
            </a:r>
          </a:p>
          <a:p>
            <a:r>
              <a:rPr lang="en-GB" dirty="0"/>
              <a:t> 8</a:t>
            </a:r>
          </a:p>
          <a:p>
            <a:r>
              <a:rPr lang="en-GB" dirty="0"/>
              <a:t> 9</a:t>
            </a:r>
          </a:p>
          <a:p>
            <a:r>
              <a:rPr lang="en-GB" dirty="0"/>
              <a:t>10</a:t>
            </a:r>
          </a:p>
          <a:p>
            <a:r>
              <a:rPr lang="en-GB" dirty="0"/>
              <a:t>11</a:t>
            </a:r>
          </a:p>
          <a:p>
            <a:r>
              <a:rPr lang="en-GB" dirty="0"/>
              <a:t>12</a:t>
            </a:r>
          </a:p>
          <a:p>
            <a:r>
              <a:rPr lang="en-GB" dirty="0"/>
              <a:t>13</a:t>
            </a:r>
          </a:p>
          <a:p>
            <a:r>
              <a:rPr lang="en-GB" dirty="0"/>
              <a:t>14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B8779-F89A-3C28-E9CE-1296751C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AAVE Lending Pool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6BA69-CF57-B0DB-A81A-3949AC86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269A4-BF7F-3104-D2D9-40A65F20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B003D-713F-D20F-F5A5-15D7EE65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2A6186-AA78-9E1E-9ED5-37E98A1C64CF}"/>
              </a:ext>
            </a:extLst>
          </p:cNvPr>
          <p:cNvCxnSpPr/>
          <p:nvPr/>
        </p:nvCxnSpPr>
        <p:spPr>
          <a:xfrm>
            <a:off x="131196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B7364-799E-D8FA-7AE0-83D785F78D0F}"/>
              </a:ext>
            </a:extLst>
          </p:cNvPr>
          <p:cNvGrpSpPr/>
          <p:nvPr/>
        </p:nvGrpSpPr>
        <p:grpSpPr>
          <a:xfrm>
            <a:off x="838200" y="1825625"/>
            <a:ext cx="10494198" cy="4351338"/>
            <a:chOff x="838200" y="1825625"/>
            <a:chExt cx="10494198" cy="435133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7BC53A-F3C3-8B89-12CD-E15970610630}"/>
                </a:ext>
              </a:extLst>
            </p:cNvPr>
            <p:cNvGrpSpPr/>
            <p:nvPr/>
          </p:nvGrpSpPr>
          <p:grpSpPr>
            <a:xfrm>
              <a:off x="838200" y="1825625"/>
              <a:ext cx="10494198" cy="4351338"/>
              <a:chOff x="838200" y="1825625"/>
              <a:chExt cx="10494198" cy="435133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AE78B5C-7EE4-BCF6-BF5B-4A4BAC220DE6}"/>
                  </a:ext>
                </a:extLst>
              </p:cNvPr>
              <p:cNvSpPr/>
              <p:nvPr/>
            </p:nvSpPr>
            <p:spPr>
              <a:xfrm>
                <a:off x="838200" y="1825625"/>
                <a:ext cx="10494198" cy="331166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12A9F1E-CBF8-EF42-87A3-429639861F4E}"/>
                  </a:ext>
                </a:extLst>
              </p:cNvPr>
              <p:cNvSpPr/>
              <p:nvPr/>
            </p:nvSpPr>
            <p:spPr>
              <a:xfrm>
                <a:off x="838200" y="4343398"/>
                <a:ext cx="10494198" cy="1833565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83A52B-784A-2DA6-3A64-9C7C2AAC9333}"/>
                  </a:ext>
                </a:extLst>
              </p:cNvPr>
              <p:cNvSpPr/>
              <p:nvPr/>
            </p:nvSpPr>
            <p:spPr>
              <a:xfrm>
                <a:off x="838200" y="2156791"/>
                <a:ext cx="1119809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B02D734-BA94-3D7E-FFD7-DE7B53A74980}"/>
                  </a:ext>
                </a:extLst>
              </p:cNvPr>
              <p:cNvSpPr/>
              <p:nvPr/>
            </p:nvSpPr>
            <p:spPr>
              <a:xfrm>
                <a:off x="3220280" y="2155599"/>
                <a:ext cx="8112085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F8F6F-0EB9-23F8-39A5-70FBC9A0E197}"/>
                </a:ext>
              </a:extLst>
            </p:cNvPr>
            <p:cNvGrpSpPr/>
            <p:nvPr/>
          </p:nvGrpSpPr>
          <p:grpSpPr>
            <a:xfrm>
              <a:off x="1958009" y="2156791"/>
              <a:ext cx="5318313" cy="2186609"/>
              <a:chOff x="1958009" y="2156791"/>
              <a:chExt cx="5318313" cy="2186609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8D10433-A19D-2CBC-E11F-6FA914418BD9}"/>
                  </a:ext>
                </a:extLst>
              </p:cNvPr>
              <p:cNvSpPr/>
              <p:nvPr/>
            </p:nvSpPr>
            <p:spPr>
              <a:xfrm>
                <a:off x="1958009" y="2156791"/>
                <a:ext cx="1262138" cy="2186609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124299-16F8-27D8-78BC-8BAD10185503}"/>
                  </a:ext>
                </a:extLst>
              </p:cNvPr>
              <p:cNvSpPr txBox="1"/>
              <p:nvPr/>
            </p:nvSpPr>
            <p:spPr>
              <a:xfrm>
                <a:off x="3440977" y="2834596"/>
                <a:ext cx="3835345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GB" sz="2400" b="1" dirty="0"/>
                  <a:t>Each update(…) modifies</a:t>
                </a:r>
                <a:br>
                  <a:rPr lang="en-GB" sz="2400" b="1" dirty="0"/>
                </a:br>
                <a:r>
                  <a:rPr lang="en-GB" sz="2400" b="1" dirty="0"/>
                  <a:t>exactly one state variable!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837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uiExpand="1" build="p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C44-662B-803C-5CE0-E81E2C615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BC6968-8ADD-FCFE-D423-1B4B633E0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085EC62-91D3-9FBA-3F51-CE89FCA47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7D4589D-780F-6B7D-7438-E98FF9EA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9AF2F5C6-1BD9-0E7C-6D31-7CCC4F89F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30E7EFF3-F9B9-4577-5DC2-8609FE481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D5BCFEE7-CD5C-71DE-EFC6-5FB461D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229ED6-9D83-EB6D-10E3-3ACA825B2A1C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C455860-E70E-EB41-AF0C-ADAC58FCA201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A7EBA9-D353-162A-EDC8-5D7999FC1AAB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60B5-3E6B-4553-B592-2F8D1B3EB19D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DBD96A-E5AC-D998-7672-B7E153477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Developers are “manually” tracking side effects</a:t>
            </a:r>
          </a:p>
          <a:p>
            <a:r>
              <a:rPr lang="en-GB" dirty="0"/>
              <a:t>Comments can be wrong or misleading</a:t>
            </a:r>
          </a:p>
          <a:p>
            <a:pPr marL="0" indent="0">
              <a:buNone/>
            </a:pPr>
            <a:endParaRPr lang="en-GB" sz="1600" i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Why not let the compiler enforce this?</a:t>
            </a:r>
          </a:p>
          <a:p>
            <a:pPr>
              <a:buFont typeface="Aptos" panose="020B0004020202020204" pitchFamily="34" charset="0"/>
              <a:buChar char="→"/>
            </a:pPr>
            <a:endParaRPr lang="en-GB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796D71-AEFD-B154-A507-E34BF4D571BF}"/>
              </a:ext>
            </a:extLst>
          </p:cNvPr>
          <p:cNvGrpSpPr/>
          <p:nvPr/>
        </p:nvGrpSpPr>
        <p:grpSpPr>
          <a:xfrm>
            <a:off x="3508514" y="1501947"/>
            <a:ext cx="3482006" cy="2296063"/>
            <a:chOff x="3508514" y="1501947"/>
            <a:chExt cx="3482006" cy="22960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F8C14B0-CD06-F667-D89A-93D2841720CE}"/>
                </a:ext>
              </a:extLst>
            </p:cNvPr>
            <p:cNvSpPr/>
            <p:nvPr/>
          </p:nvSpPr>
          <p:spPr>
            <a:xfrm>
              <a:off x="3508514" y="1501947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9F5FC-8757-2BC0-3825-D5D821C7AD13}"/>
                </a:ext>
              </a:extLst>
            </p:cNvPr>
            <p:cNvSpPr/>
            <p:nvPr/>
          </p:nvSpPr>
          <p:spPr>
            <a:xfrm>
              <a:off x="3680792" y="3332098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98716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811351"/>
            <a:ext cx="9418983" cy="122770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6F46601-6C53-E4FC-D1B0-123281F13883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8120A34-E390-F553-3801-2836C57BC691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F71ED97-1E32-23E0-5F65-D96B4D971144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B18BBD-8137-A0E9-CEEF-2E242202593F}"/>
              </a:ext>
            </a:extLst>
          </p:cNvPr>
          <p:cNvGrpSpPr/>
          <p:nvPr/>
        </p:nvGrpSpPr>
        <p:grpSpPr>
          <a:xfrm>
            <a:off x="1003851" y="2594113"/>
            <a:ext cx="6640119" cy="2573198"/>
            <a:chOff x="1003851" y="2594113"/>
            <a:chExt cx="6640119" cy="257319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62F3486-87E2-F79F-3062-B359474B8EC4}"/>
                </a:ext>
              </a:extLst>
            </p:cNvPr>
            <p:cNvGrpSpPr/>
            <p:nvPr/>
          </p:nvGrpSpPr>
          <p:grpSpPr>
            <a:xfrm>
              <a:off x="1003851" y="2594113"/>
              <a:ext cx="6640119" cy="2573198"/>
              <a:chOff x="1003851" y="2594113"/>
              <a:chExt cx="6640119" cy="25731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64006B1-120D-D39E-EE07-2EC2E2E17F25}"/>
                  </a:ext>
                </a:extLst>
              </p:cNvPr>
              <p:cNvSpPr/>
              <p:nvPr/>
            </p:nvSpPr>
            <p:spPr>
              <a:xfrm>
                <a:off x="1003852" y="2594113"/>
                <a:ext cx="5943593" cy="67586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318C1CD-39B4-368B-CCD8-D3AE1FCF47F7}"/>
                  </a:ext>
                </a:extLst>
              </p:cNvPr>
              <p:cNvSpPr/>
              <p:nvPr/>
            </p:nvSpPr>
            <p:spPr>
              <a:xfrm>
                <a:off x="1003851" y="4224130"/>
                <a:ext cx="6640119" cy="94318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CF31A9-4C0C-5E3A-8604-0DBC5AA9A9EF}"/>
                </a:ext>
              </a:extLst>
            </p:cNvPr>
            <p:cNvSpPr txBox="1"/>
            <p:nvPr/>
          </p:nvSpPr>
          <p:spPr>
            <a:xfrm>
              <a:off x="1719465" y="3547503"/>
              <a:ext cx="3657605" cy="461665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sz="2400" b="1" i="1" dirty="0">
                  <a:solidFill>
                    <a:schemeClr val="bg1"/>
                  </a:solidFill>
                </a:rPr>
                <a:t>Let’s trust the developer!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03CD34-8CF8-7920-7278-8AD218737DBF}"/>
              </a:ext>
            </a:extLst>
          </p:cNvPr>
          <p:cNvGrpSpPr/>
          <p:nvPr/>
        </p:nvGrpSpPr>
        <p:grpSpPr>
          <a:xfrm>
            <a:off x="6649278" y="2747377"/>
            <a:ext cx="3319670" cy="369332"/>
            <a:chOff x="6649278" y="2747377"/>
            <a:chExt cx="331967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092DE2-CBC6-208A-EE07-5C684DECF9AA}"/>
                </a:ext>
              </a:extLst>
            </p:cNvPr>
            <p:cNvSpPr txBox="1"/>
            <p:nvPr/>
          </p:nvSpPr>
          <p:spPr>
            <a:xfrm>
              <a:off x="7237209" y="2747377"/>
              <a:ext cx="2731739" cy="369332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b="1" i="1" dirty="0">
                  <a:solidFill>
                    <a:schemeClr val="bg1"/>
                  </a:solidFill>
                </a:rPr>
                <a:t>Extra external call here!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933E38-2352-2B41-FBE2-5CC232092638}"/>
                </a:ext>
              </a:extLst>
            </p:cNvPr>
            <p:cNvCxnSpPr>
              <a:stCxn id="19" idx="1"/>
            </p:cNvCxnSpPr>
            <p:nvPr/>
          </p:nvCxnSpPr>
          <p:spPr>
            <a:xfrm flipH="1">
              <a:off x="6649278" y="2932043"/>
              <a:ext cx="587931" cy="89453"/>
            </a:xfrm>
            <a:prstGeom prst="straightConnector1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  <a:effectLst>
              <a:outerShdw blurRad="114300" dist="63500" dir="2700000" algn="tl" rotWithShape="0">
                <a:prstClr val="black">
                  <a:alpha val="50000"/>
                </a:prst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1D33A27-766D-A641-913E-40908011247B}"/>
              </a:ext>
            </a:extLst>
          </p:cNvPr>
          <p:cNvSpPr/>
          <p:nvPr/>
        </p:nvSpPr>
        <p:spPr>
          <a:xfrm>
            <a:off x="1321904" y="3429000"/>
            <a:ext cx="3359407" cy="357809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D8967E-3757-5E64-6151-CE0BF07CAC57}"/>
              </a:ext>
            </a:extLst>
          </p:cNvPr>
          <p:cNvSpPr/>
          <p:nvPr/>
        </p:nvSpPr>
        <p:spPr>
          <a:xfrm>
            <a:off x="4244009" y="3706529"/>
            <a:ext cx="1361661" cy="33400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CDB3-D066-AA1D-B194-0160FE2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2684EF-EF40-A034-A93E-03BDDE73F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1C0CC55-D537-6813-595A-CCD3A1D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BE8F70-D1B3-697F-1589-28A74FFD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1A75E61-4958-DA76-A860-64090C69D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36" y="-1128"/>
            <a:ext cx="5770179" cy="6858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B15366B-036D-2ABF-613B-9F3DDDC031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886" y="136525"/>
            <a:ext cx="6011114" cy="6582694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F6E7908A-4B76-548A-9F37-5AFB3DB09FD7}"/>
              </a:ext>
            </a:extLst>
          </p:cNvPr>
          <p:cNvGrpSpPr/>
          <p:nvPr/>
        </p:nvGrpSpPr>
        <p:grpSpPr>
          <a:xfrm>
            <a:off x="6011115" y="3427872"/>
            <a:ext cx="3649719" cy="2948356"/>
            <a:chOff x="6011115" y="3427872"/>
            <a:chExt cx="3649719" cy="2948356"/>
          </a:xfrm>
          <a:effectLst>
            <a:outerShdw blurRad="1143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C8BC9E3-17DF-44A0-B7BF-2AD325072480}"/>
                </a:ext>
              </a:extLst>
            </p:cNvPr>
            <p:cNvSpPr/>
            <p:nvPr/>
          </p:nvSpPr>
          <p:spPr>
            <a:xfrm>
              <a:off x="8153400" y="6011102"/>
              <a:ext cx="1507434" cy="365126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D887D4-E1C3-B28F-A1DB-BB554F21CC60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>
              <a:off x="6011115" y="3427872"/>
              <a:ext cx="2307937" cy="2416337"/>
            </a:xfrm>
            <a:prstGeom prst="straightConnector1">
              <a:avLst/>
            </a:prstGeom>
            <a:ln w="635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5BB97F6-029A-DEDF-FD5A-D218FB3DFB0E}"/>
              </a:ext>
            </a:extLst>
          </p:cNvPr>
          <p:cNvSpPr txBox="1"/>
          <p:nvPr/>
        </p:nvSpPr>
        <p:spPr>
          <a:xfrm>
            <a:off x="5311322" y="5958624"/>
            <a:ext cx="2594113" cy="46166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bg1"/>
                </a:solidFill>
              </a:rPr>
              <a:t>Another 200 LoC!</a:t>
            </a:r>
          </a:p>
        </p:txBody>
      </p:sp>
    </p:spTree>
    <p:extLst>
      <p:ext uri="{BB962C8B-B14F-4D97-AF65-F5344CB8AC3E}">
        <p14:creationId xmlns:p14="http://schemas.microsoft.com/office/powerpoint/2010/main" val="322305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A7-1E15-7D9B-E7E1-6A381F2C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4E91E9-D240-7413-1D2F-AF17AF144F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FA7516C-E150-AF1B-1AFD-9B3B4620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A0301BD-6EC4-4975-E133-D7720A09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3B2F76-4C26-ADBF-849A-B1E4DC31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864F4-CB33-0A6C-BC08-D1007208B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25557"/>
            <a:ext cx="9418983" cy="151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</a:p>
          <a:p>
            <a:pPr marL="0" indent="0">
              <a:buNone/>
            </a:pPr>
            <a:r>
              <a:rPr lang="en-GB" i="1" dirty="0"/>
              <a:t>→ How do they interact with the external calls?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196D976-3091-EF97-8853-2F37765B8A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3A28A-3E7A-2A9B-836F-22D190ED30DD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C08FC7-AEA9-7A33-84F0-7192A82DF8DB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5AB7CF-03E2-B960-D1EC-ACED4BD1D553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71D8556-932A-2D80-AA9C-F874F6F0EE02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9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i="1" dirty="0">
                <a:latin typeface="Calibri" panose="020F0502020204030204" pitchFamily="34" charset="0"/>
                <a:cs typeface="Calibri" panose="020F0502020204030204" pitchFamily="34" charset="0"/>
              </a:rPr>
              <a:t>We can leverage our reentrancy protection!</a:t>
            </a:r>
            <a:endParaRPr lang="en-CH" i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F942A-BBFC-9E1F-856B-26B877C6E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5943" y="402259"/>
            <a:ext cx="5425850" cy="5919029"/>
          </a:xfrm>
        </p:spPr>
        <p:txBody>
          <a:bodyPr/>
          <a:lstStyle/>
          <a:p>
            <a:r>
              <a:rPr lang="en-CH" sz="1600" dirty="0">
                <a:solidFill>
                  <a:schemeClr val="accent1"/>
                </a:solidFill>
              </a:rPr>
              <a:t>contract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FlashLoan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debt</a:t>
            </a:r>
            <a:r>
              <a:rPr lang="en-CH" sz="1600" dirty="0">
                <a:solidFill>
                  <a:schemeClr val="accent1"/>
                </a:solidFill>
              </a:rPr>
              <a:t>: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HashMap</a:t>
            </a:r>
            <a:r>
              <a:rPr lang="en-GB" sz="1600" dirty="0">
                <a:solidFill>
                  <a:schemeClr val="accent1"/>
                </a:solidFill>
              </a:rPr>
              <a:t>&lt;</a:t>
            </a:r>
            <a:r>
              <a:rPr lang="en-GB" sz="1600" dirty="0">
                <a:solidFill>
                  <a:schemeClr val="accent2"/>
                </a:solidFill>
              </a:rPr>
              <a:t>Address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&gt;</a:t>
            </a:r>
            <a:r>
              <a:rPr lang="en-GB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 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}</a:t>
            </a: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flashLoan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/>
              <a:t>amount</a:t>
            </a:r>
            <a:r>
              <a:rPr lang="en-GB" sz="1600" dirty="0">
                <a:solidFill>
                  <a:schemeClr val="accent1"/>
                </a:solidFill>
              </a:rPr>
              <a:t>: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GB" sz="1600" dirty="0">
                <a:solidFill>
                  <a:schemeClr val="accent4"/>
                </a:solidFill>
              </a:rPr>
              <a:t>reenters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</a:t>
            </a:r>
            <a:r>
              <a:rPr lang="en-CH" sz="1600" dirty="0"/>
              <a:t>  </a:t>
            </a:r>
            <a:r>
              <a:rPr lang="en-CH" sz="1600" dirty="0">
                <a:solidFill>
                  <a:schemeClr val="accent1"/>
                </a:solidFill>
              </a:rPr>
              <a:t>let</a:t>
            </a:r>
            <a:r>
              <a:rPr lang="en-CH" sz="1600" dirty="0"/>
              <a:t> </a:t>
            </a:r>
            <a:r>
              <a:rPr lang="en-GB" sz="1600" dirty="0"/>
              <a:t>caller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=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caller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= </a:t>
            </a:r>
            <a:r>
              <a:rPr lang="en-GB" sz="1600" dirty="0"/>
              <a:t>amount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2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transfer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amount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GB" sz="1600" dirty="0">
                <a:solidFill>
                  <a:schemeClr val="accent1"/>
                </a:solidFill>
              </a:rPr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  </a:t>
            </a:r>
            <a:r>
              <a:rPr lang="en-GB" sz="1600" dirty="0">
                <a:solidFill>
                  <a:schemeClr val="accent5"/>
                </a:solidFill>
              </a:rPr>
              <a:t>// Reentrant call into untrusted code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reentrant_call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tx2"/>
                </a:solidFill>
              </a:rPr>
              <a:t>…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GB" sz="1600" dirty="0">
              <a:solidFill>
                <a:schemeClr val="accent1"/>
              </a:solidFill>
            </a:endParaRPr>
          </a:p>
          <a:p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assert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</a:t>
            </a:r>
            <a:r>
              <a:rPr lang="en-CH" sz="1600" dirty="0">
                <a:solidFill>
                  <a:schemeClr val="accent1"/>
                </a:solidFill>
              </a:rPr>
              <a:t>==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4"/>
                </a:solidFill>
              </a:rPr>
              <a:t>0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</a:p>
          <a:p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CH" sz="1600" dirty="0"/>
          </a:p>
          <a:p>
            <a:endParaRPr lang="en-GB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7" cy="4351338"/>
          </a:xfrm>
        </p:spPr>
        <p:txBody>
          <a:bodyPr/>
          <a:lstStyle/>
          <a:p>
            <a:r>
              <a:rPr lang="en-GB" dirty="0"/>
              <a:t>First annotate the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>
                <a:solidFill>
                  <a:schemeClr val="accent1"/>
                </a:solidFill>
              </a:rPr>
              <a:t> </a:t>
            </a:r>
            <a:r>
              <a:rPr lang="en-GB" dirty="0"/>
              <a:t>effects</a:t>
            </a:r>
          </a:p>
          <a:p>
            <a:pPr lvl="1"/>
            <a:r>
              <a:rPr lang="en-GB" i="1" dirty="0"/>
              <a:t>Machine-checked</a:t>
            </a:r>
          </a:p>
          <a:p>
            <a:pPr lvl="1"/>
            <a:endParaRPr lang="en-GB" i="1" dirty="0"/>
          </a:p>
          <a:p>
            <a:r>
              <a:rPr lang="en-GB" dirty="0"/>
              <a:t>Inline effects:</a:t>
            </a:r>
          </a:p>
          <a:p>
            <a:pPr lvl="1"/>
            <a:r>
              <a:rPr lang="en-GB" dirty="0"/>
              <a:t>Only annotate if hidden</a:t>
            </a:r>
          </a:p>
          <a:p>
            <a:pPr lvl="2"/>
            <a:r>
              <a:rPr lang="en-GB" dirty="0"/>
              <a:t>e.g. function call</a:t>
            </a:r>
          </a:p>
          <a:p>
            <a:pPr marL="914400" lvl="2" indent="0">
              <a:buNone/>
            </a:pPr>
            <a:endParaRPr lang="en-GB" i="1" dirty="0"/>
          </a:p>
          <a:p>
            <a:r>
              <a:rPr lang="en-GB" dirty="0"/>
              <a:t>Reentrant call:</a:t>
            </a:r>
          </a:p>
          <a:p>
            <a:pPr lvl="1"/>
            <a:r>
              <a:rPr lang="en-GB" dirty="0"/>
              <a:t>Can only reenter  </a:t>
            </a:r>
            <a:r>
              <a:rPr lang="en-GB" sz="2000" dirty="0">
                <a:solidFill>
                  <a:schemeClr val="accent3"/>
                </a:solidFill>
                <a:latin typeface="Lucida Console" panose="020B0609040504020204" pitchFamily="49" charset="0"/>
              </a:rPr>
              <a:t>Self</a:t>
            </a:r>
            <a:r>
              <a:rPr lang="en-GB" sz="1800" spc="-300" dirty="0">
                <a:solidFill>
                  <a:schemeClr val="accent1"/>
                </a:solidFill>
                <a:latin typeface="Lucida Console" panose="020B0609040504020204" pitchFamily="49" charset="0"/>
              </a:rPr>
              <a:t>::</a:t>
            </a:r>
            <a:r>
              <a:rPr lang="en-GB" sz="2000" dirty="0">
                <a:solidFill>
                  <a:schemeClr val="accent6"/>
                </a:solidFill>
                <a:latin typeface="Lucida Console" panose="020B0609040504020204" pitchFamily="49" charset="0"/>
              </a:rPr>
              <a:t>repay</a:t>
            </a:r>
          </a:p>
          <a:p>
            <a:pPr lvl="1"/>
            <a:r>
              <a:rPr lang="en-GB" dirty="0"/>
              <a:t>Treat like a regular function call!</a:t>
            </a:r>
          </a:p>
          <a:p>
            <a:pPr marL="0" indent="0">
              <a:buNone/>
            </a:pP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60734" y="402259"/>
            <a:ext cx="395208" cy="5919029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r>
              <a:rPr lang="en-CH" sz="1600" dirty="0"/>
              <a:t>11</a:t>
            </a:r>
          </a:p>
          <a:p>
            <a:r>
              <a:rPr lang="en-CH" sz="1600" dirty="0"/>
              <a:t>12</a:t>
            </a:r>
          </a:p>
          <a:p>
            <a:r>
              <a:rPr lang="en-CH" sz="1600" dirty="0"/>
              <a:t>13</a:t>
            </a:r>
          </a:p>
          <a:p>
            <a:r>
              <a:rPr lang="en-CH" sz="1600" dirty="0"/>
              <a:t>14</a:t>
            </a:r>
          </a:p>
          <a:p>
            <a:r>
              <a:rPr lang="en-CH" sz="1600" dirty="0"/>
              <a:t>15</a:t>
            </a:r>
          </a:p>
          <a:p>
            <a:r>
              <a:rPr lang="en-CH" sz="1600" dirty="0"/>
              <a:t>16</a:t>
            </a:r>
          </a:p>
          <a:p>
            <a:r>
              <a:rPr lang="en-CH" sz="1600" dirty="0"/>
              <a:t>17</a:t>
            </a:r>
          </a:p>
          <a:p>
            <a:r>
              <a:rPr lang="en-CH" sz="1600" dirty="0"/>
              <a:t>18</a:t>
            </a:r>
          </a:p>
          <a:p>
            <a:r>
              <a:rPr lang="en-CH" sz="1600" dirty="0"/>
              <a:t>19</a:t>
            </a:r>
            <a:endParaRPr lang="en-GB" sz="1600" dirty="0"/>
          </a:p>
          <a:p>
            <a:r>
              <a:rPr lang="en-GB" sz="1600" dirty="0"/>
              <a:t>20</a:t>
            </a:r>
          </a:p>
          <a:p>
            <a:r>
              <a:rPr lang="en-GB" sz="1600" dirty="0"/>
              <a:t>21</a:t>
            </a:r>
          </a:p>
          <a:p>
            <a:r>
              <a:rPr lang="en-GB" sz="1600" dirty="0"/>
              <a:t>22</a:t>
            </a:r>
          </a:p>
          <a:p>
            <a:r>
              <a:rPr lang="en-GB" sz="1600" dirty="0"/>
              <a:t>23</a:t>
            </a:r>
            <a:endParaRPr lang="en-CH" sz="1600" dirty="0"/>
          </a:p>
          <a:p>
            <a:r>
              <a:rPr lang="en-GB" sz="1600" dirty="0"/>
              <a:t>24</a:t>
            </a:r>
            <a:endParaRPr lang="en-CH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355943" y="402259"/>
            <a:ext cx="0" cy="591902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C750C-D7CB-9689-37A6-6F759899472C}"/>
              </a:ext>
            </a:extLst>
          </p:cNvPr>
          <p:cNvSpPr/>
          <p:nvPr/>
        </p:nvSpPr>
        <p:spPr>
          <a:xfrm>
            <a:off x="6818243" y="3349487"/>
            <a:ext cx="3478687" cy="308113"/>
          </a:xfrm>
          <a:prstGeom prst="rect">
            <a:avLst/>
          </a:pr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7" grpId="0" animBg="1"/>
      <p:bldP spid="1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  <a:r>
              <a:rPr lang="en-GB" sz="3600" dirty="0">
                <a:solidFill>
                  <a:schemeClr val="tx2"/>
                </a:solidFill>
              </a:rPr>
              <a:t> (ADTs)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  <a:endParaRPr lang="en-GB" dirty="0"/>
          </a:p>
          <a:p>
            <a:r>
              <a:rPr lang="en-GB" dirty="0"/>
              <a:t>Solidity and </a:t>
            </a:r>
            <a:r>
              <a:rPr lang="en-GB" dirty="0" err="1"/>
              <a:t>Vyper</a:t>
            </a:r>
            <a:r>
              <a:rPr lang="en-GB" dirty="0"/>
              <a:t> </a:t>
            </a:r>
            <a:r>
              <a:rPr lang="en-CH" dirty="0"/>
              <a:t>do not support ADTs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  <a:r>
              <a:rPr lang="en-GB" dirty="0"/>
              <a:t> control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</a:t>
            </a:r>
            <a:r>
              <a:rPr lang="en-GB" dirty="0"/>
              <a:t>Inline </a:t>
            </a:r>
            <a:r>
              <a:rPr lang="en-CH" dirty="0"/>
              <a:t>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0411-70FB-A61F-8B6A-D4D60D2D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8AD4F-AAC6-9DAE-2DF1-9C9819E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4850"/>
          </a:xfrm>
        </p:spPr>
        <p:txBody>
          <a:bodyPr/>
          <a:lstStyle/>
          <a:p>
            <a:r>
              <a:rPr lang="en-GB" dirty="0"/>
              <a:t>Written in Rust, ~30k LoC  </a:t>
            </a:r>
            <a:r>
              <a:rPr lang="en-GB" sz="2400" dirty="0">
                <a:solidFill>
                  <a:schemeClr val="tx2"/>
                </a:solidFill>
              </a:rPr>
              <a:t>+ 10k LoC for tests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Pipeline: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6B21D-3218-EAD6-6687-C2E3505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F2731-3346-457E-1EE4-4F897911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4A1C-7985-41D8-4D38-D2E658960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290234-9EA6-0E2E-8073-B3D11CA7F1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290888" y="3731881"/>
            <a:ext cx="732236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1D9C7C-C72B-5D9A-CB9E-54BC51ABB05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947049" y="3731881"/>
            <a:ext cx="694135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C923077-A9F3-3766-3F8B-94BEF49C0B8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53262" y="3731882"/>
            <a:ext cx="6941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CD30318-0003-7503-87E5-D4971DA194D0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>
            <a:off x="8671322" y="3731882"/>
            <a:ext cx="1134665" cy="514681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C81424C-443E-DA85-8195-6C3DC46934AF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988987" y="4719474"/>
            <a:ext cx="499337" cy="1134665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008CED7-1995-B02D-1A85-E7EDCA2ECA35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6945511" y="5536475"/>
            <a:ext cx="782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A6B81F-9021-100C-921C-5CFDB123FEE2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>
            <a:off x="3900485" y="5536475"/>
            <a:ext cx="78283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B10F4A2-897C-C319-E390-140A808C4985}"/>
              </a:ext>
            </a:extLst>
          </p:cNvPr>
          <p:cNvCxnSpPr>
            <a:cxnSpLocks/>
            <a:stCxn id="52" idx="3"/>
            <a:endCxn id="7" idx="1"/>
          </p:cNvCxnSpPr>
          <p:nvPr/>
        </p:nvCxnSpPr>
        <p:spPr>
          <a:xfrm flipV="1">
            <a:off x="1737226" y="3731884"/>
            <a:ext cx="629737" cy="198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Folded Corner 51">
            <a:extLst>
              <a:ext uri="{FF2B5EF4-FFF2-40B4-BE49-F238E27FC236}">
                <a16:creationId xmlns:a16="http://schemas.microsoft.com/office/drawing/2014/main" id="{D4A12ED8-4FE1-BA92-767C-67F0A71D122C}"/>
              </a:ext>
            </a:extLst>
          </p:cNvPr>
          <p:cNvSpPr/>
          <p:nvPr/>
        </p:nvSpPr>
        <p:spPr>
          <a:xfrm>
            <a:off x="657226" y="3013868"/>
            <a:ext cx="1080000" cy="1440000"/>
          </a:xfrm>
          <a:prstGeom prst="foldedCorner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Source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File</a:t>
            </a:r>
          </a:p>
        </p:txBody>
      </p: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D085E1B-38A1-DEDE-CED0-33C21B6BBE23}"/>
              </a:ext>
            </a:extLst>
          </p:cNvPr>
          <p:cNvSpPr/>
          <p:nvPr/>
        </p:nvSpPr>
        <p:spPr>
          <a:xfrm>
            <a:off x="657226" y="4816476"/>
            <a:ext cx="1080000" cy="1440000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Solidity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Contract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8EF9EE-167D-CE58-6467-EA668F9D7873}"/>
              </a:ext>
            </a:extLst>
          </p:cNvPr>
          <p:cNvCxnSpPr>
            <a:cxnSpLocks/>
            <a:stCxn id="14" idx="1"/>
            <a:endCxn id="53" idx="3"/>
          </p:cNvCxnSpPr>
          <p:nvPr/>
        </p:nvCxnSpPr>
        <p:spPr>
          <a:xfrm flipH="1">
            <a:off x="1737226" y="5536476"/>
            <a:ext cx="6297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8117E772-2782-114B-380E-6D0D069D08EC}"/>
              </a:ext>
            </a:extLst>
          </p:cNvPr>
          <p:cNvSpPr/>
          <p:nvPr/>
        </p:nvSpPr>
        <p:spPr>
          <a:xfrm>
            <a:off x="2366963" y="3336596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Lexer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2ECE18D-1945-B035-8230-B24E1C66617B}"/>
              </a:ext>
            </a:extLst>
          </p:cNvPr>
          <p:cNvSpPr/>
          <p:nvPr/>
        </p:nvSpPr>
        <p:spPr>
          <a:xfrm>
            <a:off x="4023124" y="3336593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Parser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B8DC85E6-AC9D-0846-508C-6A7A3BC1B3C3}"/>
              </a:ext>
            </a:extLst>
          </p:cNvPr>
          <p:cNvSpPr/>
          <p:nvPr/>
        </p:nvSpPr>
        <p:spPr>
          <a:xfrm>
            <a:off x="5641184" y="3336594"/>
            <a:ext cx="141207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Desugaring</a:t>
            </a: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C55CCD0E-C183-784F-E95F-2ECF4CCD3054}"/>
              </a:ext>
            </a:extLst>
          </p:cNvPr>
          <p:cNvSpPr/>
          <p:nvPr/>
        </p:nvSpPr>
        <p:spPr>
          <a:xfrm>
            <a:off x="7747397" y="3336594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Linker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E9489989-1E64-1D9E-09C5-70778E715BBC}"/>
              </a:ext>
            </a:extLst>
          </p:cNvPr>
          <p:cNvSpPr/>
          <p:nvPr/>
        </p:nvSpPr>
        <p:spPr>
          <a:xfrm>
            <a:off x="9234488" y="4246563"/>
            <a:ext cx="114299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Type Inference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9BEF7E25-3E5C-73E9-3E39-CDDB0A770EE8}"/>
              </a:ext>
            </a:extLst>
          </p:cNvPr>
          <p:cNvSpPr/>
          <p:nvPr/>
        </p:nvSpPr>
        <p:spPr>
          <a:xfrm>
            <a:off x="7728349" y="5141187"/>
            <a:ext cx="94297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Effect Checks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A2712935-878C-5EFE-80C5-9D950A51F461}"/>
              </a:ext>
            </a:extLst>
          </p:cNvPr>
          <p:cNvSpPr/>
          <p:nvPr/>
        </p:nvSpPr>
        <p:spPr>
          <a:xfrm>
            <a:off x="4683323" y="5141187"/>
            <a:ext cx="226218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Monomorphization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CDADA884-6577-6467-CE42-2436872FE515}"/>
              </a:ext>
            </a:extLst>
          </p:cNvPr>
          <p:cNvSpPr/>
          <p:nvPr/>
        </p:nvSpPr>
        <p:spPr>
          <a:xfrm>
            <a:off x="2366962" y="5141188"/>
            <a:ext cx="153352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307007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2" grpId="0" animBg="1"/>
      <p:bldP spid="5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Solidity?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Low-level control over </a:t>
            </a:r>
            <a:r>
              <a:rPr lang="en-CH" dirty="0"/>
              <a:t>memory</a:t>
            </a:r>
            <a:endParaRPr lang="en-GB" dirty="0"/>
          </a:p>
          <a:p>
            <a:pPr lvl="1"/>
            <a:r>
              <a:rPr lang="en-CH" dirty="0"/>
              <a:t>“Inline assembly” for specific optimizations</a:t>
            </a:r>
          </a:p>
          <a:p>
            <a:r>
              <a:rPr lang="en-GB" dirty="0"/>
              <a:t>Produces optimized </a:t>
            </a:r>
            <a:r>
              <a:rPr lang="en-CH" dirty="0"/>
              <a:t>bytecode</a:t>
            </a:r>
          </a:p>
          <a:p>
            <a:r>
              <a:rPr lang="en-CH" dirty="0"/>
              <a:t>Guaranteed compatibility with existing contracts</a:t>
            </a:r>
          </a:p>
          <a:p>
            <a:r>
              <a:rPr lang="en-GB" dirty="0"/>
              <a:t>Leverage </a:t>
            </a:r>
            <a:r>
              <a:rPr lang="en-CH" dirty="0"/>
              <a:t>existing tools</a:t>
            </a:r>
            <a:r>
              <a:rPr lang="en-GB" dirty="0"/>
              <a:t> (testing / deployment)</a:t>
            </a:r>
            <a:endParaRPr lang="en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H" sz="3200" dirty="0"/>
              <a:t>Reentrancy:</a:t>
            </a:r>
          </a:p>
          <a:p>
            <a:r>
              <a:rPr lang="en-GB" dirty="0"/>
              <a:t>Safety by default prevents most bugs</a:t>
            </a:r>
            <a:endParaRPr lang="en-CH" dirty="0"/>
          </a:p>
          <a:p>
            <a:r>
              <a:rPr lang="en-CH" dirty="0"/>
              <a:t>When does it not suffice?</a:t>
            </a:r>
          </a:p>
          <a:p>
            <a:pPr lvl="1"/>
            <a:r>
              <a:rPr lang="en-CH" dirty="0"/>
              <a:t>Mandated callbacks in token standards</a:t>
            </a:r>
          </a:p>
          <a:p>
            <a:pPr lvl="1"/>
            <a:r>
              <a:rPr lang="en-CH" dirty="0"/>
              <a:t>Cross-contract reentrancies</a:t>
            </a:r>
            <a:endParaRPr lang="en-GB" dirty="0"/>
          </a:p>
          <a:p>
            <a:pPr lvl="1"/>
            <a:r>
              <a:rPr lang="en-CH" dirty="0"/>
              <a:t>Specific use cases (e.g. flash loans)</a:t>
            </a:r>
            <a:endParaRPr lang="en-GB" dirty="0"/>
          </a:p>
          <a:p>
            <a:endParaRPr lang="en-GB" sz="600" dirty="0"/>
          </a:p>
          <a:p>
            <a:pPr marL="0" indent="0">
              <a:buNone/>
            </a:pPr>
            <a:r>
              <a:rPr lang="en-CH" sz="3200" dirty="0"/>
              <a:t>Effect</a:t>
            </a:r>
            <a:r>
              <a:rPr lang="en-GB" sz="3500" dirty="0"/>
              <a:t>s</a:t>
            </a:r>
            <a:r>
              <a:rPr lang="en-CH" sz="3500" dirty="0"/>
              <a:t>:</a:t>
            </a:r>
          </a:p>
          <a:p>
            <a:r>
              <a:rPr lang="en-CH" dirty="0"/>
              <a:t>Primary goal: enhance auditability</a:t>
            </a:r>
            <a:endParaRPr lang="en-GB" dirty="0"/>
          </a:p>
          <a:p>
            <a:r>
              <a:rPr lang="en-GB" dirty="0"/>
              <a:t>Flags </a:t>
            </a:r>
            <a:r>
              <a:rPr lang="en-CH" dirty="0"/>
              <a:t>unexpected / missing side effects</a:t>
            </a:r>
          </a:p>
          <a:p>
            <a:r>
              <a:rPr lang="en-GB" dirty="0"/>
              <a:t>Propagated </a:t>
            </a:r>
            <a:r>
              <a:rPr lang="en-CH" dirty="0"/>
              <a:t>across reentrant calls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6819900" y="1822450"/>
            <a:ext cx="5270500" cy="216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H" sz="3000" dirty="0"/>
              <a:t>ADTs:</a:t>
            </a:r>
          </a:p>
          <a:p>
            <a:r>
              <a:rPr lang="en-GB" sz="2600" dirty="0"/>
              <a:t>Faithfully model state machines</a:t>
            </a:r>
          </a:p>
          <a:p>
            <a:r>
              <a:rPr lang="en-GB" sz="2600" dirty="0"/>
              <a:t>Machine-checked exhaustiveness of pattern matching</a:t>
            </a:r>
            <a:endParaRPr lang="en-CH" sz="2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1061700" cy="3822699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Can we prevent real-world reentrancies?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Do we need call path specification? </a:t>
            </a:r>
            <a:r>
              <a:rPr lang="en-GB" sz="2400" dirty="0">
                <a:solidFill>
                  <a:schemeClr val="tx2"/>
                </a:solidFill>
              </a:rPr>
              <a:t>or is ‘safety by default’ enough?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endParaRPr lang="en-GB" sz="2800" dirty="0"/>
          </a:p>
          <a:p>
            <a:r>
              <a:rPr lang="en-GB" sz="3200" dirty="0"/>
              <a:t>Same dataset as earlier</a:t>
            </a:r>
          </a:p>
          <a:p>
            <a:r>
              <a:rPr lang="en-GB" sz="3200" dirty="0"/>
              <a:t>54 reentrancy bugs</a:t>
            </a:r>
          </a:p>
          <a:p>
            <a:r>
              <a:rPr lang="en-GB" sz="3200" dirty="0"/>
              <a:t>37 could have rejected all reentrant calls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63840"/>
              </p:ext>
            </p:extLst>
          </p:nvPr>
        </p:nvGraphicFramePr>
        <p:xfrm>
          <a:off x="838200" y="2713039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Safety by Default</a:t>
                      </a:r>
                      <a:endParaRPr lang="en-CH" sz="2000" dirty="0"/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</a:t>
            </a:r>
            <a:r>
              <a:rPr lang="en-CH" dirty="0"/>
              <a:t>Reentranc</a:t>
            </a:r>
            <a:r>
              <a:rPr lang="en-GB" dirty="0"/>
              <a:t>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Performance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difference:</a:t>
            </a:r>
            <a:br>
              <a:rPr lang="en-GB" dirty="0"/>
            </a:br>
            <a:r>
              <a:rPr lang="en-CH" dirty="0"/>
              <a:t>Reentrancy guard</a:t>
            </a:r>
            <a:r>
              <a:rPr lang="en-GB" dirty="0"/>
              <a:t>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Metrics</a:t>
            </a:r>
            <a:r>
              <a:rPr lang="en-CH" b="1" dirty="0"/>
              <a:t>:</a:t>
            </a:r>
          </a:p>
          <a:p>
            <a:r>
              <a:rPr lang="en-GB" dirty="0"/>
              <a:t>Instructions consume ‘gas’</a:t>
            </a:r>
          </a:p>
          <a:p>
            <a:r>
              <a:rPr lang="en-GB" dirty="0"/>
              <a:t>Storage slots are cached</a:t>
            </a:r>
          </a:p>
          <a:p>
            <a:pPr lvl="1"/>
            <a:r>
              <a:rPr lang="en-GB" dirty="0"/>
              <a:t>Only first access is expensive</a:t>
            </a:r>
          </a:p>
          <a:p>
            <a:pPr marL="0" indent="0">
              <a:buNone/>
            </a:pPr>
            <a:r>
              <a:rPr lang="en-GB" dirty="0"/>
              <a:t>Base transaction cost: 21k gas </a:t>
            </a:r>
            <a:r>
              <a:rPr lang="en-GB" sz="2400" dirty="0">
                <a:solidFill>
                  <a:schemeClr val="tx2"/>
                </a:solidFill>
              </a:rPr>
              <a:t>~ $0.01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DD343CA-A09C-F4AB-C41A-9F6D2EDF6E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AB39-B8F8-3BF9-B996-36F31C1F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316F4-871F-1733-8D34-4D6E3603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B25E-0286-FE97-00B2-A4C30194F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Standard Practice:</a:t>
            </a:r>
          </a:p>
          <a:p>
            <a:r>
              <a:rPr lang="en-GB" dirty="0" err="1"/>
              <a:t>ReentrancyGuard</a:t>
            </a:r>
            <a:r>
              <a:rPr lang="en-GB" dirty="0"/>
              <a:t> library contract</a:t>
            </a:r>
          </a:p>
          <a:p>
            <a:r>
              <a:rPr lang="en-GB" dirty="0"/>
              <a:t>Make state-mutating functions  </a:t>
            </a:r>
            <a:r>
              <a:rPr lang="en-GB" sz="2400" dirty="0">
                <a:solidFill>
                  <a:schemeClr val="accent4"/>
                </a:solidFill>
                <a:latin typeface="Lucida Console" panose="020B0609040504020204" pitchFamily="49" charset="0"/>
              </a:rPr>
              <a:t>@nonReentrant</a:t>
            </a:r>
            <a:endParaRPr lang="en-GB" dirty="0">
              <a:solidFill>
                <a:schemeClr val="accent4"/>
              </a:solidFill>
              <a:latin typeface="Lucida Console" panose="020B0609040504020204" pitchFamily="49" charset="0"/>
            </a:endParaRPr>
          </a:p>
          <a:p>
            <a:pPr lvl="1"/>
            <a:r>
              <a:rPr lang="en-GB" dirty="0"/>
              <a:t>Guard itself modifies state → cannot be used on read-only functions</a:t>
            </a:r>
          </a:p>
          <a:p>
            <a:pPr marL="914400" lvl="2" indent="0">
              <a:buNone/>
            </a:pPr>
            <a:r>
              <a:rPr lang="en-GB" dirty="0">
                <a:solidFill>
                  <a:schemeClr val="tx2"/>
                </a:solidFill>
              </a:rPr>
              <a:t>			           → 6 cross-protocol vulnerabilities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But:</a:t>
            </a:r>
          </a:p>
          <a:p>
            <a:r>
              <a:rPr lang="en-GB" dirty="0"/>
              <a:t>Functions that make no external calls do not need to write state</a:t>
            </a:r>
          </a:p>
          <a:p>
            <a:pPr lvl="1"/>
            <a:r>
              <a:rPr lang="en-GB" dirty="0"/>
              <a:t>Choose best approach at compile-time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12FCC-6FA0-B742-3A05-0B36A0761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FA94-9793-B0E0-2403-CB03313D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1972-98DE-F96F-60EF-6B5C022C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4540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ERC20 Token Transfer: </a:t>
            </a:r>
            <a:r>
              <a:rPr lang="en-GB" sz="2000" dirty="0">
                <a:solidFill>
                  <a:schemeClr val="tx2"/>
                </a:solidFill>
              </a:rPr>
              <a:t>(no external calls, warm)</a:t>
            </a:r>
          </a:p>
          <a:p>
            <a:r>
              <a:rPr lang="en-GB" sz="2400" dirty="0"/>
              <a:t>Unguarded: 10’621 gas</a:t>
            </a:r>
          </a:p>
          <a:p>
            <a:r>
              <a:rPr lang="en-GB" sz="2400" dirty="0"/>
              <a:t>Standard guard: 10’977 gas</a:t>
            </a:r>
          </a:p>
          <a:p>
            <a:r>
              <a:rPr lang="en-GB" sz="2400" dirty="0"/>
              <a:t>Ours: 10’843 gas</a:t>
            </a:r>
            <a:r>
              <a:rPr lang="en-GB" sz="2400" dirty="0">
                <a:solidFill>
                  <a:schemeClr val="accent6"/>
                </a:solidFill>
              </a:rPr>
              <a:t> -134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ERC20 Total Supply: </a:t>
            </a:r>
            <a:r>
              <a:rPr lang="en-GB" sz="2000" dirty="0">
                <a:solidFill>
                  <a:schemeClr val="tx2"/>
                </a:solidFill>
              </a:rPr>
              <a:t>(read-only, cold)</a:t>
            </a:r>
            <a:endParaRPr lang="en-GB" sz="2400" dirty="0">
              <a:solidFill>
                <a:schemeClr val="tx2"/>
              </a:solidFill>
            </a:endParaRPr>
          </a:p>
          <a:p>
            <a:r>
              <a:rPr lang="en-GB" sz="2400" dirty="0"/>
              <a:t>Unguarded: 2248 gas</a:t>
            </a:r>
          </a:p>
          <a:p>
            <a:r>
              <a:rPr lang="en-GB" sz="2400" dirty="0"/>
              <a:t>Ours: 4489 gas </a:t>
            </a:r>
            <a:r>
              <a:rPr lang="en-GB" sz="2400" dirty="0">
                <a:solidFill>
                  <a:schemeClr val="accent1"/>
                </a:solidFill>
              </a:rPr>
              <a:t>+2241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051758"/>
              </p:ext>
            </p:extLst>
          </p:nvPr>
        </p:nvGraphicFramePr>
        <p:xfrm>
          <a:off x="5635000" y="23512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784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Standard</a:t>
                      </a:r>
                      <a:endParaRPr lang="en-CH" sz="20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D9611184-612F-CA5E-B912-D85A4BB9EF45}"/>
              </a:ext>
            </a:extLst>
          </p:cNvPr>
          <p:cNvGrpSpPr/>
          <p:nvPr/>
        </p:nvGrpSpPr>
        <p:grpSpPr>
          <a:xfrm>
            <a:off x="5635000" y="2746800"/>
            <a:ext cx="5951200" cy="3302730"/>
            <a:chOff x="5635000" y="2746800"/>
            <a:chExt cx="5951200" cy="33027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78FB08-EC6C-D15B-94E3-A3C7EEE19581}"/>
                </a:ext>
              </a:extLst>
            </p:cNvPr>
            <p:cNvSpPr/>
            <p:nvPr/>
          </p:nvSpPr>
          <p:spPr>
            <a:xfrm>
              <a:off x="7264400" y="3746500"/>
              <a:ext cx="4321800" cy="23030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499E0F-54C2-2EB0-1733-4FB0B654C188}"/>
                </a:ext>
              </a:extLst>
            </p:cNvPr>
            <p:cNvSpPr/>
            <p:nvPr/>
          </p:nvSpPr>
          <p:spPr>
            <a:xfrm>
              <a:off x="5635000" y="44069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A13C14-18E2-A9AB-EC1A-50BD61D72152}"/>
                </a:ext>
              </a:extLst>
            </p:cNvPr>
            <p:cNvSpPr/>
            <p:nvPr/>
          </p:nvSpPr>
          <p:spPr>
            <a:xfrm>
              <a:off x="7264400" y="2746800"/>
              <a:ext cx="4321800" cy="377262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569FF6D-48A3-267F-6422-ABC38D5D124C}"/>
              </a:ext>
            </a:extLst>
          </p:cNvPr>
          <p:cNvGrpSpPr/>
          <p:nvPr/>
        </p:nvGrpSpPr>
        <p:grpSpPr>
          <a:xfrm>
            <a:off x="5635000" y="2746800"/>
            <a:ext cx="5951200" cy="2670026"/>
            <a:chOff x="5635000" y="3429000"/>
            <a:chExt cx="5951200" cy="26700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D21D37-F82C-2F40-0260-9EE91D7FADE5}"/>
                </a:ext>
              </a:extLst>
            </p:cNvPr>
            <p:cNvSpPr/>
            <p:nvPr/>
          </p:nvSpPr>
          <p:spPr>
            <a:xfrm>
              <a:off x="7264400" y="3429000"/>
              <a:ext cx="4321800" cy="2670026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892CAEC-9E53-E18E-33EC-EF89909C06D6}"/>
                </a:ext>
              </a:extLst>
            </p:cNvPr>
            <p:cNvSpPr/>
            <p:nvPr/>
          </p:nvSpPr>
          <p:spPr>
            <a:xfrm>
              <a:off x="5635000" y="34290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F54A60C-3E22-7B89-190D-4FB25799FB29}"/>
              </a:ext>
            </a:extLst>
          </p:cNvPr>
          <p:cNvSpPr txBox="1"/>
          <p:nvPr/>
        </p:nvSpPr>
        <p:spPr>
          <a:xfrm>
            <a:off x="838200" y="5605335"/>
            <a:ext cx="5112513" cy="461665"/>
          </a:xfrm>
          <a:prstGeom prst="rect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accent5"/>
                </a:solidFill>
              </a:rPr>
              <a:t>Worst-case scenario: 10% extra gas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0FCEF-7C79-F266-529D-50A1021D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0B1C-9F32-F303-13AB-62061B9E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 of Effect Annotations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3A9-25EE-164D-610E-C5F3BA5FB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b="1" dirty="0"/>
          </a:p>
          <a:p>
            <a:pPr marL="0" indent="0">
              <a:buNone/>
            </a:pPr>
            <a:r>
              <a:rPr lang="en-GB" b="1" dirty="0"/>
              <a:t>Auditors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much effort is saved?</a:t>
            </a:r>
          </a:p>
          <a:p>
            <a:r>
              <a:rPr lang="en-GB" dirty="0"/>
              <a:t>Can more bugs be found?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72CFB-5493-563E-14C3-A984E57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2E53-DF42-76C4-AEC8-C7A50AFE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A2BA-5091-A440-4CA2-D2502970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FBDC41-CCEC-6986-A3EC-5597B24020D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439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0D9A-7662-E0D9-0BCC-FD119209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486F-287A-F68D-C44C-CD394DFB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4298-81E6-0024-73CE-1ED23C896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</a:t>
            </a:r>
            <a:r>
              <a:rPr lang="en-GB" i="1" dirty="0"/>
              <a:t>Overhead shrinks as contract size increases!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4591-B9DB-253B-53DD-48E50006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967EB-A7A5-9AD3-F637-F3CF27B94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52762-01E3-9C7B-DF0E-14D6290E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ACECE-3890-6C72-69D3-D5E069725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274556"/>
              </p:ext>
            </p:extLst>
          </p:nvPr>
        </p:nvGraphicFramePr>
        <p:xfrm>
          <a:off x="838200" y="2939574"/>
          <a:ext cx="7200000" cy="21234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43960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Effectful</a:t>
                      </a:r>
                      <a:br>
                        <a:rPr lang="en-GB" dirty="0"/>
                      </a:br>
                      <a:r>
                        <a:rPr lang="en-CH" dirty="0"/>
                        <a:t>Function</a:t>
                      </a:r>
                      <a:r>
                        <a:rPr lang="en-GB" dirty="0"/>
                        <a:t>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</a:t>
                      </a:r>
                      <a:r>
                        <a:rPr lang="en-GB" dirty="0"/>
                        <a:t>direct</a:t>
                      </a:r>
                      <a:r>
                        <a:rPr lang="en-CH" dirty="0"/>
                        <a:t> </a:t>
                      </a:r>
                      <a:r>
                        <a:rPr lang="en-GB" dirty="0"/>
                        <a:t>E</a:t>
                      </a:r>
                      <a:r>
                        <a:rPr lang="en-CH" dirty="0"/>
                        <a:t>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Additional LoC %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  <a:r>
                        <a:rPr lang="en-GB" dirty="0"/>
                        <a:t> / 9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16.67%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Token Exchange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</a:t>
                      </a:r>
                      <a:r>
                        <a:rPr lang="en-GB" dirty="0"/>
                        <a:t> / 16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9%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AAVE Lending Pool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5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~1100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42 / 88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32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6.73%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</a:t>
                      </a:r>
                      <a:r>
                        <a:rPr lang="en-GB" dirty="0"/>
                        <a:t> / 90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3.8%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3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2330-E480-E739-C8CD-39532A58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319489-E7AA-9087-D14F-3DC446BE34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DF9379D-5DD9-5400-C7A9-F34BBE6D0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BB56C908-A974-C5D8-488B-6DEBEFAD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61755B4-05DE-6909-723F-8EFD26BE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E9B65B31-CA88-22D3-CA9C-65F2B854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0A7A0F2-A11A-F475-B024-94FB92A8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D3E8F1-8F54-75B7-DE89-A0197686F3CD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0FD2225-2CEE-5858-C4F6-0C7168224764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AB44A-6074-DE63-6264-A702104880D9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A47A-AC46-0996-E624-BD6931FF5B69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62CA02-BF63-7BBD-C803-CD61CD5D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i="1" dirty="0"/>
              <a:t>Many developers already annotate effects!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</a:t>
            </a:r>
            <a:r>
              <a:rPr lang="en-GB" dirty="0"/>
              <a:t>No additional overhead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‘Enforce’ good practices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Improve auditability</a:t>
            </a:r>
          </a:p>
        </p:txBody>
      </p:sp>
    </p:spTree>
    <p:extLst>
      <p:ext uri="{BB962C8B-B14F-4D97-AF65-F5344CB8AC3E}">
        <p14:creationId xmlns:p14="http://schemas.microsoft.com/office/powerpoint/2010/main" val="86917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pPr marL="0" indent="0">
              <a:buNone/>
            </a:pPr>
            <a:endParaRPr lang="en-GB" dirty="0"/>
          </a:p>
          <a:p>
            <a:r>
              <a:rPr lang="en-CH" dirty="0"/>
              <a:t>Effect annotations result in </a:t>
            </a:r>
            <a:r>
              <a:rPr lang="en-GB" dirty="0"/>
              <a:t>reasonable </a:t>
            </a:r>
            <a:r>
              <a:rPr lang="en-CH" dirty="0"/>
              <a:t>coding overhead</a:t>
            </a:r>
          </a:p>
          <a:p>
            <a:pPr lvl="1"/>
            <a:r>
              <a:rPr lang="en-GB" dirty="0"/>
              <a:t>I</a:t>
            </a:r>
            <a:r>
              <a:rPr lang="en-CH" dirty="0"/>
              <a:t>mprove auditability</a:t>
            </a:r>
          </a:p>
          <a:p>
            <a:pPr lvl="1"/>
            <a:r>
              <a:rPr lang="en-CH" dirty="0"/>
              <a:t>Flag unexpected or missing side effects</a:t>
            </a:r>
            <a:endParaRPr lang="en-GB" dirty="0"/>
          </a:p>
          <a:p>
            <a:pPr lvl="1"/>
            <a:r>
              <a:rPr lang="en-GB" dirty="0"/>
              <a:t>Many projects already follow similar patterns</a:t>
            </a:r>
            <a:endParaRPr lang="en-CH" dirty="0"/>
          </a:p>
          <a:p>
            <a:endParaRPr lang="en-GB" dirty="0"/>
          </a:p>
          <a:p>
            <a:r>
              <a:rPr lang="en-CH" dirty="0"/>
              <a:t>ADTs enable type-safe modelling of state machines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EVM Safety</a:t>
            </a:r>
            <a:r>
              <a:rPr lang="en-GB" dirty="0"/>
              <a:t>:</a:t>
            </a:r>
          </a:p>
          <a:p>
            <a:r>
              <a:rPr lang="en-GB" dirty="0"/>
              <a:t>Multi-contract systems</a:t>
            </a:r>
          </a:p>
          <a:p>
            <a:r>
              <a:rPr lang="en-GB" dirty="0"/>
              <a:t>Access Control primitives</a:t>
            </a:r>
          </a:p>
          <a:p>
            <a:r>
              <a:rPr lang="en-GB" dirty="0"/>
              <a:t>Recent trend</a:t>
            </a:r>
            <a:r>
              <a:rPr lang="en-CH" dirty="0"/>
              <a:t>:</a:t>
            </a:r>
            <a:r>
              <a:rPr lang="en-GB" dirty="0"/>
              <a:t> Exploits taking advantage of precision loss</a:t>
            </a:r>
          </a:p>
          <a:p>
            <a:pPr lvl="1"/>
            <a:r>
              <a:rPr lang="en-GB" dirty="0"/>
              <a:t>Even in audited projects</a:t>
            </a:r>
            <a:endParaRPr lang="en-CH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/>
          </a:bodyPr>
          <a:lstStyle/>
          <a:p>
            <a:r>
              <a:rPr lang="en-CH" dirty="0"/>
              <a:t>Codegen:</a:t>
            </a:r>
            <a:endParaRPr lang="en-GB" dirty="0"/>
          </a:p>
          <a:p>
            <a:pPr lvl="1"/>
            <a:r>
              <a:rPr lang="en-CH" dirty="0"/>
              <a:t>Optimize memory allocations</a:t>
            </a:r>
            <a:endParaRPr lang="en-GB" dirty="0"/>
          </a:p>
          <a:p>
            <a:pPr lvl="1"/>
            <a:r>
              <a:rPr lang="en-CH" dirty="0"/>
              <a:t>Rely less on Solidity</a:t>
            </a:r>
          </a:p>
          <a:p>
            <a:pPr lvl="1"/>
            <a:r>
              <a:rPr lang="en-CH" dirty="0"/>
              <a:t>Generate Yul IR directly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User Studies</a:t>
            </a:r>
            <a:endParaRPr lang="en-GB" dirty="0"/>
          </a:p>
          <a:p>
            <a:pPr lvl="1"/>
            <a:r>
              <a:rPr lang="en-GB" dirty="0"/>
              <a:t>Especially for effect syntax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00"/>
            <a:ext cx="10515600" cy="1788836"/>
          </a:xfrm>
        </p:spPr>
        <p:txBody>
          <a:bodyPr/>
          <a:lstStyle/>
          <a:p>
            <a:r>
              <a:rPr lang="en-GB" dirty="0"/>
              <a:t>Taming Reentrancy with Auditable Language Design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071191"/>
            <a:ext cx="10515600" cy="32851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Key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Path-Specific Reentrancy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Effect Tracking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Algebraic Data Types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Thanks for your attention!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5CF91-966D-8DA4-7E89-E8394917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4F9FC-F5DA-F0F7-3A75-E922447E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C4DE3F38-3FE7-472F-2DF5-6F582DA4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</a:t>
            </a:r>
            <a:r>
              <a:rPr lang="en-GB" dirty="0"/>
              <a:t> Language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406F5-71EE-FBE8-90CF-182F580B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7D8438-7FB5-13E9-5731-C418FBEA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53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56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2095</TotalTime>
  <Words>4277</Words>
  <Application>Microsoft Office PowerPoint</Application>
  <PresentationFormat>Widescreen</PresentationFormat>
  <Paragraphs>1306</Paragraphs>
  <Slides>56</Slides>
  <Notes>8</Notes>
  <HiddenSlides>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Aptos</vt:lpstr>
      <vt:lpstr>Aptos Display</vt:lpstr>
      <vt:lpstr>Arial</vt:lpstr>
      <vt:lpstr>Calibri</vt:lpstr>
      <vt:lpstr>Lucida Console</vt:lpstr>
      <vt:lpstr>Office Theme</vt:lpstr>
      <vt:lpstr>Taming Reentrancy with Auditable Language Design</vt:lpstr>
      <vt:lpstr>Introduction &amp; Motivation</vt:lpstr>
      <vt:lpstr>Introduction</vt:lpstr>
      <vt:lpstr>Smart Contract</vt:lpstr>
      <vt:lpstr>Reentrancy</vt:lpstr>
      <vt:lpstr>Reentrancy</vt:lpstr>
      <vt:lpstr>Smart Contract Vulnerabilities</vt:lpstr>
      <vt:lpstr>Smart Contract Security</vt:lpstr>
      <vt:lpstr>Smart Contract Development</vt:lpstr>
      <vt:lpstr>Smart Contract Auditing</vt:lpstr>
      <vt:lpstr>Side Effects</vt:lpstr>
      <vt:lpstr>Problem Statement</vt:lpstr>
      <vt:lpstr>Reentrancy Protection</vt:lpstr>
      <vt:lpstr>Reentrancy Protection</vt:lpstr>
      <vt:lpstr>Entry-Point Annotation</vt:lpstr>
      <vt:lpstr>Entry-Point Annotation</vt:lpstr>
      <vt:lpstr>Call-Site Annotation</vt:lpstr>
      <vt:lpstr>Call Path Specification</vt:lpstr>
      <vt:lpstr>Side Effects</vt:lpstr>
      <vt:lpstr>AAVE Lending Pool</vt:lpstr>
      <vt:lpstr>Curve Tricrypto</vt:lpstr>
      <vt:lpstr>PowerPoint Presentation</vt:lpstr>
      <vt:lpstr>PowerPoint Presentation</vt:lpstr>
      <vt:lpstr>PowerPoint Presentation</vt:lpstr>
      <vt:lpstr>Effects in Calls</vt:lpstr>
      <vt:lpstr>Effects in Calls</vt:lpstr>
      <vt:lpstr>Algebraic Data Types (ADTs)</vt:lpstr>
      <vt:lpstr>Implementation</vt:lpstr>
      <vt:lpstr>Feature Set</vt:lpstr>
      <vt:lpstr>Compiler</vt:lpstr>
      <vt:lpstr>Why Solidity?</vt:lpstr>
      <vt:lpstr>Evaluation</vt:lpstr>
      <vt:lpstr>Evaluation: Reentrancy</vt:lpstr>
      <vt:lpstr>Evaluation: Performance</vt:lpstr>
      <vt:lpstr>Cost of Reentrancy Guards</vt:lpstr>
      <vt:lpstr>Cost of Reentrancy Guards</vt:lpstr>
      <vt:lpstr>Evaluation: Overhead of Effect Annotations</vt:lpstr>
      <vt:lpstr>Evaluation: Overhead</vt:lpstr>
      <vt:lpstr>Curve Tricrypto</vt:lpstr>
      <vt:lpstr>Conclusion</vt:lpstr>
      <vt:lpstr>Future Work</vt:lpstr>
      <vt:lpstr>Taming Reentrancy with Auditable Language Design</vt:lpstr>
      <vt:lpstr>Q&amp;A</vt:lpstr>
      <vt:lpstr>Examples</vt:lpstr>
      <vt:lpstr>Popsicle Finance   2021-08, $20 million</vt:lpstr>
      <vt:lpstr>Super Sushi Samurai   2024-03, $4.8 million</vt:lpstr>
      <vt:lpstr>Future Work: Language</vt:lpstr>
      <vt:lpstr>Common Vulnerabilities (Count)</vt:lpstr>
      <vt:lpstr>Common Vulnerabilities (Funds Lost, in $M)</vt:lpstr>
      <vt:lpstr>Solidity</vt:lpstr>
      <vt:lpstr>Vyper</vt:lpstr>
      <vt:lpstr>Related Work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1469</cp:revision>
  <dcterms:created xsi:type="dcterms:W3CDTF">2026-03-21T11:27:25Z</dcterms:created>
  <dcterms:modified xsi:type="dcterms:W3CDTF">2026-03-29T22:30:30Z</dcterms:modified>
</cp:coreProperties>
</file>
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324" r:id="rId13"/>
    <p:sldId id="286" r:id="rId14"/>
    <p:sldId id="280" r:id="rId15"/>
    <p:sldId id="279" r:id="rId16"/>
    <p:sldId id="282" r:id="rId17"/>
    <p:sldId id="284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321" r:id="rId37"/>
    <p:sldId id="322" r:id="rId38"/>
    <p:sldId id="318" r:id="rId39"/>
    <p:sldId id="323" r:id="rId40"/>
    <p:sldId id="329" r:id="rId41"/>
    <p:sldId id="319" r:id="rId42"/>
    <p:sldId id="268" r:id="rId43"/>
    <p:sldId id="277" r:id="rId44"/>
    <p:sldId id="269" r:id="rId45"/>
    <p:sldId id="328" r:id="rId46"/>
    <p:sldId id="317" r:id="rId47"/>
    <p:sldId id="258" r:id="rId48"/>
    <p:sldId id="326" r:id="rId49"/>
    <p:sldId id="320" r:id="rId50"/>
    <p:sldId id="327" r:id="rId51"/>
    <p:sldId id="274" r:id="rId52"/>
    <p:sldId id="259" r:id="rId53"/>
    <p:sldId id="260" r:id="rId54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324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18"/>
            <p14:sldId id="323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268"/>
          </p14:sldIdLst>
        </p14:section>
        <p14:section name="Backup / Extra Examples" id="{274778F2-46BC-4298-9911-D5D9332C2A83}">
          <p14:sldIdLst>
            <p14:sldId id="277"/>
            <p14:sldId id="269"/>
            <p14:sldId id="328"/>
            <p14:sldId id="317"/>
          </p14:sldIdLst>
        </p14:section>
        <p14:section name="Templates" id="{7D75C5C1-E226-422F-BC2D-7889BBB961BB}">
          <p14:sldIdLst>
            <p14:sldId id="258"/>
            <p14:sldId id="326"/>
            <p14:sldId id="320"/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59" autoAdjust="0"/>
    <p:restoredTop sz="94660"/>
  </p:normalViewPr>
  <p:slideViewPr>
    <p:cSldViewPr snapToGrid="0">
      <p:cViewPr>
        <p:scale>
          <a:sx n="125" d="100"/>
          <a:sy n="125" d="100"/>
        </p:scale>
        <p:origin x="510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26/03/2026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3E79-A427-7220-C0BD-F07F1CB88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B4FB-97B1-0B84-833F-00C760946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8D4AA-69F6-1599-EF0D-C5B06396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D981B-5927-25F0-8DE4-94AF8217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91076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999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Program,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(no floating-point!)</a:t>
            </a:r>
            <a:endParaRPr lang="en-CH" sz="1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expensive, 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828584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1EB870-A322-67F0-9A53-EC3F5455D594}"/>
              </a:ext>
            </a:extLst>
          </p:cNvPr>
          <p:cNvGrpSpPr/>
          <p:nvPr/>
        </p:nvGrpSpPr>
        <p:grpSpPr>
          <a:xfrm>
            <a:off x="7837405" y="2768507"/>
            <a:ext cx="747001" cy="2487983"/>
            <a:chOff x="7837405" y="2768507"/>
            <a:chExt cx="747001" cy="248798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EF8E-54A4-2000-F07F-0973BADF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AE86CBA-9283-9AAD-9530-DC8A3A568B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425350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396E26-BF22-ABF0-29B7-7D696D72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solidFill>
                  <a:schemeClr val="tx2"/>
                </a:solidFill>
              </a:rPr>
              <a:t>Common Vulnerabilities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6B4D1-1DCE-3422-D694-A34CF015F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9D011-3434-56C6-5FB0-B32B9616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94CBD-3CE5-8B9F-0E4E-B9C8D1A96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72FDE-9EF7-EA8C-3B5F-BA5D0ACA35E8}"/>
              </a:ext>
            </a:extLst>
          </p:cNvPr>
          <p:cNvSpPr txBox="1"/>
          <p:nvPr/>
        </p:nvSpPr>
        <p:spPr>
          <a:xfrm>
            <a:off x="7837405" y="2768507"/>
            <a:ext cx="746999" cy="307777"/>
          </a:xfrm>
          <a:prstGeom prst="rect">
            <a:avLst/>
          </a:prstGeom>
          <a:solidFill>
            <a:schemeClr val="accent4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CH" sz="2000" dirty="0">
                <a:solidFill>
                  <a:schemeClr val="bg1"/>
                </a:solidFill>
              </a:rPr>
              <a:t>$284M</a:t>
            </a:r>
          </a:p>
        </p:txBody>
      </p:sp>
    </p:spTree>
    <p:extLst>
      <p:ext uri="{BB962C8B-B14F-4D97-AF65-F5344CB8AC3E}">
        <p14:creationId xmlns:p14="http://schemas.microsoft.com/office/powerpoint/2010/main" val="3072959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</a:p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appearance: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GB" dirty="0"/>
              <a:t>No “safety by default”</a:t>
            </a:r>
          </a:p>
          <a:p>
            <a:endParaRPr lang="en-GB" dirty="0"/>
          </a:p>
          <a:p>
            <a:r>
              <a:rPr lang="en-GB" dirty="0"/>
              <a:t>But when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pPr lvl="1"/>
            <a:r>
              <a:rPr lang="en-CH" dirty="0"/>
              <a:t>Extended with:</a:t>
            </a: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contract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abi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types, still experimental</a:t>
            </a:r>
          </a:p>
          <a:p>
            <a:pPr lvl="1"/>
            <a:r>
              <a:rPr lang="en-CH" dirty="0"/>
              <a:t>Contracts and </a:t>
            </a:r>
            <a:r>
              <a:rPr lang="en-CH" dirty="0" err="1"/>
              <a:t>ABIs</a:t>
            </a:r>
            <a:r>
              <a:rPr lang="en-CH" dirty="0"/>
              <a:t> are monomorphic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Require inline 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optimizations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CH" dirty="0"/>
              <a:t>ADTs:</a:t>
            </a:r>
          </a:p>
          <a:p>
            <a:pPr lvl="1"/>
            <a:r>
              <a:rPr lang="en-CH" dirty="0"/>
              <a:t>Reduces code complexity</a:t>
            </a:r>
          </a:p>
          <a:p>
            <a:pPr lvl="1"/>
            <a:r>
              <a:rPr lang="en-CH" dirty="0"/>
              <a:t>Less error-prone</a:t>
            </a:r>
          </a:p>
          <a:p>
            <a:pPr lvl="1"/>
            <a:r>
              <a:rPr lang="en-CH" dirty="0"/>
              <a:t>High memory usage (for now)</a:t>
            </a:r>
          </a:p>
          <a:p>
            <a:endParaRPr lang="en-CH" sz="1800" dirty="0"/>
          </a:p>
          <a:p>
            <a:r>
              <a:rPr lang="en-CH" dirty="0"/>
              <a:t>Reentrancy Protection:</a:t>
            </a:r>
          </a:p>
          <a:p>
            <a:pPr lvl="1"/>
            <a:r>
              <a:rPr lang="en-CH" dirty="0"/>
              <a:t>Disabling reentrancy by default does most of the work</a:t>
            </a:r>
          </a:p>
          <a:p>
            <a:pPr lvl="1"/>
            <a:r>
              <a:rPr lang="en-CH" dirty="0"/>
              <a:t>When does it not suffice?</a:t>
            </a:r>
          </a:p>
          <a:p>
            <a:pPr lvl="2"/>
            <a:r>
              <a:rPr lang="en-CH" dirty="0"/>
              <a:t>Mandated callbacks in token standards</a:t>
            </a:r>
          </a:p>
          <a:p>
            <a:pPr lvl="2"/>
            <a:r>
              <a:rPr lang="en-CH" dirty="0"/>
              <a:t>Cross-contract </a:t>
            </a:r>
            <a:r>
              <a:rPr lang="en-CH" dirty="0" err="1"/>
              <a:t>reentrancies</a:t>
            </a:r>
            <a:endParaRPr lang="en-CH" dirty="0"/>
          </a:p>
          <a:p>
            <a:pPr lvl="2"/>
            <a:r>
              <a:rPr lang="en-CH" dirty="0"/>
              <a:t>Specific use cases (e.g. flash loans)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5288280" y="1825625"/>
            <a:ext cx="66370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/>
              <a:t>Side Effect Annotations:</a:t>
            </a:r>
          </a:p>
          <a:p>
            <a:pPr lvl="1"/>
            <a:r>
              <a:rPr lang="en-CH" dirty="0"/>
              <a:t>Difficult to quantify</a:t>
            </a:r>
          </a:p>
          <a:p>
            <a:pPr lvl="1"/>
            <a:r>
              <a:rPr lang="en-CH" dirty="0"/>
              <a:t>Helps flag unexpected / missing side effects</a:t>
            </a:r>
          </a:p>
          <a:p>
            <a:pPr lvl="1"/>
            <a:r>
              <a:rPr lang="en-CH" dirty="0"/>
              <a:t>Reduces auditing workload</a:t>
            </a:r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Breakdown of 54 reentrancy exploits 2021-2024: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0229"/>
              </p:ext>
            </p:extLst>
          </p:nvPr>
        </p:nvGraphicFramePr>
        <p:xfrm>
          <a:off x="838200" y="2431574"/>
          <a:ext cx="7942606" cy="35102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663886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782558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397968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1974194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 Reentrancies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  <a:p>
                      <a:pPr algn="ctr"/>
                      <a:r>
                        <a:rPr lang="en-CH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BC46B-551E-AB41-F6BD-AD90740D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Performance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F9B8A-D3FB-DCE7-91C8-0078921B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mostly in terms of memory usage</a:t>
            </a:r>
          </a:p>
          <a:p>
            <a:r>
              <a:rPr lang="en-CH" dirty="0"/>
              <a:t>how much do reentrancy checks cost?</a:t>
            </a:r>
          </a:p>
          <a:p>
            <a:pPr lvl="1"/>
            <a:r>
              <a:rPr lang="en-CH" dirty="0"/>
              <a:t>difficult to quantify, since storage &gt;&gt; memory so it’s not really comparable</a:t>
            </a:r>
          </a:p>
          <a:p>
            <a:pPr lvl="1"/>
            <a:r>
              <a:rPr lang="en-CH" dirty="0"/>
              <a:t>but can actually perform better than existing tools -&gt; </a:t>
            </a:r>
            <a:r>
              <a:rPr lang="en-CH" dirty="0" err="1"/>
              <a:t>compi</a:t>
            </a:r>
            <a:r>
              <a:rPr lang="en-US" dirty="0"/>
              <a:t>le</a:t>
            </a:r>
            <a:r>
              <a:rPr lang="en-CH" dirty="0"/>
              <a:t>r could choose cheapest sufficient check (i.e. not writing reentrancy guard to storage if no external calls are made)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2E660-6274-CAB3-1E76-E66D6392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8E735-1875-850E-7082-26F73F6C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2D1F0-66B8-C97A-37DE-4CEB717B6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132727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Code Overhead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many additional lines of code, etc?</a:t>
            </a:r>
          </a:p>
          <a:p>
            <a:pPr lvl="1"/>
            <a:r>
              <a:rPr lang="en-CH" dirty="0"/>
              <a:t>kind of need a full rewrite of a real-world protocol to compare</a:t>
            </a:r>
          </a:p>
          <a:p>
            <a:pPr lvl="1"/>
            <a:r>
              <a:rPr lang="en-CH" dirty="0"/>
              <a:t>that sounds like fun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r>
              <a:rPr lang="en-CH" dirty="0"/>
              <a:t>Facilitates (static) analysis across reentrant call paths</a:t>
            </a:r>
          </a:p>
          <a:p>
            <a:r>
              <a:rPr lang="en-CH" dirty="0"/>
              <a:t>Effect annotations result in significant overhead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Features:</a:t>
            </a:r>
          </a:p>
          <a:p>
            <a:pPr lvl="1"/>
            <a:r>
              <a:rPr lang="en-CH" dirty="0"/>
              <a:t>Automatically split large contracts</a:t>
            </a:r>
          </a:p>
          <a:p>
            <a:pPr lvl="1"/>
            <a:r>
              <a:rPr lang="en-CH" dirty="0"/>
              <a:t>Error handling (with result types)</a:t>
            </a:r>
          </a:p>
          <a:p>
            <a:pPr lvl="1"/>
            <a:r>
              <a:rPr lang="en-CH" dirty="0"/>
              <a:t>More effect types</a:t>
            </a:r>
          </a:p>
          <a:p>
            <a:pPr lvl="1"/>
            <a:r>
              <a:rPr lang="en-CH" dirty="0"/>
              <a:t>Access Control Mechanisms</a:t>
            </a:r>
          </a:p>
          <a:p>
            <a:endParaRPr lang="en-CH" dirty="0"/>
          </a:p>
          <a:p>
            <a:r>
              <a:rPr lang="en-CH" dirty="0"/>
              <a:t>Codegen: Rely less on Solidity</a:t>
            </a:r>
          </a:p>
          <a:p>
            <a:pPr lvl="1"/>
            <a:r>
              <a:rPr lang="en-CH" dirty="0"/>
              <a:t>Memory Allocations</a:t>
            </a:r>
          </a:p>
          <a:p>
            <a:pPr lvl="1"/>
            <a:r>
              <a:rPr lang="en-CH" dirty="0"/>
              <a:t>Generate Yul IR directly</a:t>
            </a:r>
          </a:p>
          <a:p>
            <a:endParaRPr lang="en-CH" dirty="0"/>
          </a:p>
          <a:p>
            <a:r>
              <a:rPr lang="en-CH" dirty="0"/>
              <a:t>User Studies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 fontScale="92500" lnSpcReduction="1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7D8438-7FB5-13E9-5731-C418FBEA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C4DE3F38-3FE7-472F-2DF5-6F582DA4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 Tooling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53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3736</Words>
  <Application>Microsoft Office PowerPoint</Application>
  <PresentationFormat>Widescreen</PresentationFormat>
  <Paragraphs>1247</Paragraphs>
  <Slides>53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Lucida Console</vt:lpstr>
      <vt:lpstr>Office Theme</vt:lpstr>
      <vt:lpstr>Eliminating Reentrancy through Language Design</vt:lpstr>
      <vt:lpstr>Introduction &amp; Motivation</vt:lpstr>
      <vt:lpstr>PowerPoint Presentation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</vt:lpstr>
      <vt:lpstr>Common Vulnerabilities</vt:lpstr>
      <vt:lpstr>Reentrancy – what is it?</vt:lpstr>
      <vt:lpstr>Reentrancy</vt:lpstr>
      <vt:lpstr>Reentrancy</vt:lpstr>
      <vt:lpstr>Reentrancy</vt:lpstr>
      <vt:lpstr>Reentrancy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</vt:lpstr>
      <vt:lpstr>Reentrancies</vt:lpstr>
      <vt:lpstr>Performance Comparison</vt:lpstr>
      <vt:lpstr>Code Overhead</vt:lpstr>
      <vt:lpstr>Conclusion</vt:lpstr>
      <vt:lpstr>Future Work</vt:lpstr>
      <vt:lpstr>Q&amp;A</vt:lpstr>
      <vt:lpstr>Examples</vt:lpstr>
      <vt:lpstr>Common Vulnerabilities (Count)</vt:lpstr>
      <vt:lpstr>Common Vulnerabilities (Funds Lost, in $M)</vt:lpstr>
      <vt:lpstr>Related Work</vt:lpstr>
      <vt:lpstr>Popsicle Finance   2021-08, $20 million</vt:lpstr>
      <vt:lpstr>Super Sushi Samurai   2024-03, $4.8 million</vt:lpstr>
      <vt:lpstr>Future Work: Tooling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611</cp:revision>
  <dcterms:created xsi:type="dcterms:W3CDTF">2026-03-21T11:27:25Z</dcterms:created>
  <dcterms:modified xsi:type="dcterms:W3CDTF">2026-03-26T14:46:16Z</dcterms:modified>
</cp:coreProperties>
</file>
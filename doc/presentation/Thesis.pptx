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324" r:id="rId13"/>
    <p:sldId id="286" r:id="rId14"/>
    <p:sldId id="280" r:id="rId15"/>
    <p:sldId id="279" r:id="rId16"/>
    <p:sldId id="282" r:id="rId17"/>
    <p:sldId id="284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321" r:id="rId37"/>
    <p:sldId id="322" r:id="rId38"/>
    <p:sldId id="323" r:id="rId39"/>
    <p:sldId id="332" r:id="rId40"/>
    <p:sldId id="331" r:id="rId41"/>
    <p:sldId id="329" r:id="rId42"/>
    <p:sldId id="319" r:id="rId43"/>
    <p:sldId id="268" r:id="rId44"/>
    <p:sldId id="330" r:id="rId45"/>
    <p:sldId id="277" r:id="rId46"/>
    <p:sldId id="269" r:id="rId47"/>
    <p:sldId id="328" r:id="rId48"/>
    <p:sldId id="317" r:id="rId49"/>
    <p:sldId id="258" r:id="rId50"/>
    <p:sldId id="326" r:id="rId51"/>
    <p:sldId id="320" r:id="rId52"/>
    <p:sldId id="327" r:id="rId53"/>
    <p:sldId id="274" r:id="rId54"/>
    <p:sldId id="259" r:id="rId55"/>
    <p:sldId id="260" r:id="rId5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324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32"/>
            <p14:sldId id="331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268"/>
            <p14:sldId id="330"/>
          </p14:sldIdLst>
        </p14:section>
        <p14:section name="Backup / Extra Examples" id="{274778F2-46BC-4298-9911-D5D9332C2A83}">
          <p14:sldIdLst>
            <p14:sldId id="277"/>
            <p14:sldId id="269"/>
            <p14:sldId id="328"/>
            <p14:sldId id="317"/>
          </p14:sldIdLst>
        </p14:section>
        <p14:section name="Templates" id="{7D75C5C1-E226-422F-BC2D-7889BBB961BB}">
          <p14:sldIdLst>
            <p14:sldId id="258"/>
            <p14:sldId id="326"/>
            <p14:sldId id="320"/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9" autoAdjust="0"/>
    <p:restoredTop sz="94660"/>
  </p:normalViewPr>
  <p:slideViewPr>
    <p:cSldViewPr snapToGrid="0">
      <p:cViewPr varScale="1">
        <p:scale>
          <a:sx n="91" d="100"/>
          <a:sy n="91" d="100"/>
        </p:scale>
        <p:origin x="1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27/03/2026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3E79-A427-7220-C0BD-F07F1CB88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B4FB-97B1-0B84-833F-00C760946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8D4AA-69F6-1599-EF0D-C5B06396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D981B-5927-25F0-8DE4-94AF8217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9107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999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50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H" dirty="0"/>
              <a:t>Eliminating Reentrancy through Effect-Aware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Motivation (WIP)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bugs expensive</a:t>
            </a:r>
          </a:p>
          <a:p>
            <a:r>
              <a:rPr lang="en-CH" dirty="0"/>
              <a:t>safety good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part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“Program”,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(no floating-point!)</a:t>
            </a:r>
            <a:endParaRPr lang="en-CH" sz="1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CH" dirty="0">
                <a:solidFill>
                  <a:schemeClr val="tx2"/>
                </a:solidFill>
              </a:rPr>
              <a:t>(&gt;2000$ per auditor per day)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828584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1EB870-A322-67F0-9A53-EC3F5455D594}"/>
              </a:ext>
            </a:extLst>
          </p:cNvPr>
          <p:cNvGrpSpPr/>
          <p:nvPr/>
        </p:nvGrpSpPr>
        <p:grpSpPr>
          <a:xfrm>
            <a:off x="7837405" y="2768507"/>
            <a:ext cx="747001" cy="2487983"/>
            <a:chOff x="7837405" y="2768507"/>
            <a:chExt cx="747001" cy="248798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EF8E-54A4-2000-F07F-0973BADF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AE86CBA-9283-9AAD-9530-DC8A3A568B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425350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396E26-BF22-ABF0-29B7-7D696D72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solidFill>
                  <a:schemeClr val="tx2"/>
                </a:solidFill>
              </a:rPr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6B4D1-1DCE-3422-D694-A34CF015F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9D011-3434-56C6-5FB0-B32B9616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94CBD-3CE5-8B9F-0E4E-B9C8D1A96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72FDE-9EF7-EA8C-3B5F-BA5D0ACA35E8}"/>
              </a:ext>
            </a:extLst>
          </p:cNvPr>
          <p:cNvSpPr txBox="1"/>
          <p:nvPr/>
        </p:nvSpPr>
        <p:spPr>
          <a:xfrm>
            <a:off x="7837405" y="2768507"/>
            <a:ext cx="746999" cy="307777"/>
          </a:xfrm>
          <a:prstGeom prst="rect">
            <a:avLst/>
          </a:prstGeom>
          <a:solidFill>
            <a:schemeClr val="accent4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CH" sz="2000" dirty="0">
                <a:solidFill>
                  <a:schemeClr val="bg1"/>
                </a:solidFill>
              </a:rPr>
              <a:t>$284M</a:t>
            </a:r>
          </a:p>
        </p:txBody>
      </p:sp>
    </p:spTree>
    <p:extLst>
      <p:ext uri="{BB962C8B-B14F-4D97-AF65-F5344CB8AC3E}">
        <p14:creationId xmlns:p14="http://schemas.microsoft.com/office/powerpoint/2010/main" val="3072959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</a:p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Effect-Aware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pPr lvl="1"/>
            <a:r>
              <a:rPr lang="en-CH" dirty="0"/>
              <a:t>Extended with:</a:t>
            </a: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contract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abi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types, still experimental</a:t>
            </a:r>
          </a:p>
          <a:p>
            <a:pPr lvl="1"/>
            <a:r>
              <a:rPr lang="en-CH" dirty="0"/>
              <a:t>Contracts and </a:t>
            </a:r>
            <a:r>
              <a:rPr lang="en-CH" dirty="0" err="1"/>
              <a:t>ABIs</a:t>
            </a:r>
            <a:r>
              <a:rPr lang="en-CH" dirty="0"/>
              <a:t> are monomorphic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Require inline 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optimizations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CH" dirty="0"/>
              <a:t>ADTs:</a:t>
            </a:r>
          </a:p>
          <a:p>
            <a:pPr lvl="1"/>
            <a:r>
              <a:rPr lang="en-CH" dirty="0"/>
              <a:t>Reduces code complexity</a:t>
            </a:r>
          </a:p>
          <a:p>
            <a:pPr lvl="1"/>
            <a:r>
              <a:rPr lang="en-CH" dirty="0"/>
              <a:t>Less error-prone</a:t>
            </a:r>
          </a:p>
          <a:p>
            <a:pPr lvl="1"/>
            <a:r>
              <a:rPr lang="en-CH" dirty="0"/>
              <a:t>High memory usage (for now)</a:t>
            </a:r>
          </a:p>
          <a:p>
            <a:pPr marL="0" indent="0">
              <a:buNone/>
            </a:pPr>
            <a:endParaRPr lang="en-CH" sz="1800" dirty="0"/>
          </a:p>
          <a:p>
            <a:r>
              <a:rPr lang="en-CH" dirty="0"/>
              <a:t>Reentrancy Protection:</a:t>
            </a:r>
          </a:p>
          <a:p>
            <a:pPr lvl="1"/>
            <a:r>
              <a:rPr lang="en-CH" dirty="0"/>
              <a:t>Disabling reentrancy by default does most of the work</a:t>
            </a:r>
          </a:p>
          <a:p>
            <a:pPr lvl="1"/>
            <a:r>
              <a:rPr lang="en-CH" dirty="0"/>
              <a:t>When does it not suffice?</a:t>
            </a:r>
          </a:p>
          <a:p>
            <a:pPr lvl="2"/>
            <a:r>
              <a:rPr lang="en-CH" dirty="0"/>
              <a:t>Mandated callbacks in token standards</a:t>
            </a:r>
          </a:p>
          <a:p>
            <a:pPr lvl="2"/>
            <a:r>
              <a:rPr lang="en-CH" dirty="0"/>
              <a:t>Cross-contract </a:t>
            </a:r>
            <a:r>
              <a:rPr lang="en-CH" dirty="0" err="1"/>
              <a:t>reentrancies</a:t>
            </a:r>
            <a:endParaRPr lang="en-CH" dirty="0"/>
          </a:p>
          <a:p>
            <a:pPr lvl="2"/>
            <a:r>
              <a:rPr lang="en-CH" dirty="0"/>
              <a:t>Specific use cases (e.g. flash loans)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5288280" y="1825625"/>
            <a:ext cx="66370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/>
              <a:t>Side Effect Annotations:</a:t>
            </a:r>
          </a:p>
          <a:p>
            <a:pPr lvl="1"/>
            <a:r>
              <a:rPr lang="en-CH" dirty="0"/>
              <a:t>Primary goal: enhance auditability</a:t>
            </a:r>
          </a:p>
          <a:p>
            <a:pPr lvl="1"/>
            <a:r>
              <a:rPr lang="en-CH" dirty="0"/>
              <a:t>Difficult to quantify</a:t>
            </a:r>
          </a:p>
          <a:p>
            <a:pPr lvl="1"/>
            <a:r>
              <a:rPr lang="en-CH" dirty="0"/>
              <a:t>Helps flag unexpected / missing side effects</a:t>
            </a:r>
          </a:p>
          <a:p>
            <a:pPr lvl="1"/>
            <a:r>
              <a:rPr lang="en-CH" dirty="0"/>
              <a:t>Can be propagated across reentrant calls</a:t>
            </a:r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Breakdown of 54 reentrancy exploits 2021-2024: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CH" dirty="0"/>
              <a:t>Tam</a:t>
            </a:r>
            <a:r>
              <a:rPr lang="en-US" dirty="0" err="1"/>
              <a:t>ing</a:t>
            </a:r>
            <a:r>
              <a:rPr lang="en-US" dirty="0"/>
              <a:t> Reentrancy through </a:t>
            </a:r>
            <a:r>
              <a:rPr lang="en-CH" dirty="0"/>
              <a:t>Auditable</a:t>
            </a:r>
            <a:r>
              <a:rPr lang="en-US" dirty="0"/>
              <a:t>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059649"/>
              </p:ext>
            </p:extLst>
          </p:nvPr>
        </p:nvGraphicFramePr>
        <p:xfrm>
          <a:off x="838198" y="2431574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No Reentrancies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Overhead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performance difference: Reentrancy guards </a:t>
            </a:r>
            <a:r>
              <a:rPr lang="en-CH" sz="2400" dirty="0">
                <a:solidFill>
                  <a:schemeClr val="tx2"/>
                </a:solidFill>
              </a:rPr>
              <a:t>(see next slide)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CH" dirty="0"/>
              <a:t>Significant potential savings in ADT-heavy code</a:t>
            </a:r>
          </a:p>
          <a:p>
            <a:pPr marL="0" indent="0">
              <a:buNone/>
            </a:pPr>
            <a:endParaRPr lang="en-CH" sz="2400" dirty="0"/>
          </a:p>
          <a:p>
            <a:pPr marL="0" indent="0">
              <a:buNone/>
            </a:pPr>
            <a:r>
              <a:rPr lang="en-CH" b="1" dirty="0"/>
              <a:t>Coding: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A2B1DDB-C8AC-1FC3-F363-6730D34CB7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629787"/>
              </p:ext>
            </p:extLst>
          </p:nvPr>
        </p:nvGraphicFramePr>
        <p:xfrm>
          <a:off x="5614622" y="3682683"/>
          <a:ext cx="5739178" cy="249428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70213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47659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317461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3845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Function signatures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Inline effects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 (12)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 (4)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Simple DEX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 (24)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 (8)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 (98)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 (73)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66182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/>
                        <a:t>todo</a:t>
                      </a:r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/>
                        <a:t>todo</a:t>
                      </a:r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CH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7C65E-961F-E1C5-8CA8-B90B4CEA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747ABE-40D2-58EC-973A-5D1595145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C96A26A-0CBE-11B4-E2B4-D0F22514D3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1825625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9B42681B-3CE0-F574-738C-546374AEC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Curve comment example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86A7D10-51D3-D54C-27C8-DCE4693B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AA7C436B-D603-5A04-924B-263F10E2A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214C7FE-3A4B-3187-7F33-445DC2F69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4EAE103-83D2-5EAF-C6C3-AF918081C579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159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Reading / Writing Storage is expensive!</a:t>
            </a:r>
          </a:p>
          <a:p>
            <a:pPr marL="0" indent="0">
              <a:buNone/>
            </a:pPr>
            <a:r>
              <a:rPr lang="en-CH" dirty="0"/>
              <a:t>Reference Costs:</a:t>
            </a:r>
          </a:p>
          <a:p>
            <a:r>
              <a:rPr lang="en-CH" sz="2400" dirty="0"/>
              <a:t>Base transaction cost: 21’000 gas</a:t>
            </a:r>
          </a:p>
          <a:p>
            <a:r>
              <a:rPr lang="en-CH" sz="2400" dirty="0"/>
              <a:t>External call (cold): 2600 gas</a:t>
            </a:r>
          </a:p>
          <a:p>
            <a:r>
              <a:rPr lang="en-CH" sz="2400" dirty="0"/>
              <a:t>ERC20 Transfer: ~40k-65k gas</a:t>
            </a:r>
          </a:p>
          <a:p>
            <a:r>
              <a:rPr lang="en-CH" sz="2400" dirty="0"/>
              <a:t>DEX trade: ~200-400k gas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630772"/>
              </p:ext>
            </p:extLst>
          </p:nvPr>
        </p:nvGraphicFramePr>
        <p:xfrm>
          <a:off x="5715000" y="23766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OZ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A834BCC0-FC79-35C3-E45D-6B3CC6627B99}"/>
              </a:ext>
            </a:extLst>
          </p:cNvPr>
          <p:cNvGrpSpPr/>
          <p:nvPr/>
        </p:nvGrpSpPr>
        <p:grpSpPr>
          <a:xfrm>
            <a:off x="7315200" y="3759200"/>
            <a:ext cx="4351000" cy="2290330"/>
            <a:chOff x="7315200" y="3759200"/>
            <a:chExt cx="4351000" cy="229033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3E2AC4-568B-BE0B-A171-F2E1183C4515}"/>
                </a:ext>
              </a:extLst>
            </p:cNvPr>
            <p:cNvSpPr/>
            <p:nvPr/>
          </p:nvSpPr>
          <p:spPr>
            <a:xfrm>
              <a:off x="7315200" y="3759200"/>
              <a:ext cx="4351000" cy="640080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0B25E2E-EB14-A43F-E1E4-595689CC3D01}"/>
                </a:ext>
              </a:extLst>
            </p:cNvPr>
            <p:cNvSpPr/>
            <p:nvPr/>
          </p:nvSpPr>
          <p:spPr>
            <a:xfrm>
              <a:off x="7315200" y="5409450"/>
              <a:ext cx="4351000" cy="640080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5BAD55D-A92F-7796-AD9A-C55FA5760706}"/>
              </a:ext>
            </a:extLst>
          </p:cNvPr>
          <p:cNvSpPr txBox="1"/>
          <p:nvPr/>
        </p:nvSpPr>
        <p:spPr>
          <a:xfrm>
            <a:off x="1148080" y="5090160"/>
            <a:ext cx="3972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800" dirty="0">
                <a:solidFill>
                  <a:schemeClr val="accent1">
                    <a:lumMod val="75000"/>
                  </a:schemeClr>
                </a:solidFill>
              </a:rPr>
              <a:t>Potential Vulnerabilities!</a:t>
            </a:r>
            <a:br>
              <a:rPr lang="en-CH" sz="2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CH" sz="2800" dirty="0">
                <a:solidFill>
                  <a:schemeClr val="accent1">
                    <a:lumMod val="75000"/>
                  </a:schemeClr>
                </a:solidFill>
              </a:rPr>
              <a:t>(cross-protocol)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r>
              <a:rPr lang="en-CH" dirty="0"/>
              <a:t>Effect annotations result in significant coding overhead</a:t>
            </a:r>
          </a:p>
          <a:p>
            <a:pPr lvl="1"/>
            <a:r>
              <a:rPr lang="en-CH" dirty="0"/>
              <a:t>But improve auditability</a:t>
            </a:r>
          </a:p>
          <a:p>
            <a:pPr lvl="1"/>
            <a:r>
              <a:rPr lang="en-CH" dirty="0"/>
              <a:t>Flag unexpected or missing side effects</a:t>
            </a:r>
          </a:p>
          <a:p>
            <a:r>
              <a:rPr lang="en-CH" dirty="0"/>
              <a:t>ADTs enable type-safe modelling of state machines</a:t>
            </a:r>
          </a:p>
          <a:p>
            <a:pPr lvl="1"/>
            <a:r>
              <a:rPr lang="en-CH" dirty="0"/>
              <a:t>Code becomes less error-prone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Features:</a:t>
            </a:r>
          </a:p>
          <a:p>
            <a:pPr lvl="1"/>
            <a:r>
              <a:rPr lang="en-CH" dirty="0"/>
              <a:t>Automatically split large contracts</a:t>
            </a:r>
          </a:p>
          <a:p>
            <a:pPr lvl="1"/>
            <a:r>
              <a:rPr lang="en-CH" dirty="0"/>
              <a:t>Error handling (with result types)</a:t>
            </a:r>
          </a:p>
          <a:p>
            <a:pPr lvl="1"/>
            <a:r>
              <a:rPr lang="en-CH" dirty="0"/>
              <a:t>More effect types</a:t>
            </a:r>
          </a:p>
          <a:p>
            <a:pPr lvl="1"/>
            <a:r>
              <a:rPr lang="en-CH" dirty="0"/>
              <a:t>Access Control mechanisms</a:t>
            </a:r>
          </a:p>
          <a:p>
            <a:endParaRPr lang="en-CH" dirty="0"/>
          </a:p>
          <a:p>
            <a:r>
              <a:rPr lang="en-CH" dirty="0"/>
              <a:t>Codegen: Rely less on Solidity</a:t>
            </a:r>
          </a:p>
          <a:p>
            <a:pPr lvl="1"/>
            <a:r>
              <a:rPr lang="en-CH" dirty="0"/>
              <a:t>Optimize memory allocations</a:t>
            </a:r>
          </a:p>
          <a:p>
            <a:pPr lvl="1"/>
            <a:r>
              <a:rPr lang="en-CH" dirty="0"/>
              <a:t>Generate Yul IR directly</a:t>
            </a:r>
          </a:p>
          <a:p>
            <a:endParaRPr lang="en-CH" dirty="0"/>
          </a:p>
          <a:p>
            <a:r>
              <a:rPr lang="en-CH" dirty="0"/>
              <a:t>User Studies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 fontScale="92500" lnSpcReduction="1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5CF91-966D-8DA4-7E89-E8394917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062E1-FC84-D62B-00E2-D66602040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4F9FC-F5DA-F0F7-3A75-E922447E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7D8438-7FB5-13E9-5731-C418FBEA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C4DE3F38-3FE7-472F-2DF5-6F582DA4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 Tooling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Effect-Aware Language Design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53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54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Effect-Aware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4056</Words>
  <Application>Microsoft Office PowerPoint</Application>
  <PresentationFormat>Widescreen</PresentationFormat>
  <Paragraphs>1340</Paragraphs>
  <Slides>55</Slides>
  <Notes>6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Aptos</vt:lpstr>
      <vt:lpstr>Aptos Display</vt:lpstr>
      <vt:lpstr>Arial</vt:lpstr>
      <vt:lpstr>Calibri</vt:lpstr>
      <vt:lpstr>Lucida Console</vt:lpstr>
      <vt:lpstr>Office Theme</vt:lpstr>
      <vt:lpstr>Eliminating Reentrancy through Effect-Aware Language Design</vt:lpstr>
      <vt:lpstr>Introduction &amp; Motivation</vt:lpstr>
      <vt:lpstr>Motivation (WIP)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 (2021-2024)</vt:lpstr>
      <vt:lpstr>Common Vulnerabilities (2021-2024)</vt:lpstr>
      <vt:lpstr>Reentrancy – what is it?</vt:lpstr>
      <vt:lpstr>Reentrancy</vt:lpstr>
      <vt:lpstr>Reentrancy</vt:lpstr>
      <vt:lpstr>Reentrancy</vt:lpstr>
      <vt:lpstr>Reentrancy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</vt:lpstr>
      <vt:lpstr>Reentrancies</vt:lpstr>
      <vt:lpstr>Overhead Comparison</vt:lpstr>
      <vt:lpstr>Curve comment example</vt:lpstr>
      <vt:lpstr>Cost of Reentrancy Guards</vt:lpstr>
      <vt:lpstr>Conclusion</vt:lpstr>
      <vt:lpstr>Future Work</vt:lpstr>
      <vt:lpstr>Q&amp;A</vt:lpstr>
      <vt:lpstr>Q&amp;A</vt:lpstr>
      <vt:lpstr>Examples</vt:lpstr>
      <vt:lpstr>Common Vulnerabilities (Count)</vt:lpstr>
      <vt:lpstr>Common Vulnerabilities (Funds Lost, in $M)</vt:lpstr>
      <vt:lpstr>Related Work</vt:lpstr>
      <vt:lpstr>Popsicle Finance   2021-08, $20 million</vt:lpstr>
      <vt:lpstr>Super Sushi Samurai   2024-03, $4.8 million</vt:lpstr>
      <vt:lpstr>Future Work: Tooling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729</cp:revision>
  <dcterms:created xsi:type="dcterms:W3CDTF">2026-03-21T11:27:25Z</dcterms:created>
  <dcterms:modified xsi:type="dcterms:W3CDTF">2026-03-27T15:57:30Z</dcterms:modified>
</cp:coreProperties>
</file>
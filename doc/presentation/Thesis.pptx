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61" r:id="rId4"/>
    <p:sldId id="271" r:id="rId5"/>
    <p:sldId id="272" r:id="rId6"/>
    <p:sldId id="270" r:id="rId7"/>
    <p:sldId id="273" r:id="rId8"/>
    <p:sldId id="269" r:id="rId9"/>
    <p:sldId id="276" r:id="rId10"/>
    <p:sldId id="278" r:id="rId11"/>
    <p:sldId id="279" r:id="rId12"/>
    <p:sldId id="263" r:id="rId13"/>
    <p:sldId id="264" r:id="rId14"/>
    <p:sldId id="265" r:id="rId15"/>
    <p:sldId id="266" r:id="rId16"/>
    <p:sldId id="267" r:id="rId17"/>
    <p:sldId id="268" r:id="rId18"/>
    <p:sldId id="277" r:id="rId19"/>
    <p:sldId id="258" r:id="rId20"/>
    <p:sldId id="274" r:id="rId21"/>
    <p:sldId id="259" r:id="rId22"/>
    <p:sldId id="260" r:id="rId23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D98EED9-A4B4-4F1D-B74F-B7C08A6C0F4F}">
          <p14:sldIdLst>
            <p14:sldId id="256"/>
          </p14:sldIdLst>
        </p14:section>
        <p14:section name="Introduction &amp; Motivation" id="{3A0920A3-7089-4D36-ACD9-7D36A88FA363}">
          <p14:sldIdLst>
            <p14:sldId id="257"/>
          </p14:sldIdLst>
        </p14:section>
        <p14:section name="Background &amp; Related Work" id="{155D24CD-1F67-4B2A-8BBA-6043068973F2}">
          <p14:sldIdLst>
            <p14:sldId id="261"/>
            <p14:sldId id="271"/>
            <p14:sldId id="272"/>
            <p14:sldId id="270"/>
            <p14:sldId id="273"/>
            <p14:sldId id="269"/>
            <p14:sldId id="276"/>
            <p14:sldId id="278"/>
            <p14:sldId id="279"/>
          </p14:sldIdLst>
        </p14:section>
        <p14:section name="Problem Statement" id="{D007D5E9-0273-4A98-8D76-718A668981DA}">
          <p14:sldIdLst>
            <p14:sldId id="263"/>
          </p14:sldIdLst>
        </p14:section>
        <p14:section name="Proposed Solution" id="{879A4933-8251-428D-AA88-34C38A52748D}">
          <p14:sldIdLst>
            <p14:sldId id="264"/>
          </p14:sldIdLst>
        </p14:section>
        <p14:section name="Implementation" id="{7E93AC4F-DCBE-4D35-B88C-49CC76E39595}">
          <p14:sldIdLst>
            <p14:sldId id="265"/>
          </p14:sldIdLst>
        </p14:section>
        <p14:section name="Evaluation &amp; Results" id="{8219F86C-B3AF-4EAA-830F-8DFAE481BD8F}">
          <p14:sldIdLst>
            <p14:sldId id="266"/>
          </p14:sldIdLst>
        </p14:section>
        <p14:section name="Conclusion &amp; Future Work" id="{803E403D-1B92-466A-BE97-26C9AB7892A5}">
          <p14:sldIdLst>
            <p14:sldId id="267"/>
          </p14:sldIdLst>
        </p14:section>
        <p14:section name="Q&amp;A" id="{4132604F-A5FF-4E6F-A51C-CD14EC1306E2}">
          <p14:sldIdLst>
            <p14:sldId id="268"/>
          </p14:sldIdLst>
        </p14:section>
        <p14:section name="Backup / Extra Examples" id="{274778F2-46BC-4298-9911-D5D9332C2A83}">
          <p14:sldIdLst>
            <p14:sldId id="277"/>
          </p14:sldIdLst>
        </p14:section>
        <p14:section name="Templates" id="{7D75C5C1-E226-422F-BC2D-7889BBB961BB}">
          <p14:sldIdLst>
            <p14:sldId id="258"/>
            <p14:sldId id="274"/>
            <p14:sldId id="259"/>
            <p14:sldId id="26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>
        <p:scale>
          <a:sx n="75" d="100"/>
          <a:sy n="75" d="100"/>
        </p:scale>
        <p:origin x="173" y="4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CH" dirty="0"/>
              <a:t>Common</a:t>
            </a:r>
            <a:r>
              <a:rPr lang="en-CH" baseline="0" dirty="0"/>
              <a:t> Exploit Mechanisms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Logic Flaw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26</c:v>
                </c:pt>
                <c:pt idx="2">
                  <c:v>75</c:v>
                </c:pt>
                <c:pt idx="3">
                  <c:v>56</c:v>
                </c:pt>
                <c:pt idx="4">
                  <c:v>174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D0D-A8EE-972C953D966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38</c:v>
                </c:pt>
                <c:pt idx="3">
                  <c:v>28</c:v>
                </c:pt>
                <c:pt idx="4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14-4D0D-A8EE-972C953D966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</c:v>
                </c:pt>
                <c:pt idx="1">
                  <c:v>17</c:v>
                </c:pt>
                <c:pt idx="2">
                  <c:v>19</c:v>
                </c:pt>
                <c:pt idx="3">
                  <c:v>34</c:v>
                </c:pt>
                <c:pt idx="4">
                  <c:v>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14-4D0D-A8EE-972C953D966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</c:v>
                </c:pt>
                <c:pt idx="1">
                  <c:v>15</c:v>
                </c:pt>
                <c:pt idx="2">
                  <c:v>19</c:v>
                </c:pt>
                <c:pt idx="3">
                  <c:v>15</c:v>
                </c:pt>
                <c:pt idx="4">
                  <c:v>60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114-4D0D-A8EE-972C953D966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</c:v>
                </c:pt>
                <c:pt idx="1">
                  <c:v>9</c:v>
                </c:pt>
                <c:pt idx="2">
                  <c:v>8</c:v>
                </c:pt>
                <c:pt idx="3">
                  <c:v>19</c:v>
                </c:pt>
                <c:pt idx="4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114-4D0D-A8EE-972C953D966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Call Injection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8114-4D0D-A8EE-972C953D966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Precision Loss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</c:v>
                </c:pt>
                <c:pt idx="3">
                  <c:v>9</c:v>
                </c:pt>
                <c:pt idx="4">
                  <c:v>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8114-4D0D-A8EE-972C953D966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1</c:v>
                </c:pt>
                <c:pt idx="1">
                  <c:v>0</c:v>
                </c:pt>
                <c:pt idx="2">
                  <c:v>9</c:v>
                </c:pt>
                <c:pt idx="3">
                  <c:v>0</c:v>
                </c:pt>
                <c:pt idx="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8114-4D0D-A8EE-972C953D966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Overflow</c:v>
                </c:pt>
              </c:strCache>
            </c:strRef>
          </c:tx>
          <c:spPr>
            <a:solidFill>
              <a:schemeClr val="accent3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2</c:v>
                </c:pt>
                <c:pt idx="2">
                  <c:v>1</c:v>
                </c:pt>
                <c:pt idx="3">
                  <c:v>3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8114-4D0D-A8EE-972C953D9669}"/>
            </c:ext>
          </c:extLst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accent4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Sheet1!$K$2:$K$6</c:f>
              <c:numCache>
                <c:formatCode>General</c:formatCode>
                <c:ptCount val="5"/>
                <c:pt idx="0">
                  <c:v>0</c:v>
                </c:pt>
                <c:pt idx="1">
                  <c:v>4</c:v>
                </c:pt>
                <c:pt idx="2">
                  <c:v>8</c:v>
                </c:pt>
                <c:pt idx="3">
                  <c:v>7</c:v>
                </c:pt>
                <c:pt idx="4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8114-4D0D-A8EE-972C953D96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85262162881813686"/>
          <c:y val="0.13092501662706962"/>
          <c:w val="0.14013199437026894"/>
          <c:h val="0.7869786258847278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478CE3-0542-442B-AF7E-6DC0ED069798}" type="datetimeFigureOut">
              <a:rPr lang="en-CH" smtClean="0"/>
              <a:t>21/03/2026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26BFD-26FA-41FF-A418-AE5D5C01BD9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57382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C10EE-955B-04AF-69AE-2C5CBDF4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47B284-DEDD-C7A1-F677-3C323FC4E6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198D6C-2E65-AD26-CB39-4FF49B5F4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82D3CE-F954-A4FA-D605-E621A4216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EA812F-8EA3-4D23-A7DF-03B878F90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997956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F5BFB-9507-B6A3-5746-77FAFF983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B0633-D3BD-33D1-8738-6D311DDD8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6E26CD-EA3F-22FC-A55E-6A29ED5E7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E4B6B3-33B9-25B9-B3F6-78E57AC7C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BEA4AF-F215-D65C-D2D0-4149398B2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02739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44787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365125"/>
            <a:ext cx="438016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19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55418" y="365125"/>
            <a:ext cx="4798381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36398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5236398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23763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de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B430C50-0CEF-F0E7-8E9D-2ED5CBA2BB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B2A326E5-C8E5-5B4F-170A-369F80F3BB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9" y="1825625"/>
            <a:ext cx="460173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E7CDDD39-E193-8FAF-4873-57128487B2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92647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Text Placeholder 16">
            <a:extLst>
              <a:ext uri="{FF2B5EF4-FFF2-40B4-BE49-F238E27FC236}">
                <a16:creationId xmlns:a16="http://schemas.microsoft.com/office/drawing/2014/main" id="{0B96D1A9-59BE-6499-F40D-8C8BCAEE7E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52066" y="1825625"/>
            <a:ext cx="459262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</p:spTree>
    <p:extLst>
      <p:ext uri="{BB962C8B-B14F-4D97-AF65-F5344CB8AC3E}">
        <p14:creationId xmlns:p14="http://schemas.microsoft.com/office/powerpoint/2010/main" val="4007544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CA4E993B-59E9-39A7-1375-00EAACC700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F880A9CE-0042-04E4-D124-238A7185F1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A5F3F2E-14C6-586F-9779-032F40027F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10844" y="2694909"/>
            <a:ext cx="4228111" cy="2612769"/>
          </a:xfrm>
          <a:solidFill>
            <a:schemeClr val="bg2"/>
          </a:solidFill>
          <a:ln w="38100">
            <a:solidFill>
              <a:schemeClr val="tx2"/>
            </a:solidFill>
          </a:ln>
          <a:effectLst>
            <a:outerShdw blurRad="127000" dist="127000" dir="2700000" algn="tl" rotWithShape="0">
              <a:schemeClr val="bg1">
                <a:alpha val="75000"/>
              </a:schemeClr>
            </a:outerShdw>
          </a:effectLst>
        </p:spPr>
        <p:txBody>
          <a:bodyPr wrap="non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F8A2BFFD-3002-E2ED-D085-F5BCBD00D54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BB6B5A23-37DC-63DC-60BD-21C1E23891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9097510C-3AC9-121F-47B0-18D2B0EBBB3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369606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ECC50-C9F0-6580-D9EB-E3E8A8E2C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3AB04-23D0-8CC6-F784-28F661DDEE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91C745-6BB9-2E88-7EFF-11C0DF2AC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9EF702-631B-3EB7-F073-CAD703858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ACD1-2B14-9C0F-718A-C61FB92EE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81521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79E8C-2513-A64C-42E8-95D1492DE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59869-6146-DA1C-CD9E-DE8FB950D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1B0F6-938C-68CA-111C-EE3B59D40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893D23-F675-8E4E-88B3-F5B0FE12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12AAD7-4BDC-D902-DC80-8FCA27B2E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9F38A-FB1A-79E3-AC9F-4A9B2CF15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63604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0C32A-9B1E-490F-18D0-54448E6B8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685BA0-D117-2492-BE56-4EFA823C7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C4E63-C515-1E35-DA8F-37B27A6E1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19DF89-89EB-4F85-6891-8008AF807C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B27893-B9FB-7D74-1694-FA8C1C573E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9CABEE-40B5-9B08-883E-C649FED2D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173C72-3ACF-1CC6-82DC-3A1A6078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CDB9B0-FEC8-16BD-9E2D-E98FD258C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64215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32DE4-D26F-7309-3E72-B7FF4AE6D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0972BD-83A2-E254-6E6E-7E712DFC4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FC5C14-F8A8-982D-0E31-41BFD8DAE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16BAA3-4C7A-76AF-A49F-7361103B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86489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AE86DC-A25C-6630-A69E-3B888031B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A8AB3-0FD1-3F19-79A7-A50132B24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57896-73F1-A2A4-A208-0B12A01B0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10114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258EE-0ED4-0B80-ACD6-668A6E0E7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88DE2-4455-AF57-269A-AF1954344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48DF25-F96C-722A-111F-295496926C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4CD471-630D-B96C-5F86-2D6A4B09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69589-EF5E-773A-F859-50EF2115D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E030B6-C8CB-F266-2565-3482BD3F7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1600560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7202B-8314-CC47-028A-B7E6D5801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2037BF-4B10-3289-13E1-1F11193935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FEE7CF-9523-7B45-15F5-CB69D5FC73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C053A-616F-8E94-94E7-43887EAB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3EC473-B889-114B-555C-83C06D203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2F2931-069C-EE45-51E6-9972C2BEB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442031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594B-0953-2F9B-6468-CF5E07FBD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DBB52-E4A9-B9B8-C153-53157BA5E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AF4A-B667-8098-892F-67F206E13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5C4C00-39BB-B071-BF58-90514816E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7E722-60CE-2C3E-2D31-FC5A81C6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990808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3EA721-914B-C3BD-C5F8-6287B7E606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97ED28-C735-89C7-EE75-C26432039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CA67B6-99E1-AD5D-D86D-A18C331C0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4EC1CB-66F4-5C4C-4EF0-56D6EFD85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9BECED-8C17-DEFC-153F-FD6E6901F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00413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6B6291-F75D-EA52-E49C-138C6F18B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B967E-B845-2A6E-8DFF-9D17FFC34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31623-A0A0-2A8B-E467-88692E37F2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6B48C-DFA7-BDBA-11DA-7A8D38C6A0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443-C510-02CD-B968-B4DC785236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XX</a:t>
            </a:r>
          </a:p>
        </p:txBody>
      </p:sp>
    </p:spTree>
    <p:extLst>
      <p:ext uri="{BB962C8B-B14F-4D97-AF65-F5344CB8AC3E}">
        <p14:creationId xmlns:p14="http://schemas.microsoft.com/office/powerpoint/2010/main" val="17231325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3" r:id="rId4"/>
    <p:sldLayoutId id="2147483661" r:id="rId5"/>
    <p:sldLayoutId id="2147483662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44D3C-CF3D-0DDE-623D-8BE30C417A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H" dirty="0"/>
              <a:t>Title Slide</a:t>
            </a:r>
          </a:p>
        </p:txBody>
      </p:sp>
      <p:sp>
        <p:nvSpPr>
          <p:cNvPr id="18" name="Subtitle 17">
            <a:extLst>
              <a:ext uri="{FF2B5EF4-FFF2-40B4-BE49-F238E27FC236}">
                <a16:creationId xmlns:a16="http://schemas.microsoft.com/office/drawing/2014/main" id="{79441BCA-E9CB-052F-68C9-22AAF8E2A8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560411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EBE25-5A1F-5934-56E8-022A66EB1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CH" dirty="0"/>
              <a:t>Introduction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FFF46-3CC9-1AEA-1B77-04F0A271A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CH" dirty="0"/>
              <a:t>What is the specific application domain?</a:t>
            </a:r>
          </a:p>
          <a:p>
            <a:r>
              <a:rPr lang="en-CH" dirty="0"/>
              <a:t>Why is this area important?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94757EB3-271C-D2F4-1A9F-0E8BEA8AA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57B1F397-42E5-CA4D-236E-DF8AA2836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01E229F-413A-6EB7-41E5-1AA8675AC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27614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EBA80-00C0-1704-AE0F-17803EBB1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DADC6-A497-4017-6B77-EE94B3478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Background &amp; Related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8A970-C3C5-649D-8D3E-4461EE3C9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Briefly introduce the current landscape.</a:t>
            </a:r>
          </a:p>
          <a:p>
            <a:r>
              <a:rPr lang="en-CH" dirty="0"/>
              <a:t>Highlight the existing tools currently used for this application.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A278DBB0-C879-0C64-DA73-DBBD8B8D5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9FB67CF-7810-5DFB-B0CB-146860EF6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44C68CF-F4F6-D66C-74A8-1B13EF7DB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655834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06A45-CF7C-BE5F-5F53-F683D4231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44608-7C12-9268-5AD0-AEA4B7347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Solidity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2E9F9-A0BE-3748-FE19-D9E4F3C3A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80EFD3D5-32F5-F322-26CE-23CC62AED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DD51076-B70A-7972-CC1A-ADF1FFBF3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B8D4D36-4680-6C2C-FD23-B9F60A2BB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164045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2BA5C-1E19-CCED-313E-750CB5F76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5F0FC6-D728-8EA4-A5EF-7120DC81821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527039" y="365125"/>
            <a:ext cx="489953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3717F5-109E-5A5D-2D2E-55D1AB09BE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986458" y="365125"/>
            <a:ext cx="5367342" cy="5834063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pragma solidity </a:t>
            </a:r>
            <a:r>
              <a:rPr lang="en-US" dirty="0">
                <a:solidFill>
                  <a:schemeClr val="accent3"/>
                </a:solidFill>
              </a:rPr>
              <a:t>^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8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31</a:t>
            </a:r>
            <a:r>
              <a:rPr lang="en-US" dirty="0">
                <a:solidFill>
                  <a:schemeClr val="accent3"/>
                </a:solidFill>
              </a:rPr>
              <a:t>;</a:t>
            </a:r>
          </a:p>
          <a:p>
            <a:endParaRPr lang="en-CH" dirty="0"/>
          </a:p>
          <a:p>
            <a:r>
              <a:rPr lang="en-CH" dirty="0">
                <a:solidFill>
                  <a:schemeClr val="accent2"/>
                </a:solidFill>
              </a:rPr>
              <a:t>contract</a:t>
            </a:r>
            <a:r>
              <a:rPr lang="en-CH" dirty="0"/>
              <a:t> Counter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>
                <a:solidFill>
                  <a:schemeClr val="accent1"/>
                </a:solidFill>
              </a:rPr>
              <a:t>private</a:t>
            </a:r>
            <a:r>
              <a:rPr lang="en-CH" dirty="0">
                <a:solidFill>
                  <a:schemeClr val="accent2"/>
                </a:solidFill>
              </a:rPr>
              <a:t>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accent2"/>
                </a:solidFill>
              </a:rPr>
              <a:t>  constructor</a:t>
            </a:r>
            <a:r>
              <a:rPr lang="en-CH" dirty="0">
                <a:solidFill>
                  <a:schemeClr val="accent3"/>
                </a:solidFill>
              </a:rPr>
              <a:t>(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/>
              <a:t>x</a:t>
            </a:r>
            <a:r>
              <a:rPr lang="en-CH" dirty="0">
                <a:solidFill>
                  <a:schemeClr val="accent3"/>
                </a:solidFill>
              </a:rPr>
              <a:t>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=</a:t>
            </a:r>
            <a:r>
              <a:rPr lang="en-CH" dirty="0"/>
              <a:t> x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get</a:t>
            </a:r>
            <a:r>
              <a:rPr lang="en-CH" dirty="0">
                <a:solidFill>
                  <a:schemeClr val="accent3"/>
                </a:solidFill>
              </a:rPr>
              <a:t>() </a:t>
            </a:r>
            <a:r>
              <a:rPr lang="en-CH" dirty="0">
                <a:solidFill>
                  <a:schemeClr val="accent1"/>
                </a:solidFill>
              </a:rPr>
              <a:t>returns</a:t>
            </a:r>
            <a:r>
              <a:rPr lang="en-CH" dirty="0">
                <a:solidFill>
                  <a:schemeClr val="accent3"/>
                </a:solidFill>
              </a:rPr>
              <a:t> (</a:t>
            </a:r>
            <a:r>
              <a:rPr lang="en-CH" dirty="0">
                <a:solidFill>
                  <a:schemeClr val="accent2"/>
                </a:solidFill>
              </a:rPr>
              <a:t>uint256</a:t>
            </a:r>
            <a:r>
              <a:rPr lang="en-CH" dirty="0">
                <a:solidFill>
                  <a:schemeClr val="accent3"/>
                </a:solidFill>
              </a:rPr>
              <a:t>)</a:t>
            </a:r>
          </a:p>
          <a:p>
            <a:r>
              <a:rPr lang="en-CH" dirty="0">
                <a:solidFill>
                  <a:schemeClr val="accent3"/>
                </a:solidFill>
              </a:rPr>
              <a:t> 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return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3"/>
                </a:solidFill>
              </a:rPr>
              <a:t>()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  <a:endParaRPr lang="en-CH" dirty="0"/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E9E4B5-C066-8ADD-373C-11BE5995C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Solidity Example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CE8613E-4733-3F18-4138-B38FF35A2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72105C7-A833-4BBE-84F9-4F3BB5CA7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EDF37B1-75B7-0B35-2374-2B02A70F9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75963B-8667-6CA9-7CB5-983A2C422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7850"/>
            <a:ext cx="4221481" cy="4351338"/>
          </a:xfrm>
        </p:spPr>
        <p:txBody>
          <a:bodyPr/>
          <a:lstStyle/>
          <a:p>
            <a:endParaRPr lang="en-CH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AFE5C9-E905-7396-A5F9-6F9161F338FE}"/>
              </a:ext>
            </a:extLst>
          </p:cNvPr>
          <p:cNvCxnSpPr>
            <a:cxnSpLocks/>
          </p:cNvCxnSpPr>
          <p:nvPr/>
        </p:nvCxnSpPr>
        <p:spPr>
          <a:xfrm>
            <a:off x="6016992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5429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D644D-0682-416A-0AB3-2E275D508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 err="1"/>
              <a:t>Vyper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7683C9-056B-C763-C3E1-037D7E32A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B85C41-8C27-64BD-1DF7-6D768F721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F3EFF3-7BE8-0E47-A46F-36761CB47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84F0A7-30D4-1D72-E7DC-759985C43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6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523095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E3B7E-F9E9-6F6A-8B18-DF3F1C217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A68216-E563-600F-9EAA-ACF32BAEE37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7EACB6-3E80-3F73-5329-0C125D94C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value: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 err="1">
                <a:solidFill>
                  <a:schemeClr val="accent6"/>
                </a:solidFill>
              </a:rPr>
              <a:t>init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>
                <a:solidFill>
                  <a:schemeClr val="accent3"/>
                </a:solidFill>
              </a:rPr>
              <a:t>(</a:t>
            </a:r>
            <a:r>
              <a:rPr lang="en-US" dirty="0"/>
              <a:t>x</a:t>
            </a:r>
            <a:r>
              <a:rPr lang="en-US" dirty="0">
                <a:solidFill>
                  <a:schemeClr val="accent3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):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=</a:t>
            </a:r>
            <a:r>
              <a:rPr lang="en-US" dirty="0"/>
              <a:t> x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@constant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get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>
                <a:solidFill>
                  <a:schemeClr val="accent1"/>
                </a:solidFill>
              </a:rPr>
              <a:t>return</a:t>
            </a:r>
            <a:r>
              <a:rPr lang="en-US" dirty="0"/>
              <a:t>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endParaRPr lang="en-US" dirty="0"/>
          </a:p>
          <a:p>
            <a:endParaRPr lang="en-CH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increment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bool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+=</a:t>
            </a:r>
            <a:r>
              <a:rPr lang="en-US" dirty="0"/>
              <a:t> </a:t>
            </a:r>
            <a:r>
              <a:rPr lang="en-US" dirty="0">
                <a:solidFill>
                  <a:schemeClr val="accent4"/>
                </a:solidFill>
              </a:rPr>
              <a:t>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5A23A-9662-73FA-26E9-8D09089E3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 err="1"/>
              <a:t>Vyper</a:t>
            </a:r>
            <a:r>
              <a:rPr lang="en-CH" dirty="0"/>
              <a:t> Example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31F4A06-C5FC-B9B4-BE00-556C9CB0B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EFEF207-BB3F-794D-350F-1FF6506AB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35152D0-1E25-27A7-E281-52288300F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7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81C632-3841-6AE3-E8E8-952B80C04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endParaRPr lang="en-CH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00617D-25EC-F043-3B29-EA91FE056D59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0718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D4A9B-35EC-779C-7650-9ABA7E223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7164E-219C-24EE-606B-B716273E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59D83CE-53CA-71AB-E631-5E1719CB74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2225502"/>
              </p:ext>
            </p:extLst>
          </p:nvPr>
        </p:nvGraphicFramePr>
        <p:xfrm>
          <a:off x="838200" y="1385888"/>
          <a:ext cx="10515602" cy="4846320"/>
        </p:xfrm>
        <a:graphic>
          <a:graphicData uri="http://schemas.openxmlformats.org/drawingml/2006/table">
            <a:tbl>
              <a:tblPr firstRow="1" firstCol="1" bandCol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Logic Flaw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32.95%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r>
                        <a:rPr lang="en-CH" dirty="0"/>
                        <a:t>Price Manipulation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19.13%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Access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13.83%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 err="1"/>
                        <a:t>Reentrancy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11.36%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Input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7.2%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Arbitrary 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4.55%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Precision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4.36%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r>
                        <a:rPr lang="en-CH" dirty="0"/>
                        <a:t>Slippage / Front-run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1.89%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r>
                        <a:rPr lang="en-CH" dirty="0"/>
                        <a:t>Over- / Underflow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1.14%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F45B2709-65EB-8F4F-6D1F-C51F05B15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9EF16B0-EF7F-C7EA-6239-45BD6796D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DFC27C2-599F-21C2-9A23-9A561AB21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8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769498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A0C95-8379-2D26-E244-5C0064E61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D5D5614-E33E-57A6-CC37-8370F1F54E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0329929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A8FA7F-FDD2-AC8A-CF26-59C714C08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8C107-FD91-CFAF-C623-2737E155E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04673-53B5-F42E-8776-572039592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9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8006405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14611-9D45-C106-8B4B-DA54D0388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1F026-9B43-C0C6-F99B-2504637B0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 err="1"/>
              <a:t>Reentrancy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7BE29E-9B79-182D-1438-270815A0E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8A9402-EAD2-A3F8-DB09-DA4337753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B89CC1-113B-3494-AF43-229FB9D50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10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7F2F17A9-67EB-BE31-3C6C-479F9BC3DB63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8" name="Rectangle: Folded Corner 7">
            <a:extLst>
              <a:ext uri="{FF2B5EF4-FFF2-40B4-BE49-F238E27FC236}">
                <a16:creationId xmlns:a16="http://schemas.microsoft.com/office/drawing/2014/main" id="{0B19D478-898C-C7DC-AE8C-7CFF42EE9F20}"/>
              </a:ext>
            </a:extLst>
          </p:cNvPr>
          <p:cNvSpPr/>
          <p:nvPr/>
        </p:nvSpPr>
        <p:spPr>
          <a:xfrm>
            <a:off x="9982200" y="365124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Malicious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B9C551-1F29-48FC-718C-D67B13C3154F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6DE1A11B-5FF0-4711-A786-4EC9A7967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7560" y="3807935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5CF82D2C-DCCA-7AD1-71B5-A953B3301775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CF24AB6F-7522-C114-05B9-68C189FF2C2B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86403D9A-C3AA-DE69-790F-DACE612CC6B4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213C6D0E-7643-8725-7FAB-5E27F079C2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791212"/>
              </p:ext>
            </p:extLst>
          </p:nvPr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0BCCD82E-AD64-2DF3-5449-6F66CC8D61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039233"/>
              </p:ext>
            </p:extLst>
          </p:nvPr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  <a:latin typeface="+mn-lt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44B1E3-1CFC-DDBE-5D67-F9D0FFD1F2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6144141"/>
              </p:ext>
            </p:extLst>
          </p:nvPr>
        </p:nvGraphicFramePr>
        <p:xfrm>
          <a:off x="54584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0xBBBB...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23C07CB-6B57-21B5-29C8-986EB1855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1834114"/>
              </p:ext>
            </p:extLst>
          </p:nvPr>
        </p:nvGraphicFramePr>
        <p:xfrm>
          <a:off x="88239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0xCDEF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sp>
        <p:nvSpPr>
          <p:cNvPr id="23" name="Content Placeholder 22">
            <a:extLst>
              <a:ext uri="{FF2B5EF4-FFF2-40B4-BE49-F238E27FC236}">
                <a16:creationId xmlns:a16="http://schemas.microsoft.com/office/drawing/2014/main" id="{1D4CB882-AE15-982E-80E1-3480827C8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670DFEC9-E544-1F67-99F3-C15D6F88B5E4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4480560" y="1370329"/>
            <a:ext cx="1167130" cy="2696370"/>
          </a:xfrm>
          <a:prstGeom prst="curvedConnector3">
            <a:avLst>
              <a:gd name="adj1" fmla="val 37813"/>
            </a:avLst>
          </a:prstGeom>
          <a:ln w="34925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093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37000-7270-DBE6-E4B6-042EA6146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5D455-4727-5AFA-AC50-4729648CD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 err="1"/>
              <a:t>Reentrancy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169CF-36D5-58DD-D7D9-3B2E0FABA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198A1A-3A15-937E-2C1B-F4CC748EA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5654D-33F5-49C1-2925-2EE7A221C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11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D6680D8-775C-6AE0-7256-C68E7588C6DA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8" name="Rectangle: Folded Corner 7">
            <a:extLst>
              <a:ext uri="{FF2B5EF4-FFF2-40B4-BE49-F238E27FC236}">
                <a16:creationId xmlns:a16="http://schemas.microsoft.com/office/drawing/2014/main" id="{D5CFD562-F723-53B1-03E3-AAE28D339896}"/>
              </a:ext>
            </a:extLst>
          </p:cNvPr>
          <p:cNvSpPr/>
          <p:nvPr/>
        </p:nvSpPr>
        <p:spPr>
          <a:xfrm>
            <a:off x="9982200" y="365124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Malicious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D4D448-4E45-7CF8-1AD7-F495C26FACFC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CF4D6A67-4280-F03D-A203-D030F91494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4B1A2040-4B91-4FDA-8AFB-99996D4823A1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41A6E540-B3C8-6E6C-9FD5-BBBB924840DD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A58FB1D4-BF42-BA85-6A5F-6C4345751E13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7A0BA54-342F-87DD-568C-01D011F12C71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2FF70CF0-5EE8-3847-008C-0C9E25078CBA}"/>
              </a:ext>
            </a:extLst>
          </p:cNvPr>
          <p:cNvGraphicFramePr>
            <a:graphicFrameLocks noGrp="1"/>
          </p:cNvGraphicFramePr>
          <p:nvPr/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  <a:latin typeface="+mn-lt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4DE3C55-AB57-58FB-B694-97E144B4B908}"/>
              </a:ext>
            </a:extLst>
          </p:cNvPr>
          <p:cNvGraphicFramePr>
            <a:graphicFrameLocks noGrp="1"/>
          </p:cNvGraphicFramePr>
          <p:nvPr/>
        </p:nvGraphicFramePr>
        <p:xfrm>
          <a:off x="54584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0xBBBB...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EE92ED1-881A-6B62-79A9-77318C795FBE}"/>
              </a:ext>
            </a:extLst>
          </p:cNvPr>
          <p:cNvGraphicFramePr>
            <a:graphicFrameLocks noGrp="1"/>
          </p:cNvGraphicFramePr>
          <p:nvPr/>
        </p:nvGraphicFramePr>
        <p:xfrm>
          <a:off x="88239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0xCDEF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8D10640-1BFD-8ABC-6D7F-A38869D7C99F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2D29809-3771-9505-FF76-2311087A1744}"/>
              </a:ext>
            </a:extLst>
          </p:cNvPr>
          <p:cNvCxnSpPr>
            <a:cxnSpLocks/>
          </p:cNvCxnSpPr>
          <p:nvPr/>
        </p:nvCxnSpPr>
        <p:spPr>
          <a:xfrm>
            <a:off x="3591560" y="3229106"/>
            <a:ext cx="2700000" cy="1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43FFCF0-DFF3-768B-4AFF-DAD199139ECD}"/>
              </a:ext>
            </a:extLst>
          </p:cNvPr>
          <p:cNvCxnSpPr>
            <a:cxnSpLocks/>
          </p:cNvCxnSpPr>
          <p:nvPr/>
        </p:nvCxnSpPr>
        <p:spPr>
          <a:xfrm>
            <a:off x="6827520" y="3229105"/>
            <a:ext cx="2844000" cy="1"/>
          </a:xfrm>
          <a:prstGeom prst="straightConnector1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08257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9E49F-7C32-26F7-BE0C-463D0439D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EE3E2-DDC0-1554-6366-1F55AE46E6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b="1" dirty="0"/>
              <a:t>The Gap: </a:t>
            </a:r>
            <a:r>
              <a:rPr lang="en-CH" dirty="0"/>
              <a:t>What are the specific limitations and challenges of these existing tools?</a:t>
            </a:r>
          </a:p>
          <a:p>
            <a:r>
              <a:rPr lang="en-CH" dirty="0"/>
              <a:t>Clearly state your core research question or objective.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BCC5D9B-F93F-DC07-471D-E3788AD8F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02814983-3F3A-AC07-6B22-099DA48B7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596690E-368F-528B-C80C-244B73A28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9629609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7D5F5-12C9-D58A-44F3-4466804EC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Proposed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09085-97B1-4076-AFF3-BAB41E8A7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Introduce your novel approaches to solve the identified limitations.</a:t>
            </a:r>
          </a:p>
          <a:p>
            <a:r>
              <a:rPr lang="en-CH" dirty="0"/>
              <a:t>Explain the theory, algorithms, or architecture behind your ideas.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ED9CE9-DEAD-313C-328E-174ADC639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013F559C-9486-3C97-AB4E-44F033110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1CBC266-29CF-DA1B-2DC8-75426D09D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7043527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D020-E307-7A5B-62E7-0252A7FE6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46608-2B8D-3E46-07BB-C90B0C803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Present the new tool you built.</a:t>
            </a:r>
          </a:p>
          <a:p>
            <a:r>
              <a:rPr lang="en-CH" dirty="0"/>
              <a:t>Show a brief architecture diagram, core features or a short demo / screenshot.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BCF2AE4-9115-74BC-FD62-7BB854C1B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DDD10D7-A873-5855-AB02-B0D5F06984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9E6D3AE-279A-819B-BA12-C9957A887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2585965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7975A-CF16-8402-984D-E9993E4B3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CFC4B-4DDA-657F-8EE5-F7905D727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Evaluation &amp;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1B531C-3B69-CE96-57B2-1CAE0ED46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How did you test your new tool against the limitations of the old ones?</a:t>
            </a:r>
          </a:p>
          <a:p>
            <a:r>
              <a:rPr lang="en-CH" dirty="0"/>
              <a:t>Present key metrics, user studies, or performance data proving your approach works.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5DDE4AE-C734-3CF5-F086-2A87CCBC1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15CC2FF-0062-D831-663A-CD4B8BDDD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946B7E4-F7FD-9F4D-05DD-AFAB40254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1892662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FA1AF-D3B7-4197-B4AA-D9F2112CA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16033-2719-5D00-2C17-DAAF07A7A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Conclusion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AB248D-3648-CB55-611C-BDBCC3D96A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Summarize your main contributions (identified gap -&gt; novel approach -&gt; working tool).</a:t>
            </a:r>
          </a:p>
          <a:p>
            <a:r>
              <a:rPr lang="en-CH" dirty="0"/>
              <a:t>Briefly mention what could be done next.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9B9A612-775D-998B-1D7A-D2B46DF8D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60BCA54-D022-260C-5931-14F12AB49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B7D8A20-A614-B8EC-88C2-4B7D500B6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16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1890429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A24B2-0BCB-536E-3C94-3974987D0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1BC9C-2DBC-4906-EEF7-0EAE2FD8F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64DF2-C902-80E3-AA11-7B92E60D34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A clean slide thanking the audience and opening the floor for questions.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FDCC38E-1A4D-CEFF-E68B-F5C34D788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39B10B4-FBCE-956E-8150-5A75B99DD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FFFC763-946A-9599-2042-7EA94017D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17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0714518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7CCA2-A039-D8C4-6724-FB1AB0639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F2F53-5C2F-8775-44AC-81CE5350E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0909F-EAFC-05F3-E693-77B21BCDA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Perhaps add some examples of more difficult to explain vulnerabilities in case of questions? Or further </a:t>
            </a:r>
            <a:r>
              <a:rPr lang="en-CH" dirty="0" err="1"/>
              <a:t>reentrancy</a:t>
            </a:r>
            <a:r>
              <a:rPr lang="en-CH" dirty="0"/>
              <a:t> / event ordering / side effect bugs.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3DD231D-5709-5D64-EEBE-74CEB28D3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1D1E63D-2977-4C9F-3BCB-3DFDD8532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1625911-82A6-595D-2C8C-8BA27E251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18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240257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2BA41-457C-144F-2B8D-A631E4F531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25625"/>
            <a:ext cx="438016" cy="4351338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CE8F401-762D-755D-D69E-EC3696C3A2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68CB506-7E0F-8EEE-AA27-A6377D005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FDAB16F-6A9B-B245-B411-56AFA1B3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529FE5D4-896E-D496-31D2-8545C93D9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488D3D0B-5802-F6A4-EF42-C6BE948F4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3CD21E2E-B66B-0518-74B1-1CE9CAD54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19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68E2340-6A77-0F3F-E35A-EE5221F36FF5}"/>
              </a:ext>
            </a:extLst>
          </p:cNvPr>
          <p:cNvCxnSpPr>
            <a:cxnSpLocks/>
          </p:cNvCxnSpPr>
          <p:nvPr/>
        </p:nvCxnSpPr>
        <p:spPr>
          <a:xfrm>
            <a:off x="1276350" y="1825625"/>
            <a:ext cx="21268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4125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CCC1372-F495-5EC4-740B-2C126C2FC3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C5658D-FE08-69A0-8EC6-45B505BC15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  <a:p>
            <a:endParaRPr lang="en-CH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847FC2BC-C8B1-A2FD-2987-048ED499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5E6B07-0814-1DA8-8A28-2EB5E7E87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E6E24E-9936-DAE5-7DAB-7429B048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823819-EC99-8CA7-9D41-7929FFDE7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20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A8967E6-A9D3-9023-6D88-B376528B1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68B88C-EC9D-096D-B673-1C6E18D103D6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21402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7871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FCE3678-D598-DDA3-9D3A-B7F7A268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FCAC067-CC95-3E51-04B8-59F0F43826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8DB33A7-45E8-155D-7AAA-434D0E797D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190982A-BE62-4B84-7775-6D12D34415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92647" y="1825625"/>
            <a:ext cx="468527" cy="4351338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3DA6294-FC13-CE89-F983-6CEC7D852F8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61174" y="1825625"/>
            <a:ext cx="4592626" cy="4351338"/>
          </a:xfrm>
        </p:spPr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AB63CEBD-402C-AEFD-5FB7-47B07160D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83EAD083-0D1E-41EE-0229-235558B8B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B0FEEE78-AF41-0A60-32BB-A452CD410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21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704BEA1-F220-3026-1FBC-16B095228CCD}"/>
              </a:ext>
            </a:extLst>
          </p:cNvPr>
          <p:cNvCxnSpPr>
            <a:cxnSpLocks/>
          </p:cNvCxnSpPr>
          <p:nvPr/>
        </p:nvCxnSpPr>
        <p:spPr>
          <a:xfrm>
            <a:off x="1287459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DB949FF-D8C4-6603-E53E-BAB8AC6F5278}"/>
              </a:ext>
            </a:extLst>
          </p:cNvPr>
          <p:cNvCxnSpPr>
            <a:cxnSpLocks/>
          </p:cNvCxnSpPr>
          <p:nvPr/>
        </p:nvCxnSpPr>
        <p:spPr>
          <a:xfrm>
            <a:off x="6750983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43409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074BE98-84A9-7DFF-37F6-1B1093669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EB9597F-69A4-FAC5-5038-B13F415FD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0A1191E-C6DC-30EE-B654-72CC829E07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6373646-76A8-FD19-F402-609BEB0DA5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7EEEE2D-77AC-FF15-F712-26E479381F8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C3B17799-3278-1AE2-C335-16EF57F08FE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376EA8B3-9CEF-2F06-A2EF-86859C05D76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2915003B-178C-DA2B-6778-E37AB81725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22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7242968-8321-2187-40B0-41B261011E1E}"/>
              </a:ext>
            </a:extLst>
          </p:cNvPr>
          <p:cNvCxnSpPr>
            <a:cxnSpLocks/>
          </p:cNvCxnSpPr>
          <p:nvPr/>
        </p:nvCxnSpPr>
        <p:spPr>
          <a:xfrm>
            <a:off x="1287458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697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esis Dark">
      <a:dk1>
        <a:srgbClr val="16191F"/>
      </a:dk1>
      <a:lt1>
        <a:srgbClr val="E7E7E7"/>
      </a:lt1>
      <a:dk2>
        <a:srgbClr val="2E323B"/>
      </a:dk2>
      <a:lt2>
        <a:srgbClr val="707070"/>
      </a:lt2>
      <a:accent1>
        <a:srgbClr val="F3608D"/>
      </a:accent1>
      <a:accent2>
        <a:srgbClr val="6ED4E7"/>
      </a:accent2>
      <a:accent3>
        <a:srgbClr val="F58437"/>
      </a:accent3>
      <a:accent4>
        <a:srgbClr val="958BE6"/>
      </a:accent4>
      <a:accent5>
        <a:srgbClr val="F9E45B"/>
      </a:accent5>
      <a:accent6>
        <a:srgbClr val="86D88C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793</Words>
  <Application>Microsoft Office PowerPoint</Application>
  <PresentationFormat>Widescreen</PresentationFormat>
  <Paragraphs>393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Lucida Console</vt:lpstr>
      <vt:lpstr>Office Theme</vt:lpstr>
      <vt:lpstr>Title Slide</vt:lpstr>
      <vt:lpstr>Introduction &amp; Motivation</vt:lpstr>
      <vt:lpstr>Background &amp; Related Work</vt:lpstr>
      <vt:lpstr>Solidity</vt:lpstr>
      <vt:lpstr>Solidity Example</vt:lpstr>
      <vt:lpstr>Vyper</vt:lpstr>
      <vt:lpstr>Vyper Example</vt:lpstr>
      <vt:lpstr>Common Vulnerabilities</vt:lpstr>
      <vt:lpstr>Common Vulnerabilities</vt:lpstr>
      <vt:lpstr>Reentrancy</vt:lpstr>
      <vt:lpstr>Reentrancy</vt:lpstr>
      <vt:lpstr>Problem Statement</vt:lpstr>
      <vt:lpstr>Proposed Solution</vt:lpstr>
      <vt:lpstr>Implementation</vt:lpstr>
      <vt:lpstr>Evaluation &amp; Results</vt:lpstr>
      <vt:lpstr>Conclusion &amp; Future Work</vt:lpstr>
      <vt:lpstr>Q&amp;A</vt:lpstr>
      <vt:lpstr>Examples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Richards  Tynan</dc:creator>
  <cp:lastModifiedBy>Richards  Tynan</cp:lastModifiedBy>
  <cp:revision>74</cp:revision>
  <dcterms:created xsi:type="dcterms:W3CDTF">2026-03-21T11:27:25Z</dcterms:created>
  <dcterms:modified xsi:type="dcterms:W3CDTF">2026-03-22T14:54:56Z</dcterms:modified>
</cp:coreProperties>
</file>